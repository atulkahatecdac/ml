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035" r:id="rId3"/>
    <p:sldId id="2046" r:id="rId4"/>
    <p:sldId id="2353" r:id="rId5"/>
    <p:sldId id="2613" r:id="rId6"/>
    <p:sldId id="2617" r:id="rId7"/>
    <p:sldId id="2491" r:id="rId8"/>
    <p:sldId id="2492" r:id="rId9"/>
    <p:sldId id="2235" r:id="rId10"/>
    <p:sldId id="2615" r:id="rId11"/>
    <p:sldId id="2616" r:id="rId12"/>
    <p:sldId id="2618" r:id="rId13"/>
    <p:sldId id="2620" r:id="rId14"/>
    <p:sldId id="2621" r:id="rId15"/>
    <p:sldId id="2619" r:id="rId16"/>
    <p:sldId id="2622" r:id="rId17"/>
    <p:sldId id="262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9557-5A82-74CB-763D-4ABAA8B21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FC8F6-588F-CF4B-931B-F6FDBDAC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E3EB7-E147-36BF-2A78-4A80A656E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A9BF2-B8C5-EE32-9C8B-97B65118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FC12F-3EC0-EA8A-3895-D64C1C28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41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F341-AC79-CE45-1B1E-95BEAE58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75B2D-8620-71A2-96EC-0AE8DE6E6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79920-DBAA-EF14-8CBE-2389FB3F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62044-6A3E-482A-88F3-33327057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E82CD-22CC-9325-2B44-9F427078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90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288DD-CBD9-FC9C-31E9-1B25E160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19B39-A583-3976-196C-B2FA3ED25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8D2E8-6751-9505-09AB-C381B585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FDCC1-0D11-3FB3-9959-6FBFF189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F52B3-D8C5-6B91-4B8F-910C08A7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20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EA6D-6C8C-597E-F0FD-A48A6CA7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2FAD-18E9-8530-9941-723215E0A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EA4D0-991E-1ACC-AF82-E4B7AC937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5779D-8353-F2B0-79C6-D4CEC1D3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F9A17-ED69-E2C9-F233-29BAF251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DA220-8906-2280-B511-1C821CE2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781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621B-C0F0-2F64-187D-0F1BA6F6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D9997-7B3B-01CF-2C5F-EF5FC474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51555-867A-87B8-DD50-47B7C9B25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0745A-F4C8-8F01-249B-F9D21B8D0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6825F-7593-AB9A-666B-D60244D46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C452D-2932-43D0-6B43-20561EC9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48F1B6-B6C7-0FF1-604F-4F7F8B48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7F7278-41A0-A93A-4F3E-69D4C3CC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45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EB41-AA1F-9AD9-C541-A31B23F0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845DD-EA48-3060-A391-4AB9B140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27A07-7E2D-560E-9902-3E64BD0A2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6F0E6-7ECB-599E-626C-03B04D6C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33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E3E5C-C875-6CE1-3C41-9483AD80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665CF6-8E14-7EAB-5FA4-D29A5EBF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246D0-B735-B275-8777-34DC0064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12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E8AD-7643-5885-E336-8ECAA75E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0947-F7F2-0A3A-FE3A-3A4052442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11E99-A196-1DBD-26C9-FA6563F01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AE132-01A6-20A1-372C-329DD1FD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33904-D12A-11F1-908A-0857E15B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72669-61E7-6731-5DCC-149B40CF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B61E-0EB3-07AB-2627-A73B9543D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A0CC5-62A7-7E4E-B81C-02A5AC5C1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781D5-5549-4E87-80AB-565A39573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4C8C5-715B-10C8-0BD7-171A3EDA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0D338-B7F0-D85C-D2E2-6F3E3EDCA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23BEA-F23F-D7C8-9974-D5F14267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89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0F51-BD6D-A7D8-2D00-6AEF8A1E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4148E-28A7-311E-2DE4-A7D284A11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A6C08-E65A-6FDA-48BB-F81FDC1F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DB527-44B3-EF74-EB20-059BDE20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9DF9A-EEE8-75FD-6346-5ECD3EE7F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13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66B70-51EA-C9AB-B22D-E21ADE13A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AC2BD-BAD8-F60B-B3B2-765A24A5A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0FF2-7F7C-8E0A-32E0-48F7E028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1ECC-4067-A1A3-0FCC-C512E9C6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5957-1274-4975-F51D-CAFD4DBF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48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C9027-A1D9-D000-E8EA-50C78989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967B3-5093-BFBF-8078-9BB3BDEB8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2D3B4-6CC1-3B33-D901-95AF52B88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53314-144B-8AC2-EC22-D2B03CAAC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6523-2CB2-6263-2916-49FC6147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85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E915-653C-2318-C592-00EF5CB26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Regression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F563C-C477-ACA0-5BF8-3F25FBB51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r>
              <a:rPr lang="en-GB" dirty="0"/>
              <a:t>https://www.linkedin.com/in/atulkahate/</a:t>
            </a:r>
          </a:p>
        </p:txBody>
      </p:sp>
    </p:spTree>
    <p:extLst>
      <p:ext uri="{BB962C8B-B14F-4D97-AF65-F5344CB8AC3E}">
        <p14:creationId xmlns:p14="http://schemas.microsoft.com/office/powerpoint/2010/main" val="132022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3EF37C-93D6-C56F-1B30-C3233BFF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7F6427D-C8FF-550A-8039-DBA83099C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b="1" noProof="0" dirty="0"/>
                  <a:t>Correlation</a:t>
                </a:r>
                <a:r>
                  <a:rPr lang="en-IN" noProof="0" dirty="0"/>
                  <a:t>: Are two </a:t>
                </a:r>
                <a:r>
                  <a:rPr lang="en-IN" u="sng" noProof="0" dirty="0"/>
                  <a:t>numeric</a:t>
                </a:r>
                <a:r>
                  <a:rPr lang="en-IN" noProof="0" dirty="0"/>
                  <a:t> variables related?</a:t>
                </a:r>
              </a:p>
              <a:p>
                <a:r>
                  <a:rPr lang="en-IN" noProof="0" dirty="0"/>
                  <a:t>Examples: Exercise and Health, Study and Marks, Experience and Salary</a:t>
                </a:r>
              </a:p>
              <a:p>
                <a:r>
                  <a:rPr lang="en-IN" noProof="0" dirty="0"/>
                  <a:t>Correlation (</a:t>
                </a:r>
                <a:r>
                  <a:rPr lang="en-IN" noProof="0" dirty="0" err="1"/>
                  <a:t>x,y</a:t>
                </a:r>
                <a:r>
                  <a:rPr lang="en-IN" noProof="0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i="1" noProof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IN" b="0" i="1" baseline="-25000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i="1" noProof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IN" b="0" i="1" baseline="-25000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IN" b="1" noProof="0" dirty="0"/>
              </a:p>
              <a:p>
                <a:r>
                  <a:rPr lang="en-IN" noProof="0" dirty="0"/>
                  <a:t>Measured using </a:t>
                </a:r>
                <a:r>
                  <a:rPr lang="en-IN" b="1" noProof="0" dirty="0"/>
                  <a:t>correlation coefficient (r)</a:t>
                </a:r>
              </a:p>
              <a:p>
                <a:r>
                  <a:rPr lang="en-IN" dirty="0"/>
                  <a:t>Range: -1 to +1</a:t>
                </a:r>
              </a:p>
              <a:p>
                <a:r>
                  <a:rPr lang="en-IN" dirty="0"/>
                  <a:t>Positive correlation: Variables move up together</a:t>
                </a:r>
              </a:p>
              <a:p>
                <a:pPr lvl="1"/>
                <a:r>
                  <a:rPr lang="en-IN" dirty="0"/>
                  <a:t>Example: Correlation of 0.80 between Hours spent studying and test scores</a:t>
                </a:r>
              </a:p>
              <a:p>
                <a:r>
                  <a:rPr lang="en-IN" dirty="0"/>
                  <a:t>Negative correlation: As one variable moves up, the other moves down</a:t>
                </a:r>
              </a:p>
              <a:p>
                <a:pPr lvl="1"/>
                <a:r>
                  <a:rPr lang="en-IN" dirty="0"/>
                  <a:t>Example: Correlation of -0.70 between Hours spent watching TV and physical fitness</a:t>
                </a:r>
              </a:p>
              <a:p>
                <a:r>
                  <a:rPr lang="en-IN" dirty="0"/>
                  <a:t>Zero correlation: Variables are unrelated</a:t>
                </a:r>
              </a:p>
              <a:p>
                <a:pPr lvl="1"/>
                <a:r>
                  <a:rPr lang="en-IN" dirty="0"/>
                  <a:t>Example: Correlation of 0.02 between Shoe size and IQ score</a:t>
                </a:r>
                <a:endParaRPr lang="en-IN" noProof="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7F6427D-C8FF-550A-8039-DBA83099C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b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80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C80C-1172-B754-588E-6B9066449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Positive, Negative, No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8D242-1619-4190-98A3-90FF3604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E315F-B3A1-E330-C2BF-74E0D5680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07" y="1939641"/>
            <a:ext cx="8860653" cy="395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0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86C4-113A-64AD-7581-8EEE4F32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Predictive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53B0-52A7-0F1A-F438-D25E198AF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5E93E-600B-2F84-6F7A-2B936492A1DF}"/>
              </a:ext>
            </a:extLst>
          </p:cNvPr>
          <p:cNvSpPr txBox="1"/>
          <p:nvPr/>
        </p:nvSpPr>
        <p:spPr>
          <a:xfrm>
            <a:off x="4334175" y="1944303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Predictive Analytics</a:t>
            </a:r>
            <a:endParaRPr lang="en-IN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70AB6-D033-1F33-128B-AA2D7206BD06}"/>
              </a:ext>
            </a:extLst>
          </p:cNvPr>
          <p:cNvSpPr txBox="1"/>
          <p:nvPr/>
        </p:nvSpPr>
        <p:spPr>
          <a:xfrm>
            <a:off x="1589370" y="3225735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Regression</a:t>
            </a:r>
            <a:endParaRPr lang="en-IN" b="1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87E534-04A0-F55D-7052-43697B2CEEA3}"/>
              </a:ext>
            </a:extLst>
          </p:cNvPr>
          <p:cNvSpPr txBox="1"/>
          <p:nvPr/>
        </p:nvSpPr>
        <p:spPr>
          <a:xfrm>
            <a:off x="7031657" y="3247827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Classification</a:t>
            </a:r>
            <a:endParaRPr lang="en-IN" b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C94DA-4D9B-E87B-2955-35B5D6CDFD59}"/>
              </a:ext>
            </a:extLst>
          </p:cNvPr>
          <p:cNvSpPr txBox="1"/>
          <p:nvPr/>
        </p:nvSpPr>
        <p:spPr>
          <a:xfrm>
            <a:off x="1553676" y="4447049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Linear Regression</a:t>
            </a:r>
            <a:endParaRPr lang="en-IN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32F9E-2809-7BF8-1860-10A3292A0B53}"/>
              </a:ext>
            </a:extLst>
          </p:cNvPr>
          <p:cNvSpPr txBox="1"/>
          <p:nvPr/>
        </p:nvSpPr>
        <p:spPr>
          <a:xfrm>
            <a:off x="5850554" y="4410028"/>
            <a:ext cx="2218624" cy="3991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>
                <a:solidFill>
                  <a:srgbClr val="C00000"/>
                </a:solidFill>
              </a:rPr>
              <a:t>Logistic Regression</a:t>
            </a:r>
            <a:endParaRPr lang="en-IN" b="1" noProof="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998210-2FF5-6949-E662-5436A696783E}"/>
              </a:ext>
            </a:extLst>
          </p:cNvPr>
          <p:cNvSpPr txBox="1"/>
          <p:nvPr/>
        </p:nvSpPr>
        <p:spPr>
          <a:xfrm>
            <a:off x="7200497" y="5161422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Naïve Bayes’ Classifier</a:t>
            </a:r>
            <a:endParaRPr lang="en-IN" b="1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674D4-3037-D56C-954C-51FAEA9CE752}"/>
              </a:ext>
            </a:extLst>
          </p:cNvPr>
          <p:cNvSpPr txBox="1"/>
          <p:nvPr/>
        </p:nvSpPr>
        <p:spPr>
          <a:xfrm>
            <a:off x="8937057" y="4407826"/>
            <a:ext cx="2218624" cy="3991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Decision Trees</a:t>
            </a:r>
            <a:endParaRPr lang="en-IN" b="1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0CA74E-9A85-C750-E6B4-B6AA9699B448}"/>
              </a:ext>
            </a:extLst>
          </p:cNvPr>
          <p:cNvCxnSpPr/>
          <p:nvPr/>
        </p:nvCxnSpPr>
        <p:spPr>
          <a:xfrm>
            <a:off x="2993457" y="3647937"/>
            <a:ext cx="0" cy="799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D17B1B-AE24-57C1-1D86-3614BAE10B98}"/>
              </a:ext>
            </a:extLst>
          </p:cNvPr>
          <p:cNvCxnSpPr>
            <a:cxnSpLocks/>
          </p:cNvCxnSpPr>
          <p:nvPr/>
        </p:nvCxnSpPr>
        <p:spPr>
          <a:xfrm>
            <a:off x="8618221" y="3625845"/>
            <a:ext cx="11229" cy="1535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97865D-5BD8-A397-D1BF-C60B211E0D9E}"/>
              </a:ext>
            </a:extLst>
          </p:cNvPr>
          <p:cNvCxnSpPr>
            <a:cxnSpLocks/>
          </p:cNvCxnSpPr>
          <p:nvPr/>
        </p:nvCxnSpPr>
        <p:spPr>
          <a:xfrm>
            <a:off x="6959866" y="4047493"/>
            <a:ext cx="3086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DD083E-B22A-FA5F-5B66-9236714C0564}"/>
              </a:ext>
            </a:extLst>
          </p:cNvPr>
          <p:cNvCxnSpPr>
            <a:stCxn id="8" idx="0"/>
          </p:cNvCxnSpPr>
          <p:nvPr/>
        </p:nvCxnSpPr>
        <p:spPr>
          <a:xfrm flipV="1">
            <a:off x="6959866" y="4047493"/>
            <a:ext cx="0" cy="362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D606A2-0582-DD47-C978-16B8DB06ADF0}"/>
              </a:ext>
            </a:extLst>
          </p:cNvPr>
          <p:cNvCxnSpPr>
            <a:cxnSpLocks/>
          </p:cNvCxnSpPr>
          <p:nvPr/>
        </p:nvCxnSpPr>
        <p:spPr>
          <a:xfrm flipV="1">
            <a:off x="10027119" y="4037868"/>
            <a:ext cx="0" cy="385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E4959D-3712-AC84-A898-CF97EFB0BF20}"/>
              </a:ext>
            </a:extLst>
          </p:cNvPr>
          <p:cNvCxnSpPr>
            <a:stCxn id="4" idx="2"/>
          </p:cNvCxnSpPr>
          <p:nvPr/>
        </p:nvCxnSpPr>
        <p:spPr>
          <a:xfrm flipH="1">
            <a:off x="5931968" y="2344413"/>
            <a:ext cx="1" cy="369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335510-181F-AF4F-7CF2-CA6152F76576}"/>
              </a:ext>
            </a:extLst>
          </p:cNvPr>
          <p:cNvCxnSpPr>
            <a:cxnSpLocks/>
          </p:cNvCxnSpPr>
          <p:nvPr/>
        </p:nvCxnSpPr>
        <p:spPr>
          <a:xfrm flipV="1">
            <a:off x="2974204" y="2706947"/>
            <a:ext cx="5645621" cy="7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1269F84-4A9A-78F5-36D6-62818720C3FE}"/>
              </a:ext>
            </a:extLst>
          </p:cNvPr>
          <p:cNvCxnSpPr>
            <a:cxnSpLocks/>
          </p:cNvCxnSpPr>
          <p:nvPr/>
        </p:nvCxnSpPr>
        <p:spPr>
          <a:xfrm flipV="1">
            <a:off x="2974204" y="2706947"/>
            <a:ext cx="0" cy="518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04F75C-3E45-F303-0D0D-718F8B0E835F}"/>
              </a:ext>
            </a:extLst>
          </p:cNvPr>
          <p:cNvCxnSpPr>
            <a:cxnSpLocks/>
          </p:cNvCxnSpPr>
          <p:nvPr/>
        </p:nvCxnSpPr>
        <p:spPr>
          <a:xfrm flipV="1">
            <a:off x="8606989" y="2706947"/>
            <a:ext cx="0" cy="518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3D340981-189D-4F72-4FEE-C419E24933E7}"/>
              </a:ext>
            </a:extLst>
          </p:cNvPr>
          <p:cNvSpPr/>
          <p:nvPr/>
        </p:nvSpPr>
        <p:spPr>
          <a:xfrm>
            <a:off x="1039528" y="2344413"/>
            <a:ext cx="1578536" cy="7316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Numeric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4E56E7F-FE84-8E6A-7D2D-96A16AD282AA}"/>
              </a:ext>
            </a:extLst>
          </p:cNvPr>
          <p:cNvSpPr/>
          <p:nvPr/>
        </p:nvSpPr>
        <p:spPr>
          <a:xfrm>
            <a:off x="9053365" y="2342805"/>
            <a:ext cx="1790297" cy="7316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Categorical</a:t>
            </a:r>
          </a:p>
        </p:txBody>
      </p:sp>
    </p:spTree>
    <p:extLst>
      <p:ext uri="{BB962C8B-B14F-4D97-AF65-F5344CB8AC3E}">
        <p14:creationId xmlns:p14="http://schemas.microsoft.com/office/powerpoint/2010/main" val="3125029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4E67F0-2D58-7243-3A9B-8DC44B15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Linear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DC1872-A3DF-9E2D-67F6-FA3AA0C93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Linear Regression</a:t>
            </a:r>
            <a:r>
              <a:rPr lang="en-IN" noProof="0" dirty="0"/>
              <a:t>: Find the best straight line that predicts one variable (Y) using another (X)</a:t>
            </a:r>
          </a:p>
          <a:p>
            <a:r>
              <a:rPr lang="en-IN" noProof="0" dirty="0"/>
              <a:t>Equation: Y = a + </a:t>
            </a:r>
            <a:r>
              <a:rPr lang="en-IN" noProof="0" dirty="0" err="1"/>
              <a:t>bX</a:t>
            </a:r>
            <a:endParaRPr lang="en-IN" noProof="0" dirty="0"/>
          </a:p>
          <a:p>
            <a:pPr lvl="1"/>
            <a:r>
              <a:rPr lang="en-IN" noProof="0" dirty="0"/>
              <a:t>a = Intercept (Value of Y when X = 0)</a:t>
            </a:r>
          </a:p>
          <a:p>
            <a:pPr lvl="1"/>
            <a:r>
              <a:rPr lang="en-IN" noProof="0" dirty="0"/>
              <a:t>b = Slope (How much Y changes for 1 unit change in X)</a:t>
            </a:r>
          </a:p>
          <a:p>
            <a:r>
              <a:rPr lang="en-IN" noProof="0" dirty="0"/>
              <a:t>Understanding</a:t>
            </a:r>
          </a:p>
          <a:p>
            <a:pPr lvl="1"/>
            <a:r>
              <a:rPr lang="en-IN" noProof="0" dirty="0"/>
              <a:t>Imagine plotting our data points (X, Y) on a graph</a:t>
            </a:r>
          </a:p>
          <a:p>
            <a:pPr lvl="1"/>
            <a:r>
              <a:rPr lang="en-IN" noProof="0" dirty="0"/>
              <a:t>Draw a line that fits the points as closely as possible</a:t>
            </a:r>
          </a:p>
          <a:p>
            <a:pPr lvl="1"/>
            <a:r>
              <a:rPr lang="en-IN" noProof="0" dirty="0"/>
              <a:t>This </a:t>
            </a:r>
            <a:r>
              <a:rPr lang="en-IN" b="1" noProof="0" dirty="0"/>
              <a:t>best fit</a:t>
            </a:r>
            <a:r>
              <a:rPr lang="en-IN" noProof="0" dirty="0"/>
              <a:t> line shows the trend or relationship between X and Y</a:t>
            </a:r>
          </a:p>
          <a:p>
            <a:r>
              <a:rPr lang="en-IN" noProof="0" dirty="0"/>
              <a:t>Error and Best fit</a:t>
            </a:r>
          </a:p>
          <a:p>
            <a:pPr lvl="1"/>
            <a:r>
              <a:rPr lang="en-IN" noProof="0" dirty="0"/>
              <a:t>Each point does not lie exactly on the line</a:t>
            </a:r>
          </a:p>
          <a:p>
            <a:pPr lvl="1"/>
            <a:r>
              <a:rPr lang="en-IN" b="1" noProof="0" dirty="0"/>
              <a:t>Error</a:t>
            </a:r>
            <a:r>
              <a:rPr lang="en-IN" noProof="0" dirty="0"/>
              <a:t>/</a:t>
            </a:r>
            <a:r>
              <a:rPr lang="en-IN" b="1" noProof="0" dirty="0"/>
              <a:t>Residual</a:t>
            </a:r>
            <a:r>
              <a:rPr lang="en-IN" noProof="0" dirty="0"/>
              <a:t>: Vertical distance between a point and the line</a:t>
            </a:r>
          </a:p>
          <a:p>
            <a:pPr lvl="1"/>
            <a:r>
              <a:rPr lang="en-IN" b="1" noProof="0" dirty="0"/>
              <a:t>Least Squared Error</a:t>
            </a:r>
            <a:r>
              <a:rPr lang="en-IN" noProof="0" dirty="0"/>
              <a:t> method: Try to minimize the total squared error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5F875-49DE-3627-F5DE-62B66C553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423" y="2538719"/>
            <a:ext cx="3029496" cy="203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5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E533-719F-E06B-A736-914993AC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C19D6E-27E9-F7DC-CAA6-1FD62B84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Linear Regression Interpretation and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BC0DE7-16F3-76EC-828D-77348663B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noProof="0" dirty="0"/>
              <a:t>If slope b &gt; 0, Y increases as X increases</a:t>
            </a:r>
          </a:p>
          <a:p>
            <a:r>
              <a:rPr lang="en-IN" noProof="0" dirty="0"/>
              <a:t>If slope b &lt; 0, Y decreases as X increases</a:t>
            </a:r>
          </a:p>
          <a:p>
            <a:r>
              <a:rPr lang="en-IN" noProof="0" dirty="0"/>
              <a:t>Suppose we study Hours of study (X) and Marks (Y)</a:t>
            </a:r>
          </a:p>
          <a:p>
            <a:r>
              <a:rPr lang="en-IN" noProof="0" dirty="0"/>
              <a:t>Regression finds the line that best predicts marks for any given study hours</a:t>
            </a:r>
          </a:p>
          <a:p>
            <a:r>
              <a:rPr lang="en-IN" noProof="0" dirty="0"/>
              <a:t>Slope tells us how much marks are expected to increase/decrease as per extra study hours</a:t>
            </a:r>
          </a:p>
          <a:p>
            <a:r>
              <a:rPr lang="en-IN" b="1" dirty="0"/>
              <a:t>R</a:t>
            </a:r>
            <a:r>
              <a:rPr lang="en-IN" b="1" baseline="30000" dirty="0"/>
              <a:t>2</a:t>
            </a:r>
            <a:r>
              <a:rPr lang="en-IN" dirty="0"/>
              <a:t> </a:t>
            </a:r>
            <a:r>
              <a:rPr lang="en-IN" b="1" dirty="0"/>
              <a:t>(R-Squared)</a:t>
            </a:r>
            <a:r>
              <a:rPr lang="en-IN" dirty="0"/>
              <a:t> = Measures proportion of variance in Y explained by X</a:t>
            </a:r>
          </a:p>
          <a:p>
            <a:pPr lvl="1"/>
            <a:r>
              <a:rPr lang="en-IN" dirty="0"/>
              <a:t>R = Correlation between X and Y, Range: -1 to +1</a:t>
            </a:r>
          </a:p>
          <a:p>
            <a:pPr lvl="1"/>
            <a:r>
              <a:rPr lang="en-IN" dirty="0"/>
              <a:t>R</a:t>
            </a:r>
            <a:r>
              <a:rPr lang="en-IN" baseline="30000" dirty="0"/>
              <a:t>2</a:t>
            </a:r>
            <a:r>
              <a:rPr lang="en-IN" dirty="0"/>
              <a:t> = (Correlation between X and Y)</a:t>
            </a:r>
            <a:r>
              <a:rPr lang="en-IN" baseline="30000" dirty="0"/>
              <a:t>2</a:t>
            </a:r>
            <a:r>
              <a:rPr lang="en-IN" dirty="0"/>
              <a:t> -&gt; Squaring R removes its sign, Range: 0 to 1</a:t>
            </a:r>
          </a:p>
          <a:p>
            <a:pPr lvl="1"/>
            <a:r>
              <a:rPr lang="en-IN" dirty="0"/>
              <a:t>Example: R = -0.70, R</a:t>
            </a:r>
            <a:r>
              <a:rPr lang="en-IN" baseline="30000" dirty="0"/>
              <a:t>2</a:t>
            </a:r>
            <a:r>
              <a:rPr lang="en-IN" dirty="0"/>
              <a:t> = 0.49 -&gt; 49% of variance in Y is explained by X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97815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F1EF-A0F7-30C3-A876-16FF24799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Least Squared Error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5B4AE7-E9B5-A1C8-114C-52890DE9FB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61097" y="1281474"/>
          <a:ext cx="63883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679">
                  <a:extLst>
                    <a:ext uri="{9D8B030D-6E8A-4147-A177-3AD203B41FA5}">
                      <a16:colId xmlns:a16="http://schemas.microsoft.com/office/drawing/2014/main" val="2629057590"/>
                    </a:ext>
                  </a:extLst>
                </a:gridCol>
                <a:gridCol w="1277679">
                  <a:extLst>
                    <a:ext uri="{9D8B030D-6E8A-4147-A177-3AD203B41FA5}">
                      <a16:colId xmlns:a16="http://schemas.microsoft.com/office/drawing/2014/main" val="998697563"/>
                    </a:ext>
                  </a:extLst>
                </a:gridCol>
                <a:gridCol w="1277679">
                  <a:extLst>
                    <a:ext uri="{9D8B030D-6E8A-4147-A177-3AD203B41FA5}">
                      <a16:colId xmlns:a16="http://schemas.microsoft.com/office/drawing/2014/main" val="3137247662"/>
                    </a:ext>
                  </a:extLst>
                </a:gridCol>
                <a:gridCol w="1277679">
                  <a:extLst>
                    <a:ext uri="{9D8B030D-6E8A-4147-A177-3AD203B41FA5}">
                      <a16:colId xmlns:a16="http://schemas.microsoft.com/office/drawing/2014/main" val="2096754394"/>
                    </a:ext>
                  </a:extLst>
                </a:gridCol>
                <a:gridCol w="1277679">
                  <a:extLst>
                    <a:ext uri="{9D8B030D-6E8A-4147-A177-3AD203B41FA5}">
                      <a16:colId xmlns:a16="http://schemas.microsoft.com/office/drawing/2014/main" val="501750082"/>
                    </a:ext>
                  </a:extLst>
                </a:gridCol>
              </a:tblGrid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y (Actual)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y (Line)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Squared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735623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615603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23192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946652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-2.5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6.25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627986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162520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413063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429972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156.25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837523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54259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78203"/>
                  </a:ext>
                </a:extLst>
              </a:tr>
              <a:tr h="258801">
                <a:tc gridSpan="4">
                  <a:txBody>
                    <a:bodyPr/>
                    <a:lstStyle/>
                    <a:p>
                      <a:pPr algn="ctr"/>
                      <a:r>
                        <a:rPr lang="en-IN" b="1" noProof="0" dirty="0"/>
                        <a:t>Sum of Squared Error (SSE)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862.5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9044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B1C162C-FD2C-5873-D9AC-37817D23E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91" y="1389692"/>
            <a:ext cx="3519376" cy="2230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1E0FD2-A3EE-CA65-AE16-2AA38B585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91" y="3726480"/>
            <a:ext cx="3616842" cy="24302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C94152-7A42-B5F1-6219-D456F94D9FF1}"/>
              </a:ext>
            </a:extLst>
          </p:cNvPr>
          <p:cNvSpPr txBox="1"/>
          <p:nvPr/>
        </p:nvSpPr>
        <p:spPr>
          <a:xfrm>
            <a:off x="6096000" y="176967"/>
            <a:ext cx="514261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noProof="0" dirty="0"/>
              <a:t>Suppose our line satisfies the equation</a:t>
            </a:r>
            <a:r>
              <a:rPr lang="en-IN" b="1" noProof="0" dirty="0"/>
              <a:t> y = 10 + 0.5x</a:t>
            </a:r>
          </a:p>
        </p:txBody>
      </p:sp>
    </p:spTree>
    <p:extLst>
      <p:ext uri="{BB962C8B-B14F-4D97-AF65-F5344CB8AC3E}">
        <p14:creationId xmlns:p14="http://schemas.microsoft.com/office/powerpoint/2010/main" val="288322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94A9E-1AF8-7CBC-625F-8B6DD4BD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Sum of Squared Error (SSE)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A1791-557D-29C4-2ABF-EC472079E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noProof="0" dirty="0"/>
                  <a:t>Sum of Squared Error (SSE)</a:t>
                </a:r>
                <a:r>
                  <a:rPr lang="en-IN" noProof="0" dirty="0"/>
                  <a:t>: A metric used to measure how well a line or curve models certain data points</a:t>
                </a:r>
                <a:endParaRPr lang="en-IN" b="1" noProof="0" dirty="0"/>
              </a:p>
              <a:p>
                <a:r>
                  <a:rPr lang="en-IN" b="1" noProof="0" dirty="0"/>
                  <a:t>Error/Residual</a:t>
                </a:r>
                <a:r>
                  <a:rPr lang="en-IN" noProof="0" dirty="0"/>
                  <a:t>: Vertical distance between the actual data point and point on the </a:t>
                </a:r>
                <a:r>
                  <a:rPr lang="en-IN" i="1" noProof="0" dirty="0"/>
                  <a:t>line of best fit</a:t>
                </a:r>
                <a:r>
                  <a:rPr lang="en-IN" noProof="0" dirty="0"/>
                  <a:t>, i.e. </a:t>
                </a:r>
                <a:r>
                  <a:rPr lang="en-IN" noProof="0" dirty="0" err="1"/>
                  <a:t>y</a:t>
                </a:r>
                <a:r>
                  <a:rPr lang="en-IN" baseline="-25000" noProof="0" dirty="0" err="1"/>
                  <a:t>i</a:t>
                </a:r>
                <a:r>
                  <a:rPr lang="en-IN" noProof="0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nor/>
                      </m:rPr>
                      <a:rPr lang="en-IN" baseline="-25000" noProof="0"/>
                      <m:t>i</m:t>
                    </m:r>
                  </m:oMath>
                </a14:m>
                <a:endParaRPr lang="en-IN" noProof="0" dirty="0"/>
              </a:p>
              <a:p>
                <a:r>
                  <a:rPr lang="en-IN" b="1" noProof="0" dirty="0"/>
                  <a:t>Squared Error</a:t>
                </a:r>
                <a:r>
                  <a:rPr lang="en-IN" noProof="0" dirty="0"/>
                  <a:t>: The error is squared, i.e. (</a:t>
                </a:r>
                <a:r>
                  <a:rPr lang="en-IN" noProof="0" dirty="0" err="1"/>
                  <a:t>y</a:t>
                </a:r>
                <a:r>
                  <a:rPr lang="en-IN" baseline="-25000" noProof="0" dirty="0" err="1"/>
                  <a:t>i</a:t>
                </a:r>
                <a:r>
                  <a:rPr lang="en-IN" noProof="0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nor/>
                      </m:rPr>
                      <a:rPr lang="en-IN" baseline="-25000" noProof="0"/>
                      <m:t>i</m:t>
                    </m:r>
                  </m:oMath>
                </a14:m>
                <a:r>
                  <a:rPr lang="en-IN" noProof="0" dirty="0"/>
                  <a:t>)</a:t>
                </a:r>
                <a:r>
                  <a:rPr lang="en-IN" baseline="30000" noProof="0" dirty="0"/>
                  <a:t>2</a:t>
                </a:r>
              </a:p>
              <a:p>
                <a:pPr lvl="1"/>
                <a:r>
                  <a:rPr lang="en-IN" noProof="0" dirty="0"/>
                  <a:t>Eliminate negative values</a:t>
                </a:r>
              </a:p>
              <a:p>
                <a:pPr lvl="1"/>
                <a:r>
                  <a:rPr lang="en-IN" noProof="0" dirty="0"/>
                  <a:t>Penalize larger errors/outliers</a:t>
                </a:r>
              </a:p>
              <a:p>
                <a:r>
                  <a:rPr lang="en-IN" b="1" noProof="0" dirty="0"/>
                  <a:t>Sum of Squared Error (SSE)</a:t>
                </a:r>
                <a:r>
                  <a:rPr lang="en-IN" noProof="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IN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IN" noProof="0"/>
                          <m:t>(</m:t>
                        </m:r>
                        <m:r>
                          <m:rPr>
                            <m:nor/>
                          </m:rPr>
                          <a:rPr lang="en-IN" noProof="0"/>
                          <m:t>yi</m:t>
                        </m:r>
                        <m:r>
                          <m:rPr>
                            <m:nor/>
                          </m:rPr>
                          <a:rPr lang="en-IN" noProof="0"/>
                          <m:t> − </m:t>
                        </m:r>
                        <m:acc>
                          <m:accPr>
                            <m:chr m:val="̂"/>
                            <m:ctrlPr>
                              <a:rPr lang="en-IN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IN" baseline="-25000" noProof="0"/>
                          <m:t>i</m:t>
                        </m:r>
                        <m:r>
                          <m:rPr>
                            <m:nor/>
                          </m:rPr>
                          <a:rPr lang="en-IN" noProof="0"/>
                          <m:t>)</m:t>
                        </m:r>
                        <m:r>
                          <m:rPr>
                            <m:nor/>
                          </m:rPr>
                          <a:rPr lang="en-IN" baseline="30000" noProof="0"/>
                          <m:t>2</m:t>
                        </m:r>
                      </m:e>
                    </m:nary>
                  </m:oMath>
                </a14:m>
                <a:endParaRPr lang="en-IN" noProof="0" dirty="0"/>
              </a:p>
              <a:p>
                <a:r>
                  <a:rPr lang="en-IN" b="1" noProof="0" dirty="0"/>
                  <a:t>Line of best fit</a:t>
                </a:r>
                <a:r>
                  <a:rPr lang="en-IN" noProof="0" dirty="0"/>
                  <a:t>: Gives the minimum possible SSE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A1791-557D-29C4-2ABF-EC472079E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311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2CCD-3737-4B64-5597-18F3C63F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20"/>
            <a:ext cx="10515600" cy="703279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Linear Regression </a:t>
            </a:r>
            <a:br>
              <a:rPr lang="en-IN" noProof="0" dirty="0"/>
            </a:b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6A331-5958-BE44-DD48-AECD3E20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pPr lvl="8"/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14DA32-3D41-47C9-784B-B92DA13CDDB4}"/>
                  </a:ext>
                </a:extLst>
              </p:cNvPr>
              <p:cNvSpPr txBox="1"/>
              <p:nvPr/>
            </p:nvSpPr>
            <p:spPr>
              <a:xfrm>
                <a:off x="179671" y="5315644"/>
                <a:ext cx="5871410" cy="150810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320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3200" i="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3200" i="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3200" i="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3200" i="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3200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000" b="1" noProof="0" dirty="0"/>
              </a:p>
              <a:p>
                <a:endParaRPr lang="en-IN" sz="2000" b="1" noProof="0" dirty="0"/>
              </a:p>
              <a:p>
                <a:r>
                  <a:rPr lang="en-IN" sz="2000" b="1" noProof="0" dirty="0"/>
                  <a:t>b</a:t>
                </a:r>
                <a:r>
                  <a:rPr lang="en-IN" sz="2000" b="1" baseline="-25000" noProof="0" dirty="0"/>
                  <a:t>0</a:t>
                </a:r>
                <a:r>
                  <a:rPr lang="en-IN" sz="2000" b="1" noProof="0" dirty="0"/>
                  <a:t> = y-intercept (Value of y when x = 0)</a:t>
                </a:r>
              </a:p>
              <a:p>
                <a:r>
                  <a:rPr lang="en-IN" sz="2000" b="1" noProof="0" dirty="0"/>
                  <a:t>b</a:t>
                </a:r>
                <a:r>
                  <a:rPr lang="en-IN" sz="2000" b="1" baseline="-25000" noProof="0" dirty="0"/>
                  <a:t>1</a:t>
                </a:r>
                <a:r>
                  <a:rPr lang="en-IN" sz="2000" b="1" noProof="0" dirty="0"/>
                  <a:t> = slope (How much y changes per unit change in x)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14DA32-3D41-47C9-784B-B92DA13CD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71" y="5315644"/>
                <a:ext cx="5871410" cy="1508105"/>
              </a:xfrm>
              <a:prstGeom prst="rect">
                <a:avLst/>
              </a:prstGeom>
              <a:blipFill>
                <a:blip r:embed="rId2"/>
                <a:stretch>
                  <a:fillRect l="-1037" b="-64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5C4CF2F-5B5A-E907-70DB-E330C8D71C6E}"/>
              </a:ext>
            </a:extLst>
          </p:cNvPr>
          <p:cNvSpPr txBox="1"/>
          <p:nvPr/>
        </p:nvSpPr>
        <p:spPr>
          <a:xfrm>
            <a:off x="6914631" y="272072"/>
            <a:ext cx="4160036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noProof="0" dirty="0"/>
              <a:t>Example:</a:t>
            </a:r>
          </a:p>
          <a:p>
            <a:endParaRPr lang="en-IN" b="1" noProof="0" dirty="0"/>
          </a:p>
          <a:p>
            <a:r>
              <a:rPr lang="en-IN" b="1" noProof="0" dirty="0"/>
              <a:t>Salary (y) = 3,00,000 + 1,00,000x</a:t>
            </a:r>
          </a:p>
          <a:p>
            <a:endParaRPr lang="en-IN" b="1" noProof="0" dirty="0"/>
          </a:p>
          <a:p>
            <a:r>
              <a:rPr lang="en-IN" b="1" noProof="0" dirty="0"/>
              <a:t>Here, </a:t>
            </a:r>
            <a:r>
              <a:rPr lang="en-IN" sz="1800" b="1" noProof="0" dirty="0"/>
              <a:t>b</a:t>
            </a:r>
            <a:r>
              <a:rPr lang="en-IN" sz="1800" b="1" baseline="-25000" noProof="0" dirty="0"/>
              <a:t>0</a:t>
            </a:r>
            <a:r>
              <a:rPr lang="en-IN" b="1" noProof="0" dirty="0"/>
              <a:t> = 3,00,000 and </a:t>
            </a:r>
            <a:r>
              <a:rPr lang="en-IN" sz="1800" b="1" noProof="0" dirty="0"/>
              <a:t>b</a:t>
            </a:r>
            <a:r>
              <a:rPr lang="en-IN" b="1" baseline="-25000" noProof="0" dirty="0"/>
              <a:t>1</a:t>
            </a:r>
            <a:r>
              <a:rPr lang="en-IN" b="1" noProof="0" dirty="0"/>
              <a:t> = 1,00,000</a:t>
            </a:r>
          </a:p>
          <a:p>
            <a:endParaRPr lang="en-IN" b="1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6C5CDF-D84E-9A17-E44B-1128DA63D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3" y="999356"/>
            <a:ext cx="5961247" cy="43979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E215ED-E29B-4C50-5CD7-83A6F7FC53EE}"/>
              </a:ext>
            </a:extLst>
          </p:cNvPr>
          <p:cNvGraphicFramePr>
            <a:graphicFrameLocks noGrp="1"/>
          </p:cNvGraphicFramePr>
          <p:nvPr/>
        </p:nvGraphicFramePr>
        <p:xfrm>
          <a:off x="6391175" y="2397136"/>
          <a:ext cx="506288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444">
                  <a:extLst>
                    <a:ext uri="{9D8B030D-6E8A-4147-A177-3AD203B41FA5}">
                      <a16:colId xmlns:a16="http://schemas.microsoft.com/office/drawing/2014/main" val="2279502503"/>
                    </a:ext>
                  </a:extLst>
                </a:gridCol>
                <a:gridCol w="2531444">
                  <a:extLst>
                    <a:ext uri="{9D8B030D-6E8A-4147-A177-3AD203B41FA5}">
                      <a16:colId xmlns:a16="http://schemas.microsoft.com/office/drawing/2014/main" val="481810748"/>
                    </a:ext>
                  </a:extLst>
                </a:gridCol>
              </a:tblGrid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Experience (Years)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Salary (Rupees in Lakhs)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576966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45720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935227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015429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04184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093264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58150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287111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714248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82483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852930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36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088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5DBB-97C4-F117-3142-F4BBE8A1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694"/>
            <a:ext cx="10515600" cy="616688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Regression Metrics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2CC25F8-6752-E6E6-17A1-B7F8B00E71F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93405" y="850606"/>
              <a:ext cx="11344939" cy="5974411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1022842">
                      <a:extLst>
                        <a:ext uri="{9D8B030D-6E8A-4147-A177-3AD203B41FA5}">
                          <a16:colId xmlns:a16="http://schemas.microsoft.com/office/drawing/2014/main" val="3571068989"/>
                        </a:ext>
                      </a:extLst>
                    </a:gridCol>
                    <a:gridCol w="2305695">
                      <a:extLst>
                        <a:ext uri="{9D8B030D-6E8A-4147-A177-3AD203B41FA5}">
                          <a16:colId xmlns:a16="http://schemas.microsoft.com/office/drawing/2014/main" val="2841260163"/>
                        </a:ext>
                      </a:extLst>
                    </a:gridCol>
                    <a:gridCol w="3120145">
                      <a:extLst>
                        <a:ext uri="{9D8B030D-6E8A-4147-A177-3AD203B41FA5}">
                          <a16:colId xmlns:a16="http://schemas.microsoft.com/office/drawing/2014/main" val="4066360817"/>
                        </a:ext>
                      </a:extLst>
                    </a:gridCol>
                    <a:gridCol w="2145100">
                      <a:extLst>
                        <a:ext uri="{9D8B030D-6E8A-4147-A177-3AD203B41FA5}">
                          <a16:colId xmlns:a16="http://schemas.microsoft.com/office/drawing/2014/main" val="121328166"/>
                        </a:ext>
                      </a:extLst>
                    </a:gridCol>
                    <a:gridCol w="2751157">
                      <a:extLst>
                        <a:ext uri="{9D8B030D-6E8A-4147-A177-3AD203B41FA5}">
                          <a16:colId xmlns:a16="http://schemas.microsoft.com/office/drawing/2014/main" val="1813311693"/>
                        </a:ext>
                      </a:extLst>
                    </a:gridCol>
                  </a:tblGrid>
                  <a:tr h="71967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Metric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Full Form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Formula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Range / Ideal Value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Intuition (Meaning)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0338717"/>
                      </a:ext>
                    </a:extLst>
                  </a:tr>
                  <a:tr h="135938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R²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Coefficient of Determination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0" noProof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f>
                                  <m:fPr>
                                    <m:ctrlPr>
                                      <a:rPr lang="en-IN" sz="20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b="0" noProof="0" smtClean="0">
                                        <a:latin typeface="Cambria Math" panose="02040503050406030204" pitchFamily="18" charset="0"/>
                                      </a:rPr>
                                      <m:t>𝑆𝑆𝐸</m:t>
                                    </m:r>
                                  </m:num>
                                  <m:den>
                                    <m:r>
                                      <a:rPr lang="en-IN" sz="2000" b="0" noProof="0" smtClean="0">
                                        <a:latin typeface="Cambria Math" panose="02040503050406030204" pitchFamily="18" charset="0"/>
                                      </a:rPr>
                                      <m:t>𝑇𝑆𝑆</m:t>
                                    </m:r>
                                  </m:den>
                                </m:f>
                                <m:r>
                                  <a:rPr lang="en-IN" sz="2000" b="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0 to 1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(higher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How well the model explains variation in Y, 1 = perfect prediction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1828721"/>
                      </a:ext>
                    </a:extLst>
                  </a:tr>
                  <a:tr h="97194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MAE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Mean Absolute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sz="2000" noProof="0" smtClean="0"/>
                                      <m:t>Sum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0" i="0" noProof="0" smtClean="0"/>
                                      <m:t> |</m:t>
                                    </m:r>
                                    <m:sSub>
                                      <m:sSubPr>
                                        <m:ctrlPr>
                                          <a:rPr lang="en-IN" sz="2000" i="1" noProof="0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000" noProof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2000" noProof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2000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sz="2000" i="1" noProof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2000" i="1" noProof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2000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000" noProof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IN" sz="2000" b="0" i="0" noProof="0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IN" sz="2000" b="0" i="0" noProof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r>
                                  <a:rPr lang="en-IN" sz="2000" b="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IN" sz="2000" noProof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000" noProof="0" dirty="0"/>
                        </a:p>
                        <a:p>
                          <a:pPr>
                            <a:buNone/>
                          </a:pP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noProof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noProof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2000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2000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2000" i="1" noProof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IN" sz="2000" i="1" noProof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000" noProof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000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Average error in predictions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6728376"/>
                      </a:ext>
                    </a:extLst>
                  </a:tr>
                  <a:tr h="129180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MSE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Mean Squared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b="0" noProof="0" smtClean="0">
                                        <a:latin typeface="Cambria Math" panose="02040503050406030204" pitchFamily="18" charset="0"/>
                                      </a:rPr>
                                      <m:t>𝑆𝑆𝐸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IN" sz="2000" b="0" i="0" noProof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≥ 0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 (lower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Penalizes large errors more (since errors are squared)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4812497"/>
                      </a:ext>
                    </a:extLst>
                  </a:tr>
                  <a:tr h="132434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RMSE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Root Mean Squared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N" sz="20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000" i="1" noProof="0">
                                        <a:latin typeface="Cambria Math" panose="02040503050406030204" pitchFamily="18" charset="0"/>
                                      </a:rPr>
                                      <m:t>𝑀𝑆𝐸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≥ 0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(lower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Same as MSE but in original units of Y — easier to interpret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54595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2CC25F8-6752-E6E6-17A1-B7F8B00E71F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26172289"/>
                  </p:ext>
                </p:extLst>
              </p:nvPr>
            </p:nvGraphicFramePr>
            <p:xfrm>
              <a:off x="393405" y="850606"/>
              <a:ext cx="11344939" cy="5974411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1022842">
                      <a:extLst>
                        <a:ext uri="{9D8B030D-6E8A-4147-A177-3AD203B41FA5}">
                          <a16:colId xmlns:a16="http://schemas.microsoft.com/office/drawing/2014/main" val="3571068989"/>
                        </a:ext>
                      </a:extLst>
                    </a:gridCol>
                    <a:gridCol w="2305695">
                      <a:extLst>
                        <a:ext uri="{9D8B030D-6E8A-4147-A177-3AD203B41FA5}">
                          <a16:colId xmlns:a16="http://schemas.microsoft.com/office/drawing/2014/main" val="2841260163"/>
                        </a:ext>
                      </a:extLst>
                    </a:gridCol>
                    <a:gridCol w="3120145">
                      <a:extLst>
                        <a:ext uri="{9D8B030D-6E8A-4147-A177-3AD203B41FA5}">
                          <a16:colId xmlns:a16="http://schemas.microsoft.com/office/drawing/2014/main" val="4066360817"/>
                        </a:ext>
                      </a:extLst>
                    </a:gridCol>
                    <a:gridCol w="2145100">
                      <a:extLst>
                        <a:ext uri="{9D8B030D-6E8A-4147-A177-3AD203B41FA5}">
                          <a16:colId xmlns:a16="http://schemas.microsoft.com/office/drawing/2014/main" val="121328166"/>
                        </a:ext>
                      </a:extLst>
                    </a:gridCol>
                    <a:gridCol w="2751157">
                      <a:extLst>
                        <a:ext uri="{9D8B030D-6E8A-4147-A177-3AD203B41FA5}">
                          <a16:colId xmlns:a16="http://schemas.microsoft.com/office/drawing/2014/main" val="1813311693"/>
                        </a:ext>
                      </a:extLst>
                    </a:gridCol>
                  </a:tblGrid>
                  <a:tr h="71967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Metric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Full Form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Formula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Range / Ideal Value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Intuition (Meaning)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0338717"/>
                      </a:ext>
                    </a:extLst>
                  </a:tr>
                  <a:tr h="135938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R²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Coefficient of Determination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836" t="-54260" r="-157422" b="-2878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0 to 1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(higher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How well the model explains variation in Y, 1 = perfect prediction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1828721"/>
                      </a:ext>
                    </a:extLst>
                  </a:tr>
                  <a:tr h="12792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MAE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Mean Absolute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836" t="-163810" r="-157422" b="-2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852" t="-163810" r="-128977" b="-2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Average error in predictions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6728376"/>
                      </a:ext>
                    </a:extLst>
                  </a:tr>
                  <a:tr h="129180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MSE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Mean Squared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836" t="-260094" r="-157422" b="-1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≥ 0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 (lower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Penalizes large errors more (since errors are squared)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4812497"/>
                      </a:ext>
                    </a:extLst>
                  </a:tr>
                  <a:tr h="132434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RMSE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Root Mean Squared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836" t="-353456" r="-157422" b="-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≥ 0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(lower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Same as MSE but in original units of Y — easier to interpret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54595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4689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D5AC-0F57-C3CC-9558-E2D2F14F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7A4CE-2A86-BB70-0F15-0BC19C6D75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noProof="0" dirty="0"/>
                  <a:t>R</a:t>
                </a:r>
                <a:r>
                  <a:rPr lang="en-IN" baseline="30000" noProof="0" dirty="0"/>
                  <a:t>2</a:t>
                </a:r>
                <a:r>
                  <a:rPr lang="en-IN" noProof="0" dirty="0"/>
                  <a:t> = </a:t>
                </a:r>
                <a14:m>
                  <m:oMath xmlns:m="http://schemas.openxmlformats.org/officeDocument/2006/math">
                    <m:r>
                      <a:rPr lang="en-IN" i="1" noProof="0">
                        <a:latin typeface="Cambria Math" panose="02040503050406030204" pitchFamily="18" charset="0"/>
                      </a:rPr>
                      <m:t>1 − </m:t>
                    </m:r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𝑇𝑆𝑆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∗</m:t>
                        </m:r>
                      </m:den>
                    </m:f>
                  </m:oMath>
                </a14:m>
                <a:endParaRPr lang="en-IN" noProof="0" dirty="0"/>
              </a:p>
              <a:p>
                <a:endParaRPr lang="en-IN" noProof="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noProof="0"/>
                      <m:t>R</m:t>
                    </m:r>
                    <m:r>
                      <m:rPr>
                        <m:nor/>
                      </m:rPr>
                      <a:rPr lang="en-IN" baseline="30000" noProof="0"/>
                      <m:t>2</m:t>
                    </m:r>
                    <m:r>
                      <m:rPr>
                        <m:nor/>
                      </m:rPr>
                      <a:rPr lang="en-IN" noProof="0"/>
                      <m:t> =</m:t>
                    </m:r>
                    <m:r>
                      <m:rPr>
                        <m:nor/>
                      </m:rPr>
                      <a:rPr lang="en-IN" b="0" i="0" noProof="0" smtClean="0"/>
                      <m:t> </m:t>
                    </m:r>
                    <m:r>
                      <a:rPr lang="en-IN" i="1" noProof="0">
                        <a:latin typeface="Cambria Math" panose="02040503050406030204" pitchFamily="18" charset="0"/>
                      </a:rPr>
                      <m:t>1 − </m:t>
                    </m:r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722</m:t>
                        </m:r>
                      </m:num>
                      <m:den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1450</m:t>
                        </m:r>
                      </m:den>
                    </m:f>
                    <m:r>
                      <a:rPr lang="en-IN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noProof="0" dirty="0"/>
                  <a:t> = 0.502</a:t>
                </a:r>
              </a:p>
              <a:p>
                <a:endParaRPr lang="en-IN" noProof="0" dirty="0"/>
              </a:p>
              <a:p>
                <a:r>
                  <a:rPr lang="en-IN" noProof="0" dirty="0"/>
                  <a:t>MSE =</a:t>
                </a:r>
                <a14:m>
                  <m:oMath xmlns:m="http://schemas.openxmlformats.org/officeDocument/2006/math">
                    <m:r>
                      <a:rPr lang="en-IN" b="0" i="0" noProof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IN" noProof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722</m:t>
                        </m:r>
                      </m:num>
                      <m:den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IN" noProof="0" dirty="0"/>
                  <a:t> = 72.2</a:t>
                </a:r>
              </a:p>
              <a:p>
                <a:endParaRPr lang="en-IN" noProof="0" dirty="0"/>
              </a:p>
              <a:p>
                <a:endParaRPr lang="en-IN" noProof="0" dirty="0"/>
              </a:p>
              <a:p>
                <a:r>
                  <a:rPr lang="en-IN" noProof="0" dirty="0"/>
                  <a:t>RMSE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𝑀𝑆𝐸</m:t>
                        </m:r>
                      </m:e>
                    </m:rad>
                  </m:oMath>
                </a14:m>
                <a:r>
                  <a:rPr lang="en-IN" noProof="0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72.2</m:t>
                        </m:r>
                      </m:e>
                    </m:rad>
                  </m:oMath>
                </a14:m>
                <a:r>
                  <a:rPr lang="en-IN" noProof="0" dirty="0"/>
                  <a:t> = 8.49</a:t>
                </a:r>
              </a:p>
              <a:p>
                <a:endParaRPr lang="en-IN" noProof="0" dirty="0"/>
              </a:p>
              <a:p>
                <a:r>
                  <a:rPr lang="en-IN" noProof="0" dirty="0"/>
                  <a:t>MAE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noProof="0"/>
                          <m:t>Sum</m:t>
                        </m:r>
                        <m:r>
                          <m:rPr>
                            <m:nor/>
                          </m:rPr>
                          <a:rPr lang="en-IN" noProof="0"/>
                          <m:t> (</m:t>
                        </m:r>
                        <m:sSub>
                          <m:sSubPr>
                            <m:ctrlPr>
                              <a:rPr lang="en-IN" i="1" noProof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noProof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 noProof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i="1" noProof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noProof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IN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noProof="0" smtClean="0"/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noProof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IN" noProof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IN" noProof="0" dirty="0"/>
                  <a:t> = 7.4 </a:t>
                </a:r>
              </a:p>
              <a:p>
                <a:endParaRPr lang="en-IN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7A4CE-2A86-BB70-0F15-0BC19C6D75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b="-1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E9E5444-0BE3-3CFD-4F2A-19EFACD766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82364" y="96918"/>
              <a:ext cx="6613452" cy="44676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77295">
                      <a:extLst>
                        <a:ext uri="{9D8B030D-6E8A-4147-A177-3AD203B41FA5}">
                          <a16:colId xmlns:a16="http://schemas.microsoft.com/office/drawing/2014/main" val="2297429349"/>
                        </a:ext>
                      </a:extLst>
                    </a:gridCol>
                    <a:gridCol w="1206685">
                      <a:extLst>
                        <a:ext uri="{9D8B030D-6E8A-4147-A177-3AD203B41FA5}">
                          <a16:colId xmlns:a16="http://schemas.microsoft.com/office/drawing/2014/main" val="1337358672"/>
                        </a:ext>
                      </a:extLst>
                    </a:gridCol>
                    <a:gridCol w="1275907">
                      <a:extLst>
                        <a:ext uri="{9D8B030D-6E8A-4147-A177-3AD203B41FA5}">
                          <a16:colId xmlns:a16="http://schemas.microsoft.com/office/drawing/2014/main" val="1757071119"/>
                        </a:ext>
                      </a:extLst>
                    </a:gridCol>
                    <a:gridCol w="1402569">
                      <a:extLst>
                        <a:ext uri="{9D8B030D-6E8A-4147-A177-3AD203B41FA5}">
                          <a16:colId xmlns:a16="http://schemas.microsoft.com/office/drawing/2014/main" val="830366366"/>
                        </a:ext>
                      </a:extLst>
                    </a:gridCol>
                    <a:gridCol w="1850996">
                      <a:extLst>
                        <a:ext uri="{9D8B030D-6E8A-4147-A177-3AD203B41FA5}">
                          <a16:colId xmlns:a16="http://schemas.microsoft.com/office/drawing/2014/main" val="2765552350"/>
                        </a:ext>
                      </a:extLst>
                    </a:gridCol>
                  </a:tblGrid>
                  <a:tr h="779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Y (Actual)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1600" noProof="0" smtClean="0"/>
                                <m:t>ẏ</m:t>
                              </m:r>
                            </m:oMath>
                          </a14:m>
                          <a:r>
                            <a:rPr lang="en-IN" sz="1600" noProof="0" dirty="0"/>
                            <a:t> (Predicted)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|y -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1600" noProof="0" smtClean="0"/>
                                <m:t>ẏ</m:t>
                              </m:r>
                              <m:r>
                                <m:rPr>
                                  <m:nor/>
                                </m:rPr>
                                <a:rPr lang="en-IN" sz="1600" b="1" i="0" noProof="0" smtClean="0"/>
                                <m:t>|</m:t>
                              </m:r>
                            </m:oMath>
                          </a14:m>
                          <a:endParaRPr lang="en-IN" sz="1600" baseline="30000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(y –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1600" noProof="0" smtClean="0"/>
                                <m:t>ẏ</m:t>
                              </m:r>
                            </m:oMath>
                          </a14:m>
                          <a:r>
                            <a:rPr lang="en-IN" sz="1600" noProof="0" dirty="0"/>
                            <a:t> )</a:t>
                          </a:r>
                          <a:r>
                            <a:rPr lang="en-IN" sz="1600" baseline="30000" noProof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836248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859248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471177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5659414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1306571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144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5024489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289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4833442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212881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2864123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8314671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8934142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722 (SSE)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35826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E9E5444-0BE3-3CFD-4F2A-19EFACD766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4842288"/>
                  </p:ext>
                </p:extLst>
              </p:nvPr>
            </p:nvGraphicFramePr>
            <p:xfrm>
              <a:off x="5082364" y="96918"/>
              <a:ext cx="6613452" cy="44676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77295">
                      <a:extLst>
                        <a:ext uri="{9D8B030D-6E8A-4147-A177-3AD203B41FA5}">
                          <a16:colId xmlns:a16="http://schemas.microsoft.com/office/drawing/2014/main" val="2297429349"/>
                        </a:ext>
                      </a:extLst>
                    </a:gridCol>
                    <a:gridCol w="1206685">
                      <a:extLst>
                        <a:ext uri="{9D8B030D-6E8A-4147-A177-3AD203B41FA5}">
                          <a16:colId xmlns:a16="http://schemas.microsoft.com/office/drawing/2014/main" val="1337358672"/>
                        </a:ext>
                      </a:extLst>
                    </a:gridCol>
                    <a:gridCol w="1275907">
                      <a:extLst>
                        <a:ext uri="{9D8B030D-6E8A-4147-A177-3AD203B41FA5}">
                          <a16:colId xmlns:a16="http://schemas.microsoft.com/office/drawing/2014/main" val="1757071119"/>
                        </a:ext>
                      </a:extLst>
                    </a:gridCol>
                    <a:gridCol w="1402569">
                      <a:extLst>
                        <a:ext uri="{9D8B030D-6E8A-4147-A177-3AD203B41FA5}">
                          <a16:colId xmlns:a16="http://schemas.microsoft.com/office/drawing/2014/main" val="830366366"/>
                        </a:ext>
                      </a:extLst>
                    </a:gridCol>
                    <a:gridCol w="1850996">
                      <a:extLst>
                        <a:ext uri="{9D8B030D-6E8A-4147-A177-3AD203B41FA5}">
                          <a16:colId xmlns:a16="http://schemas.microsoft.com/office/drawing/2014/main" val="2765552350"/>
                        </a:ext>
                      </a:extLst>
                    </a:gridCol>
                  </a:tblGrid>
                  <a:tr h="779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Y (Actual)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333" t="-1563" r="-256190" b="-483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40435" t="-1563" r="-133913" b="-483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7566" t="-1563" r="-1316" b="-4835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83624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85924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47117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565941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130657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144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502448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289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483344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21288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286412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831467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893414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722 (SSE)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35826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3DCF0E-2AB0-3085-EC21-F201B741B172}"/>
                  </a:ext>
                </a:extLst>
              </p:cNvPr>
              <p:cNvSpPr txBox="1"/>
              <p:nvPr/>
            </p:nvSpPr>
            <p:spPr>
              <a:xfrm>
                <a:off x="5550195" y="4699480"/>
                <a:ext cx="6347638" cy="14776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noProof="0" dirty="0"/>
                  <a:t>*TSS = Total Sum of Squares </a:t>
                </a:r>
              </a:p>
              <a:p>
                <a:r>
                  <a:rPr lang="en-IN" noProof="0" dirty="0"/>
                  <a:t>Total distance between each y value and mean of y, squared) </a:t>
                </a:r>
              </a:p>
              <a:p>
                <a:endParaRPr lang="en-IN" noProof="0" dirty="0"/>
              </a:p>
              <a:p>
                <a:r>
                  <a:rPr lang="en-IN" noProof="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IN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i="1" baseline="-25000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 noProof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̅"/>
                                <m:ctrlPr>
                                  <a:rPr lang="en-IN" i="1" noProof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i="1" noProof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  <m:r>
                          <a:rPr lang="en-IN" i="1" baseline="30000" noProof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</m:oMath>
                </a14:m>
                <a:endParaRPr lang="en-IN" noProof="0" dirty="0"/>
              </a:p>
              <a:p>
                <a:r>
                  <a:rPr lang="en-IN" noProof="0" dirty="0"/>
                  <a:t>= [(10-30) + (25-30) + (20-30) + … (50-30) + (40-30)]</a:t>
                </a:r>
                <a:r>
                  <a:rPr lang="en-IN" baseline="30000" noProof="0" dirty="0"/>
                  <a:t>2 </a:t>
                </a:r>
                <a:r>
                  <a:rPr lang="en-IN" noProof="0" dirty="0"/>
                  <a:t>= 1450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3DCF0E-2AB0-3085-EC21-F201B741B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195" y="4699480"/>
                <a:ext cx="6347638" cy="1477649"/>
              </a:xfrm>
              <a:prstGeom prst="rect">
                <a:avLst/>
              </a:prstGeom>
              <a:blipFill>
                <a:blip r:embed="rId4"/>
                <a:stretch>
                  <a:fillRect l="-2687" t="-2479" b="-2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342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CB4A-FAA4-3C78-EB20-8D19497C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fit_transform</a:t>
            </a:r>
            <a:r>
              <a:rPr lang="en-IN" dirty="0"/>
              <a:t> Versus transform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1B95-64C8-152C-D4A9-8B43B19B9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AD5A0-F1D8-F212-870D-896E02F375ED}"/>
              </a:ext>
            </a:extLst>
          </p:cNvPr>
          <p:cNvSpPr txBox="1"/>
          <p:nvPr/>
        </p:nvSpPr>
        <p:spPr>
          <a:xfrm>
            <a:off x="97724" y="1926521"/>
            <a:ext cx="5956396" cy="32932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Training data: </a:t>
            </a:r>
            <a:r>
              <a:rPr lang="en-IN" sz="1600" dirty="0" err="1"/>
              <a:t>fit_transform</a:t>
            </a:r>
            <a:r>
              <a:rPr lang="en-IN" sz="1600" dirty="0"/>
              <a:t>()</a:t>
            </a:r>
          </a:p>
          <a:p>
            <a:r>
              <a:rPr lang="en-IN" sz="1600" dirty="0"/>
              <a:t>Test/New data: transform()</a:t>
            </a:r>
          </a:p>
          <a:p>
            <a:endParaRPr lang="en-IN" sz="1600" dirty="0"/>
          </a:p>
          <a:p>
            <a:r>
              <a:rPr lang="en-IN" sz="1600" b="1" dirty="0"/>
              <a:t>fit()</a:t>
            </a:r>
            <a:r>
              <a:rPr lang="en-IN" sz="1600" dirty="0"/>
              <a:t>: Learns the parameters from data</a:t>
            </a:r>
          </a:p>
          <a:p>
            <a:r>
              <a:rPr lang="en-IN" sz="1600" dirty="0"/>
              <a:t>Example: In </a:t>
            </a:r>
            <a:r>
              <a:rPr lang="en-IN" sz="1600" dirty="0" err="1"/>
              <a:t>StandardScaler</a:t>
            </a:r>
            <a:r>
              <a:rPr lang="en-IN" sz="1600" dirty="0"/>
              <a:t>, fit() would compute mean and standard deviation of the data</a:t>
            </a:r>
          </a:p>
          <a:p>
            <a:endParaRPr lang="en-IN" sz="1600" dirty="0"/>
          </a:p>
          <a:p>
            <a:r>
              <a:rPr lang="en-IN" sz="1600" b="1" dirty="0"/>
              <a:t>transform()</a:t>
            </a:r>
            <a:r>
              <a:rPr lang="en-IN" sz="1600" dirty="0"/>
              <a:t>: Apply the learned parameters on the data</a:t>
            </a:r>
          </a:p>
          <a:p>
            <a:r>
              <a:rPr lang="en-IN" sz="1600" dirty="0"/>
              <a:t>Example: After learning the parameters above, scale the data</a:t>
            </a:r>
          </a:p>
          <a:p>
            <a:endParaRPr lang="en-IN" sz="1600" dirty="0"/>
          </a:p>
          <a:p>
            <a:r>
              <a:rPr lang="en-IN" sz="1600" b="1" dirty="0" err="1"/>
              <a:t>fit_transform</a:t>
            </a:r>
            <a:r>
              <a:rPr lang="en-IN" sz="1600" b="1" dirty="0"/>
              <a:t>()</a:t>
            </a:r>
            <a:r>
              <a:rPr lang="en-IN" sz="1600" dirty="0"/>
              <a:t> = fit() + transform()</a:t>
            </a:r>
          </a:p>
          <a:p>
            <a:endParaRPr lang="en-IN" sz="1600" dirty="0"/>
          </a:p>
          <a:p>
            <a:r>
              <a:rPr lang="en-IN" sz="1600" dirty="0"/>
              <a:t>Why transform() only for test data? Why not </a:t>
            </a:r>
            <a:r>
              <a:rPr lang="en-IN" sz="1600" dirty="0" err="1"/>
              <a:t>fit_transform</a:t>
            </a:r>
            <a:r>
              <a:rPr lang="en-IN" sz="1600" dirty="0"/>
              <a:t>()?</a:t>
            </a: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BF775-82D2-E0BE-5E48-A0F03087AF7B}"/>
              </a:ext>
            </a:extLst>
          </p:cNvPr>
          <p:cNvSpPr txBox="1"/>
          <p:nvPr/>
        </p:nvSpPr>
        <p:spPr>
          <a:xfrm>
            <a:off x="6096000" y="1472810"/>
            <a:ext cx="5956396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Consider</a:t>
            </a:r>
          </a:p>
          <a:p>
            <a:r>
              <a:rPr lang="en-US" sz="1600" b="1" dirty="0"/>
              <a:t>training data</a:t>
            </a:r>
            <a:r>
              <a:rPr lang="en-US" sz="1600" dirty="0"/>
              <a:t>: </a:t>
            </a:r>
            <a:r>
              <a:rPr lang="en-US" dirty="0"/>
              <a:t>[10, 20, 30, 40, 50]</a:t>
            </a:r>
            <a:br>
              <a:rPr lang="en-US" sz="1600" dirty="0"/>
            </a:br>
            <a:r>
              <a:rPr lang="en-US" sz="1600" b="1" dirty="0"/>
              <a:t>test data</a:t>
            </a:r>
            <a:r>
              <a:rPr lang="en-US" sz="1600" dirty="0"/>
              <a:t>: </a:t>
            </a:r>
            <a:r>
              <a:rPr lang="en-US" dirty="0"/>
              <a:t>[60, 70, 80]</a:t>
            </a:r>
          </a:p>
          <a:p>
            <a:endParaRPr lang="en-US" sz="1600" dirty="0"/>
          </a:p>
          <a:p>
            <a:r>
              <a:rPr lang="en-US" sz="1600" dirty="0"/>
              <a:t>Mean of training = 30, SD of training = 15.81</a:t>
            </a:r>
          </a:p>
          <a:p>
            <a:r>
              <a:rPr lang="en-US" sz="1600" dirty="0"/>
              <a:t>Transforming training data</a:t>
            </a:r>
          </a:p>
          <a:p>
            <a:r>
              <a:rPr lang="en-GB" sz="1600" dirty="0"/>
              <a:t>[10, 20, 30, 40, 50] → [-1.26, -0.63, 0, 0.63, 1.26]</a:t>
            </a:r>
          </a:p>
          <a:p>
            <a:r>
              <a:rPr lang="en-GB" sz="1600" dirty="0"/>
              <a:t>Transforming test data</a:t>
            </a:r>
          </a:p>
          <a:p>
            <a:r>
              <a:rPr lang="en-GB" sz="1600" dirty="0"/>
              <a:t>[60, 70, 80] → [(60-30)/15.81 ≈ 1.90, (70-30)/15.81 ≈ 2.53, (80-30)/15.81 ≈ 3.16]</a:t>
            </a:r>
          </a:p>
          <a:p>
            <a:endParaRPr lang="en-GB" sz="1600" dirty="0"/>
          </a:p>
          <a:p>
            <a:r>
              <a:rPr lang="en-GB" sz="1600" dirty="0"/>
              <a:t>But if we again fit on test data</a:t>
            </a:r>
          </a:p>
          <a:p>
            <a:r>
              <a:rPr lang="en-US" sz="1600" dirty="0"/>
              <a:t>Mean of training = 70, SD of training = 8.16</a:t>
            </a:r>
          </a:p>
          <a:p>
            <a:r>
              <a:rPr lang="en-US" sz="1600" dirty="0"/>
              <a:t>Transforming test data with its own parameters</a:t>
            </a:r>
          </a:p>
          <a:p>
            <a:r>
              <a:rPr lang="en-US" sz="1600" dirty="0"/>
              <a:t>[60, 70, 80] → [-1.22, 0, 1.22]</a:t>
            </a:r>
          </a:p>
          <a:p>
            <a:endParaRPr lang="en-GB" sz="1600" dirty="0"/>
          </a:p>
          <a:p>
            <a:r>
              <a:rPr lang="en-GB" sz="1600" dirty="0"/>
              <a:t>Result: Model “sees” test data as “normal” around its mean, instead of relative to training data</a:t>
            </a:r>
          </a:p>
          <a:p>
            <a:r>
              <a:rPr lang="en-GB" sz="1600" dirty="0"/>
              <a:t>So, it pretends it knows test distribution, accuracy will be high</a:t>
            </a:r>
          </a:p>
        </p:txBody>
      </p:sp>
    </p:spTree>
    <p:extLst>
      <p:ext uri="{BB962C8B-B14F-4D97-AF65-F5344CB8AC3E}">
        <p14:creationId xmlns:p14="http://schemas.microsoft.com/office/powerpoint/2010/main" val="3584989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12CE-C276-5E3E-DECF-AAE4E8ED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1"/>
            <a:ext cx="10515600" cy="736577"/>
          </a:xfrm>
        </p:spPr>
        <p:txBody>
          <a:bodyPr/>
          <a:lstStyle/>
          <a:p>
            <a:r>
              <a:rPr lang="en-IN" dirty="0"/>
              <a:t>Prediction Problems/Issues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EEDB-07A4-6E56-E6B5-1809AE06E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101"/>
            <a:ext cx="10515600" cy="5319862"/>
          </a:xfrm>
        </p:spPr>
        <p:txBody>
          <a:bodyPr>
            <a:normAutofit fontScale="92500" lnSpcReduction="20000"/>
          </a:bodyPr>
          <a:lstStyle/>
          <a:p>
            <a:r>
              <a:rPr lang="en-IN" sz="2400" b="1" dirty="0"/>
              <a:t>Generalization gap</a:t>
            </a:r>
          </a:p>
          <a:p>
            <a:pPr lvl="1"/>
            <a:r>
              <a:rPr lang="en-IN" sz="2000" dirty="0"/>
              <a:t>Train versus Test Error</a:t>
            </a:r>
          </a:p>
          <a:p>
            <a:endParaRPr lang="en-IN" sz="2400" dirty="0"/>
          </a:p>
          <a:p>
            <a:endParaRPr lang="en-IN" sz="2400" b="1" dirty="0"/>
          </a:p>
          <a:p>
            <a:r>
              <a:rPr lang="en-IN" sz="2400" b="1" dirty="0"/>
              <a:t>Bias-Variance </a:t>
            </a:r>
            <a:r>
              <a:rPr lang="en-IN" sz="2400" b="1" dirty="0" err="1"/>
              <a:t>Tradeoff</a:t>
            </a:r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r>
              <a:rPr lang="en-IN" sz="2400" b="1" dirty="0"/>
              <a:t>Red flags in weights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dirty="0"/>
          </a:p>
          <a:p>
            <a:r>
              <a:rPr lang="en-IN" sz="2400" dirty="0"/>
              <a:t>Solution:</a:t>
            </a:r>
            <a:r>
              <a:rPr lang="en-IN" sz="2400" b="1" dirty="0"/>
              <a:t> </a:t>
            </a:r>
            <a:r>
              <a:rPr lang="en-IN" sz="2400" dirty="0"/>
              <a:t>Gradually perform regularization</a:t>
            </a:r>
          </a:p>
          <a:p>
            <a:pPr lvl="1"/>
            <a:r>
              <a:rPr lang="en-IN" sz="2000" dirty="0"/>
              <a:t>Result: Training error will go up, but testing error will go down, stop when it is at the lowest</a:t>
            </a:r>
            <a:endParaRPr lang="en-GB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A050C1-6E1C-F115-E376-9C1F7551D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166997"/>
              </p:ext>
            </p:extLst>
          </p:nvPr>
        </p:nvGraphicFramePr>
        <p:xfrm>
          <a:off x="4426193" y="594024"/>
          <a:ext cx="7461006" cy="11953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11492">
                  <a:extLst>
                    <a:ext uri="{9D8B030D-6E8A-4147-A177-3AD203B41FA5}">
                      <a16:colId xmlns:a16="http://schemas.microsoft.com/office/drawing/2014/main" val="2191205079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2809615160"/>
                    </a:ext>
                  </a:extLst>
                </a:gridCol>
                <a:gridCol w="2310430">
                  <a:extLst>
                    <a:ext uri="{9D8B030D-6E8A-4147-A177-3AD203B41FA5}">
                      <a16:colId xmlns:a16="http://schemas.microsoft.com/office/drawing/2014/main" val="1305025798"/>
                    </a:ext>
                  </a:extLst>
                </a:gridCol>
              </a:tblGrid>
              <a:tr h="266545">
                <a:tc>
                  <a:txBody>
                    <a:bodyPr/>
                    <a:lstStyle/>
                    <a:p>
                      <a:r>
                        <a:rPr lang="en-IN" sz="1400" dirty="0"/>
                        <a:t>Problem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Observations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Reason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62123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Underfitting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High error on training set + High error on test set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Model is too simple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752291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Overfitting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Low error on training set + High error on test set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Model has “memorized” the noise in training set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3816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B36F0A-96A7-09D3-4F5E-8D78B185C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814833"/>
              </p:ext>
            </p:extLst>
          </p:nvPr>
        </p:nvGraphicFramePr>
        <p:xfrm>
          <a:off x="4426193" y="1971510"/>
          <a:ext cx="7461006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012">
                  <a:extLst>
                    <a:ext uri="{9D8B030D-6E8A-4147-A177-3AD203B41FA5}">
                      <a16:colId xmlns:a16="http://schemas.microsoft.com/office/drawing/2014/main" val="2191205079"/>
                    </a:ext>
                  </a:extLst>
                </a:gridCol>
                <a:gridCol w="5276994">
                  <a:extLst>
                    <a:ext uri="{9D8B030D-6E8A-4147-A177-3AD203B41FA5}">
                      <a16:colId xmlns:a16="http://schemas.microsoft.com/office/drawing/2014/main" val="2809615160"/>
                    </a:ext>
                  </a:extLst>
                </a:gridCol>
              </a:tblGrid>
              <a:tr h="266545">
                <a:tc>
                  <a:txBody>
                    <a:bodyPr/>
                    <a:lstStyle/>
                    <a:p>
                      <a:r>
                        <a:rPr lang="en-IN" sz="1400" dirty="0"/>
                        <a:t>Problem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Observations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62123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High Bias (Underfitting)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Model makes strong, wrong assumptions (e.g. fitting a straight line to data that is clearly a curve)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752291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High Variance (Overfitting)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Model is so flexible that it changes its shape for every tiny outlier in the noise in training data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38167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D5B246-0358-FBFC-9F12-76FFB7C3D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745625"/>
              </p:ext>
            </p:extLst>
          </p:nvPr>
        </p:nvGraphicFramePr>
        <p:xfrm>
          <a:off x="4426193" y="3626716"/>
          <a:ext cx="7461006" cy="1341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84012">
                  <a:extLst>
                    <a:ext uri="{9D8B030D-6E8A-4147-A177-3AD203B41FA5}">
                      <a16:colId xmlns:a16="http://schemas.microsoft.com/office/drawing/2014/main" val="2191205079"/>
                    </a:ext>
                  </a:extLst>
                </a:gridCol>
                <a:gridCol w="5276994">
                  <a:extLst>
                    <a:ext uri="{9D8B030D-6E8A-4147-A177-3AD203B41FA5}">
                      <a16:colId xmlns:a16="http://schemas.microsoft.com/office/drawing/2014/main" val="2809615160"/>
                    </a:ext>
                  </a:extLst>
                </a:gridCol>
              </a:tblGrid>
              <a:tr h="266545">
                <a:tc>
                  <a:txBody>
                    <a:bodyPr/>
                    <a:lstStyle/>
                    <a:p>
                      <a:r>
                        <a:rPr lang="en-IN" sz="1400" dirty="0"/>
                        <a:t>Problem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Observations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62123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Exploding Coefficients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If weights are massive (e.g. w1 = 1000000, w2 = -999998) the model is playing a balancing act to hit every single data point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752291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High Sensitivity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If we change one data point slightly, weights jump drastically, indicating that the model is unstable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381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434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356B-05BC-94D0-D204-FCCE889E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Regularization: The Concept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0A80C-7BE2-0C75-3689-104BBDD9C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Regularization changes the “goal” of the model</a:t>
            </a:r>
          </a:p>
          <a:p>
            <a:pPr lvl="1"/>
            <a:r>
              <a:rPr lang="en-IN" dirty="0"/>
              <a:t>Linear regression goal: Minimize prediction error</a:t>
            </a:r>
          </a:p>
          <a:p>
            <a:pPr lvl="1"/>
            <a:r>
              <a:rPr lang="en-IN" dirty="0"/>
              <a:t>Regularization goal: Minimize prediction error AND keep weights small</a:t>
            </a:r>
          </a:p>
          <a:p>
            <a:r>
              <a:rPr lang="en-IN" dirty="0"/>
              <a:t>Model’s loss function = Total cost, Regularization adds a penalty/tax to it, based on how large the weights are</a:t>
            </a:r>
          </a:p>
          <a:p>
            <a:pPr lvl="1"/>
            <a:r>
              <a:rPr lang="en-IN" dirty="0"/>
              <a:t>Total cost = Prediction error + Penalty for large weights</a:t>
            </a:r>
          </a:p>
          <a:p>
            <a:pPr lvl="1"/>
            <a:r>
              <a:rPr lang="en-IN" dirty="0"/>
              <a:t>Prediction error = Model predictions versus Actual values (MSE)</a:t>
            </a:r>
          </a:p>
          <a:p>
            <a:pPr lvl="1"/>
            <a:r>
              <a:rPr lang="en-IN" dirty="0"/>
              <a:t>Penalty = Lambda x Sum of squares of weights or lambda x Sum of absolute weights, depending on which regularization technique we use</a:t>
            </a:r>
          </a:p>
          <a:p>
            <a:r>
              <a:rPr lang="en-IN" dirty="0"/>
              <a:t>Standard regression: To predict house prices, </a:t>
            </a:r>
            <a:r>
              <a:rPr lang="en-IN" i="1" dirty="0"/>
              <a:t>Number of balconies</a:t>
            </a:r>
            <a:r>
              <a:rPr lang="en-IN" dirty="0"/>
              <a:t> helps us accurately predict a single outlier data point correctly by assigning a weight of 50,000 to this feature (Because only goal is: Reduce error)</a:t>
            </a:r>
          </a:p>
          <a:p>
            <a:r>
              <a:rPr lang="en-IN" dirty="0"/>
              <a:t>Regularized regression: Assigning this weight comes with a massive penalty cost – The model might say, yes, it reduces my error, but adds 1000 penalty tax – not worth it</a:t>
            </a:r>
          </a:p>
          <a:p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596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73B0-A435-07DC-AF87-A53B406F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034AE-C0D5-55DA-C4D1-E32307839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train a model (especially linear regression), sometimes:</a:t>
            </a:r>
          </a:p>
          <a:p>
            <a:pPr lvl="1"/>
            <a:r>
              <a:rPr lang="en-US" dirty="0"/>
              <a:t>The model overfits: it tries too hard to fit the training data</a:t>
            </a:r>
          </a:p>
          <a:p>
            <a:pPr lvl="1"/>
            <a:r>
              <a:rPr lang="en-US" dirty="0"/>
              <a:t>This happens especially if we have many features or correlated features</a:t>
            </a:r>
          </a:p>
          <a:p>
            <a:r>
              <a:rPr lang="en-US" b="1" dirty="0"/>
              <a:t>Regularization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Add a penalty term to the loss function (like MSE) to shrink coefficients and reduce overfitting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55F35-A414-045B-E4EB-C4871EF8F00E}"/>
              </a:ext>
            </a:extLst>
          </p:cNvPr>
          <p:cNvSpPr txBox="1"/>
          <p:nvPr/>
        </p:nvSpPr>
        <p:spPr>
          <a:xfrm>
            <a:off x="216385" y="4001295"/>
            <a:ext cx="3497056" cy="280076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600" b="1" dirty="0"/>
              <a:t>Ridge Regression (L2 Regularization) </a:t>
            </a:r>
          </a:p>
          <a:p>
            <a:endParaRPr lang="en-GB" sz="1600" dirty="0"/>
          </a:p>
          <a:p>
            <a:r>
              <a:rPr lang="en-GB" sz="1600" dirty="0"/>
              <a:t>Penalty: Sum of squares of coefficients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Shrinks coefficients towards 0, but rarely makes them 0 (No feature is removed)</a:t>
            </a:r>
          </a:p>
          <a:p>
            <a:r>
              <a:rPr lang="en-GB" sz="1600" dirty="0"/>
              <a:t>Example: Starting w1 = 5, w2 = 10, Ending w1 = 3.5, w2 = 7.0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5637A-A458-9BED-CF1A-F25746A0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14" y="4821485"/>
            <a:ext cx="1810047" cy="498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058D48-1F1E-0546-1F53-0BC95D3D752E}"/>
              </a:ext>
            </a:extLst>
          </p:cNvPr>
          <p:cNvSpPr txBox="1"/>
          <p:nvPr/>
        </p:nvSpPr>
        <p:spPr>
          <a:xfrm>
            <a:off x="3921682" y="4001294"/>
            <a:ext cx="3497056" cy="280076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600" b="1" dirty="0"/>
              <a:t>Lasso Regression (L1 Regularization) </a:t>
            </a:r>
          </a:p>
          <a:p>
            <a:endParaRPr lang="en-GB" sz="1600" dirty="0"/>
          </a:p>
          <a:p>
            <a:r>
              <a:rPr lang="en-GB" sz="1600" dirty="0"/>
              <a:t>Penalty: Sum of absolute values of coefficients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Shrinks coefficients and some become 0 (Some features are removed)</a:t>
            </a:r>
          </a:p>
          <a:p>
            <a:r>
              <a:rPr lang="en-GB" sz="1600" dirty="0"/>
              <a:t>Example: Starting w1 = 5, w2 = 10, Ending w1 = 0, w2 = 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CCEB1D-5F1F-3F36-EB00-6FFAC5129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436" y="4902063"/>
            <a:ext cx="1973127" cy="6240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4A6416-2069-8793-11E6-322101B48DC8}"/>
              </a:ext>
            </a:extLst>
          </p:cNvPr>
          <p:cNvSpPr txBox="1"/>
          <p:nvPr/>
        </p:nvSpPr>
        <p:spPr>
          <a:xfrm>
            <a:off x="7626979" y="4001293"/>
            <a:ext cx="3497056" cy="280076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600" b="1" dirty="0"/>
              <a:t>Elastic Net (L2 + L1) </a:t>
            </a:r>
          </a:p>
          <a:p>
            <a:endParaRPr lang="en-GB" sz="1600" dirty="0"/>
          </a:p>
          <a:p>
            <a:r>
              <a:rPr lang="en-GB" sz="1600" dirty="0"/>
              <a:t>Penalty: Sum of absolute values of coefficients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Balances shrinkages and feature selection</a:t>
            </a:r>
          </a:p>
          <a:p>
            <a:r>
              <a:rPr lang="en-GB" sz="1600" dirty="0"/>
              <a:t>Example: Starting w1 = 5, w2 = 10, Ending w1 = 1.2, w2 = 5.8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C98D15-1EC4-6945-59EE-907B3B0D1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378" y="5070500"/>
            <a:ext cx="3076041" cy="5488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8A54D8-7F06-13A8-6410-AC3D72394948}"/>
              </a:ext>
            </a:extLst>
          </p:cNvPr>
          <p:cNvSpPr txBox="1"/>
          <p:nvPr/>
        </p:nvSpPr>
        <p:spPr>
          <a:xfrm>
            <a:off x="4746505" y="94691"/>
            <a:ext cx="6523534" cy="147732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Consider house price prediction: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Here, x1, x2, x3,… are features (Size, Age, Location, …) and w1, w2, w3, … are their intercepts/weights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B4BF09-0D33-E4DD-C9AC-60E7F15B5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0558" y="443604"/>
            <a:ext cx="3026478" cy="47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50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5DAE-8B8C-855F-1EE7-6EF36EBF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48ACC-4F3B-7634-857D-A6F2E1731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3226E-F2DF-46AC-0FBF-8BF415C322EA}"/>
              </a:ext>
            </a:extLst>
          </p:cNvPr>
          <p:cNvSpPr txBox="1"/>
          <p:nvPr/>
        </p:nvSpPr>
        <p:spPr>
          <a:xfrm>
            <a:off x="314107" y="1825625"/>
            <a:ext cx="2813001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Suppose we only have two training data points for housing data</a:t>
            </a:r>
          </a:p>
          <a:p>
            <a:r>
              <a:rPr lang="en-IN" sz="1400" b="1" dirty="0"/>
              <a:t>Area	Price</a:t>
            </a:r>
          </a:p>
          <a:p>
            <a:r>
              <a:rPr lang="en-GB" sz="1400" dirty="0"/>
              <a:t>1000	200,000</a:t>
            </a:r>
          </a:p>
          <a:p>
            <a:r>
              <a:rPr lang="en-GB" sz="1400" dirty="0"/>
              <a:t>1001	250,000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AF8704-CC4F-3B7F-BEA1-B0E4C65A4112}"/>
                  </a:ext>
                </a:extLst>
              </p:cNvPr>
              <p:cNvSpPr txBox="1"/>
              <p:nvPr/>
            </p:nvSpPr>
            <p:spPr>
              <a:xfrm>
                <a:off x="314106" y="3130113"/>
                <a:ext cx="2813001" cy="14786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Slope (weight) = Change in price divided by change in square feet</a:t>
                </a:r>
              </a:p>
              <a:p>
                <a:endParaRPr lang="en-IN" sz="1400" dirty="0"/>
              </a:p>
              <a:p>
                <a:r>
                  <a:rPr lang="en-IN" sz="1400" dirty="0"/>
                  <a:t>w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250,000 −200,000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1001 −1000</m:t>
                        </m:r>
                      </m:den>
                    </m:f>
                  </m:oMath>
                </a14:m>
                <a:r>
                  <a:rPr lang="en-GB" sz="1400" dirty="0"/>
                  <a:t> = 50,000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“Each square foot costs 50,000”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AF8704-CC4F-3B7F-BEA1-B0E4C65A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06" y="3130113"/>
                <a:ext cx="2813001" cy="1478610"/>
              </a:xfrm>
              <a:prstGeom prst="rect">
                <a:avLst/>
              </a:prstGeom>
              <a:blipFill>
                <a:blip r:embed="rId2"/>
                <a:stretch>
                  <a:fillRect l="-651" t="-412" b="-37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34D2855-AAB2-B9A0-5FEC-7F63FB87C3A2}"/>
              </a:ext>
            </a:extLst>
          </p:cNvPr>
          <p:cNvSpPr txBox="1"/>
          <p:nvPr/>
        </p:nvSpPr>
        <p:spPr>
          <a:xfrm>
            <a:off x="314106" y="4743660"/>
            <a:ext cx="311315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To find bias (b), plug w back into the equation Price = (w x Area) + b; so</a:t>
            </a:r>
          </a:p>
          <a:p>
            <a:endParaRPr lang="en-GB" sz="1400" dirty="0"/>
          </a:p>
          <a:p>
            <a:r>
              <a:rPr lang="en-GB" sz="1400" dirty="0"/>
              <a:t>200,000 = (50,000 x 1000) + b</a:t>
            </a:r>
          </a:p>
          <a:p>
            <a:r>
              <a:rPr lang="en-GB" sz="1400" dirty="0"/>
              <a:t>200,000 + b = 50,000,000 (50 million)</a:t>
            </a:r>
          </a:p>
          <a:p>
            <a:r>
              <a:rPr lang="en-GB" sz="1400" dirty="0"/>
              <a:t>b = 50,000,000 – 200,000 = -49,800,000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4AB77-8C12-1DCB-303E-E3A0C3D790DB}"/>
              </a:ext>
            </a:extLst>
          </p:cNvPr>
          <p:cNvSpPr txBox="1"/>
          <p:nvPr/>
        </p:nvSpPr>
        <p:spPr>
          <a:xfrm>
            <a:off x="4026384" y="4743659"/>
            <a:ext cx="311315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The model is predicting the house price as $50 million!</a:t>
            </a:r>
          </a:p>
          <a:p>
            <a:r>
              <a:rPr lang="en-IN" sz="1400" dirty="0"/>
              <a:t>Reason: w is very high</a:t>
            </a:r>
          </a:p>
          <a:p>
            <a:r>
              <a:rPr lang="en-IN" sz="1400" dirty="0"/>
              <a:t>But the real price is only $200,000</a:t>
            </a:r>
          </a:p>
          <a:p>
            <a:r>
              <a:rPr lang="en-IN" sz="1400" dirty="0"/>
              <a:t>To bring it back to this, we need to make the bias -49,800,000</a:t>
            </a:r>
            <a:endParaRPr lang="en-GB" sz="1400" dirty="0"/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FC22AB80-44D1-2431-8C5D-9451BB10CBC5}"/>
              </a:ext>
            </a:extLst>
          </p:cNvPr>
          <p:cNvSpPr/>
          <p:nvPr/>
        </p:nvSpPr>
        <p:spPr>
          <a:xfrm>
            <a:off x="3497056" y="5276995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7A3083-2E5E-6848-1D49-1AF78AE0DE36}"/>
              </a:ext>
            </a:extLst>
          </p:cNvPr>
          <p:cNvSpPr txBox="1"/>
          <p:nvPr/>
        </p:nvSpPr>
        <p:spPr>
          <a:xfrm>
            <a:off x="7738662" y="4743659"/>
            <a:ext cx="3113150" cy="1384995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Problem: Overfitting!</a:t>
            </a:r>
          </a:p>
          <a:p>
            <a:pPr marL="342900" indent="-342900">
              <a:buAutoNum type="arabicPeriod"/>
            </a:pPr>
            <a:r>
              <a:rPr lang="en-IN" sz="1400" dirty="0"/>
              <a:t>Weight is too sensitive: It thinks 1 square feet = $50,000!</a:t>
            </a:r>
          </a:p>
          <a:p>
            <a:pPr marL="342900" indent="-342900">
              <a:buAutoNum type="arabicPeriod"/>
            </a:pPr>
            <a:r>
              <a:rPr lang="en-IN" sz="1400" dirty="0"/>
              <a:t>Bias is ridiculous: It thinks that a 0 square feet house costs -49.8 million dollars!</a:t>
            </a:r>
            <a:endParaRPr lang="en-GB" sz="1400" dirty="0"/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B92ECF87-F045-E7E3-1308-256EC3FB4BB7}"/>
              </a:ext>
            </a:extLst>
          </p:cNvPr>
          <p:cNvSpPr/>
          <p:nvPr/>
        </p:nvSpPr>
        <p:spPr>
          <a:xfrm>
            <a:off x="7209334" y="5276995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BD8E950F-72C7-1C16-FBAB-3F2A5E0C7CE8}"/>
              </a:ext>
            </a:extLst>
          </p:cNvPr>
          <p:cNvSpPr/>
          <p:nvPr/>
        </p:nvSpPr>
        <p:spPr>
          <a:xfrm rot="16200000">
            <a:off x="9068091" y="4319910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0CB17-7C64-2AA0-095A-B698743A0B05}"/>
              </a:ext>
            </a:extLst>
          </p:cNvPr>
          <p:cNvSpPr txBox="1"/>
          <p:nvPr/>
        </p:nvSpPr>
        <p:spPr>
          <a:xfrm>
            <a:off x="7738662" y="3200320"/>
            <a:ext cx="3113150" cy="954107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Solution: Regularization</a:t>
            </a:r>
          </a:p>
          <a:p>
            <a:r>
              <a:rPr lang="en-IN" sz="1400" dirty="0"/>
              <a:t>Possible new equation:</a:t>
            </a:r>
          </a:p>
          <a:p>
            <a:r>
              <a:rPr lang="en-IN" sz="1400" dirty="0"/>
              <a:t>200,000 = (200 x 1000) + b</a:t>
            </a:r>
          </a:p>
          <a:p>
            <a:r>
              <a:rPr lang="en-IN" sz="1400" dirty="0"/>
              <a:t>b = 0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AB8F4419-10AD-B5EB-3D1C-104871E763AD}"/>
              </a:ext>
            </a:extLst>
          </p:cNvPr>
          <p:cNvSpPr/>
          <p:nvPr/>
        </p:nvSpPr>
        <p:spPr>
          <a:xfrm rot="16200000">
            <a:off x="9068091" y="2773833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D1B66-16EC-3961-3BEA-54C0AB445CF7}"/>
              </a:ext>
            </a:extLst>
          </p:cNvPr>
          <p:cNvSpPr txBox="1"/>
          <p:nvPr/>
        </p:nvSpPr>
        <p:spPr>
          <a:xfrm>
            <a:off x="7738662" y="1242515"/>
            <a:ext cx="3113150" cy="1384995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How?</a:t>
            </a:r>
          </a:p>
          <a:p>
            <a:r>
              <a:rPr lang="en-IN" sz="1400" dirty="0"/>
              <a:t>Total cost = Error + </a:t>
            </a:r>
            <a:r>
              <a:rPr lang="el-GR" sz="1400" dirty="0"/>
              <a:t>λ</a:t>
            </a:r>
            <a:r>
              <a:rPr lang="en-IN" sz="1400" dirty="0"/>
              <a:t>(w</a:t>
            </a:r>
            <a:r>
              <a:rPr lang="en-IN" sz="1400" baseline="30000" dirty="0"/>
              <a:t>2</a:t>
            </a:r>
            <a:r>
              <a:rPr lang="en-IN" sz="1400" dirty="0"/>
              <a:t>) = </a:t>
            </a:r>
          </a:p>
          <a:p>
            <a:r>
              <a:rPr lang="en-IN" sz="1400" dirty="0"/>
              <a:t>Total cost = 0 + (0.1 x 50,000</a:t>
            </a:r>
            <a:r>
              <a:rPr lang="en-IN" sz="1400" baseline="30000" dirty="0"/>
              <a:t>2</a:t>
            </a:r>
            <a:r>
              <a:rPr lang="en-IN" sz="1400" dirty="0"/>
              <a:t>)</a:t>
            </a:r>
          </a:p>
          <a:p>
            <a:r>
              <a:rPr lang="en-IN" sz="1400" dirty="0"/>
              <a:t>Total cost = 250,000,000</a:t>
            </a:r>
          </a:p>
          <a:p>
            <a:r>
              <a:rPr lang="en-IN" sz="1400" dirty="0"/>
              <a:t>(Error = 0 because of perfect fit, </a:t>
            </a:r>
            <a:r>
              <a:rPr lang="el-GR" sz="1400" dirty="0"/>
              <a:t>λ</a:t>
            </a:r>
            <a:r>
              <a:rPr lang="en-IN" sz="1400" dirty="0"/>
              <a:t> = A small value to start with)</a:t>
            </a:r>
          </a:p>
        </p:txBody>
      </p:sp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58A62D26-1FF0-074D-AADC-1BCCF4C4C3CB}"/>
              </a:ext>
            </a:extLst>
          </p:cNvPr>
          <p:cNvSpPr/>
          <p:nvPr/>
        </p:nvSpPr>
        <p:spPr>
          <a:xfrm rot="10800000">
            <a:off x="7209333" y="1830036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41384-669F-11F3-2678-A56E536F248D}"/>
              </a:ext>
            </a:extLst>
          </p:cNvPr>
          <p:cNvSpPr txBox="1"/>
          <p:nvPr/>
        </p:nvSpPr>
        <p:spPr>
          <a:xfrm>
            <a:off x="4026384" y="1242515"/>
            <a:ext cx="3113150" cy="1600438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The “nudge” (</a:t>
            </a:r>
            <a:r>
              <a:rPr lang="en-IN" sz="1400" b="1" dirty="0"/>
              <a:t>gradient</a:t>
            </a:r>
            <a:r>
              <a:rPr lang="en-IN" sz="1400" dirty="0"/>
              <a:t>)</a:t>
            </a:r>
          </a:p>
          <a:p>
            <a:r>
              <a:rPr lang="en-IN" sz="1400" dirty="0"/>
              <a:t>Computer asks: “If I change w slightly, does the total cost go down?”</a:t>
            </a:r>
          </a:p>
          <a:p>
            <a:r>
              <a:rPr lang="en-IN" sz="1400" dirty="0"/>
              <a:t>Say w = 49,900</a:t>
            </a:r>
          </a:p>
          <a:p>
            <a:r>
              <a:rPr lang="en-IN" sz="1400" dirty="0"/>
              <a:t>Total cost = Error + </a:t>
            </a:r>
            <a:r>
              <a:rPr lang="el-GR" sz="1400" dirty="0"/>
              <a:t>λ</a:t>
            </a:r>
            <a:r>
              <a:rPr lang="en-IN" sz="1400" dirty="0"/>
              <a:t>(w</a:t>
            </a:r>
            <a:r>
              <a:rPr lang="en-IN" sz="1400" baseline="30000" dirty="0"/>
              <a:t>2</a:t>
            </a:r>
            <a:r>
              <a:rPr lang="en-IN" sz="1400" dirty="0"/>
              <a:t>) = </a:t>
            </a:r>
          </a:p>
          <a:p>
            <a:r>
              <a:rPr lang="en-IN" sz="1400" dirty="0"/>
              <a:t>Total cost = 1000 + (0.1 x 49,900</a:t>
            </a:r>
            <a:r>
              <a:rPr lang="en-IN" sz="1400" baseline="30000" dirty="0"/>
              <a:t>2</a:t>
            </a:r>
            <a:r>
              <a:rPr lang="en-IN" sz="1400" dirty="0"/>
              <a:t>)</a:t>
            </a:r>
          </a:p>
          <a:p>
            <a:r>
              <a:rPr lang="en-IN" sz="1400" dirty="0"/>
              <a:t>Total cost = 249,002,000 -&gt; </a:t>
            </a:r>
            <a:r>
              <a:rPr lang="en-IN" sz="1400" dirty="0">
                <a:solidFill>
                  <a:srgbClr val="FF0000"/>
                </a:solidFill>
              </a:rPr>
              <a:t>Reduced!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7A1722-9062-0319-DD3F-7FEDE7151F8F}"/>
              </a:ext>
            </a:extLst>
          </p:cNvPr>
          <p:cNvSpPr txBox="1"/>
          <p:nvPr/>
        </p:nvSpPr>
        <p:spPr>
          <a:xfrm>
            <a:off x="3848987" y="3456123"/>
            <a:ext cx="3360346" cy="1169551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Keep repeating …</a:t>
            </a:r>
          </a:p>
          <a:p>
            <a:r>
              <a:rPr lang="en-IN" sz="1400" dirty="0"/>
              <a:t>At w = 200, most optimum balance between cost and error is reached</a:t>
            </a:r>
          </a:p>
          <a:p>
            <a:r>
              <a:rPr lang="en-IN" sz="1400" dirty="0"/>
              <a:t>But if we go to w = 150, error jumps so much that it outweighs the cost reduction</a:t>
            </a:r>
          </a:p>
        </p:txBody>
      </p:sp>
      <p:sp>
        <p:nvSpPr>
          <p:cNvPr id="18" name="Arrow: Striped Right 17">
            <a:extLst>
              <a:ext uri="{FF2B5EF4-FFF2-40B4-BE49-F238E27FC236}">
                <a16:creationId xmlns:a16="http://schemas.microsoft.com/office/drawing/2014/main" id="{14FF2F22-A05A-E9FE-1FFD-2E72659726CF}"/>
              </a:ext>
            </a:extLst>
          </p:cNvPr>
          <p:cNvSpPr/>
          <p:nvPr/>
        </p:nvSpPr>
        <p:spPr>
          <a:xfrm rot="5400000">
            <a:off x="5226679" y="3032375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3490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38225-D352-9DA1-93D9-9C0AEC86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Descent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CFA20-A608-56A0-01CA-C75EDDDC7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57E9C72-2794-655D-6FC0-400C211BA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82" y="1532552"/>
            <a:ext cx="10650436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6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2134</Words>
  <Application>Microsoft Office PowerPoint</Application>
  <PresentationFormat>Widescreen</PresentationFormat>
  <Paragraphs>418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Regression</vt:lpstr>
      <vt:lpstr>Correlation</vt:lpstr>
      <vt:lpstr>Positive, Negative, No Correlation</vt:lpstr>
      <vt:lpstr>Predictive Analytics</vt:lpstr>
      <vt:lpstr>Linear Regression</vt:lpstr>
      <vt:lpstr>Linear Regression Interpretation and Example</vt:lpstr>
      <vt:lpstr>Least Squared Error</vt:lpstr>
      <vt:lpstr>Sum of Squared Error (SSE)</vt:lpstr>
      <vt:lpstr>Linear Regression  </vt:lpstr>
      <vt:lpstr>Regression Metrics Evaluation</vt:lpstr>
      <vt:lpstr>Example</vt:lpstr>
      <vt:lpstr>fit_transform Versus transform</vt:lpstr>
      <vt:lpstr>Prediction Problems/Issues</vt:lpstr>
      <vt:lpstr>Regularization: The Concept</vt:lpstr>
      <vt:lpstr>Regularization</vt:lpstr>
      <vt:lpstr>Example</vt:lpstr>
      <vt:lpstr>Gradient Descent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4</cp:revision>
  <dcterms:created xsi:type="dcterms:W3CDTF">2026-01-18T06:09:24Z</dcterms:created>
  <dcterms:modified xsi:type="dcterms:W3CDTF">2026-01-18T13:30:50Z</dcterms:modified>
</cp:coreProperties>
</file>