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053" r:id="rId6"/>
    <p:sldId id="2054" r:id="rId7"/>
    <p:sldId id="2634" r:id="rId8"/>
    <p:sldId id="2055" r:id="rId9"/>
    <p:sldId id="2057" r:id="rId10"/>
    <p:sldId id="2056" r:id="rId11"/>
    <p:sldId id="2635" r:id="rId12"/>
    <p:sldId id="2058" r:id="rId13"/>
    <p:sldId id="2629" r:id="rId14"/>
    <p:sldId id="2621" r:id="rId15"/>
    <p:sldId id="2622" r:id="rId16"/>
    <p:sldId id="2623" r:id="rId17"/>
    <p:sldId id="2630" r:id="rId18"/>
    <p:sldId id="2631" r:id="rId19"/>
    <p:sldId id="2632" r:id="rId20"/>
    <p:sldId id="2633" r:id="rId21"/>
    <p:sldId id="2625" r:id="rId22"/>
    <p:sldId id="2627" r:id="rId23"/>
    <p:sldId id="2628" r:id="rId24"/>
    <p:sldId id="2637" r:id="rId25"/>
    <p:sldId id="2636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C6404-C0C3-4D5D-5003-EDD4AB426B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4B4F00-1CCA-022F-7D28-D58F1C10F2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71344-9FD0-5C83-5FE0-F3F4DD636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20E67-35E2-42ED-82FC-536D00D27FB6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616B9E-0D62-92FA-B826-7FF6626F8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79494-9795-E05E-4DEC-A16F71C42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032E-E2CF-4C7F-9294-B2B9091C43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428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61C9C-501D-D0C6-0C55-5D1E94645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D66F2-9A2D-D6E4-5B93-2F8BA7F3B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28136-F8F7-72C1-BDE9-EDB71A050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20E67-35E2-42ED-82FC-536D00D27FB6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60E5B5-108E-877F-E8B4-3A9B110FB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BC7E7-D424-F04D-A127-60A2DF841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032E-E2CF-4C7F-9294-B2B9091C43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1655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750E7-283E-3E1D-D068-86A060164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E87B5B-B9D4-8720-3241-ABBF11CD3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2F5F6-3FD6-FB7A-1172-AC3E5CC4F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20E67-35E2-42ED-82FC-536D00D27FB6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D888F-527B-0A06-93D4-1E3706FC7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18507-7FA2-9D5A-46A4-5B9AAEFD3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032E-E2CF-4C7F-9294-B2B9091C43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9454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B085F-9D43-D006-BE61-5E59FCA19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A17DF-BB3D-30AC-840E-9980451747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1E7983-2921-A946-A18E-32758A1C19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DC1C8A-579F-3CAD-8382-190F6FF35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20E67-35E2-42ED-82FC-536D00D27FB6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0068C5-D449-F2FB-6AF5-1F74116C5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E78417-3F75-964E-FA70-E46289638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032E-E2CF-4C7F-9294-B2B9091C43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2768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2C229-C4A6-BD71-F0B3-6EEC428E5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6809B5-FB8C-220B-F09B-19054594B5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D2F8C1-7FC8-0769-0318-D19D63F1F5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09FDE2-6244-97F4-254F-190C5507E9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A137F7-537A-10C4-06CC-6D5A530A9F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53CE4A-77F0-2CF5-7FE1-D58281646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20E67-35E2-42ED-82FC-536D00D27FB6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762B07-CBF5-A29A-60F8-C9A268E2C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7C9C9B-A2F1-1808-5244-4339618C8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032E-E2CF-4C7F-9294-B2B9091C43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3484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67F67-0C70-8BCD-5A2E-68DA15F5C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35711C-09C8-F1E9-369A-3F55FFBF0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20E67-35E2-42ED-82FC-536D00D27FB6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F88B13-CE03-4AED-A102-00676F826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0F8BE0-67B1-6D34-BEF6-B1E8AC6C4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032E-E2CF-4C7F-9294-B2B9091C43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1835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476104-C6AB-3052-4934-E17975828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20E67-35E2-42ED-82FC-536D00D27FB6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D3DFAC-F8FA-9964-D5A1-D1AC02787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BEE4BD-9719-6D29-ECEB-B29C36F06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032E-E2CF-4C7F-9294-B2B9091C43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6219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F46AB-5C6D-AAB5-E8C9-A2C9854A6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B5D90-1582-CE7A-3480-B2D143C6C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D997EE-768B-60D3-ECF1-B4E6DB5B37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D4D7EE-B006-02B5-B2FE-C3D18FBA1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20E67-35E2-42ED-82FC-536D00D27FB6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05A89F-BE69-8947-FA97-9BDF230E5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FFC3EF-D6A7-D1BA-59C2-0F574484E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032E-E2CF-4C7F-9294-B2B9091C43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0589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F71FE-0281-31F2-9D40-9FBB37D94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97D753-4919-1CC2-CE85-9B81BA67E0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4F110C-5B5E-8CF3-EBC8-DC8FC48864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DA0146-2FE8-3BE3-8750-578A34D32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20E67-35E2-42ED-82FC-536D00D27FB6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260D6B-92B9-B378-97CD-5765FC963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B04910-F985-1B52-5CA8-4CAF7B2C2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032E-E2CF-4C7F-9294-B2B9091C43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7994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803E8-21E9-F9FA-E19A-31AB849EB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3B605A-EF81-3C43-73EB-879589DF0B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D6B6B8-3FD8-B3C9-5499-812E0134E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20E67-35E2-42ED-82FC-536D00D27FB6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E4F5E5-EE28-9303-7C0D-C55E1961E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E39DB5-C532-778A-0917-6BC8A0C2B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032E-E2CF-4C7F-9294-B2B9091C43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2914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F73028-65AE-9933-D8C3-0447BC1AC0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C19B4F-654D-93E7-7E98-A3AE735D32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0E73C-D2D9-BB77-5527-C76C289F9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20E67-35E2-42ED-82FC-536D00D27FB6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C47C72-321E-2D26-B8F0-B81B68410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1895C3-563F-08E1-F2B8-79D4C45D4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032E-E2CF-4C7F-9294-B2B9091C43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7114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1378BA-66B5-13A8-DD9A-2D02502F0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8D3184-8977-91E4-45A5-E963EE2589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1647B-8CF0-96F0-A182-D97E7F2F10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820E67-35E2-42ED-82FC-536D00D27FB6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16255B-17B4-15A9-18D8-A8E2961EA3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F96AE-3A96-A688-39F0-E2CBF33CCE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FF032E-E2CF-4C7F-9294-B2B9091C43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2722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pxhere.com/en/photo/663825" TargetMode="External"/><Relationship Id="rId13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2.jpg"/><Relationship Id="rId12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hyperlink" Target="https://shop.mcdowellsherbal.com/us/content/modern-dogs-health-problems.html" TargetMode="External"/><Relationship Id="rId5" Type="http://schemas.openxmlformats.org/officeDocument/2006/relationships/hyperlink" Target="https://pxhere.com/en/photo/793339" TargetMode="External"/><Relationship Id="rId10" Type="http://schemas.openxmlformats.org/officeDocument/2006/relationships/image" Target="../media/image3.jpg"/><Relationship Id="rId4" Type="http://schemas.openxmlformats.org/officeDocument/2006/relationships/image" Target="../media/image1.jpg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558A0-B096-08BE-6EC4-CB70F4CDDA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Machine Learning - Classification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7FB771-DD80-F955-8FA3-273EA3EB38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Atul Kahate</a:t>
            </a:r>
          </a:p>
          <a:p>
            <a:r>
              <a:rPr lang="en-GB" dirty="0"/>
              <a:t>https://www.linkedin.com/in/atulkahate/</a:t>
            </a:r>
          </a:p>
        </p:txBody>
      </p:sp>
    </p:spTree>
    <p:extLst>
      <p:ext uri="{BB962C8B-B14F-4D97-AF65-F5344CB8AC3E}">
        <p14:creationId xmlns:p14="http://schemas.microsoft.com/office/powerpoint/2010/main" val="3855484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B3225-F8B2-53A8-27C6-2DD284FB3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763"/>
            <a:ext cx="10515600" cy="474649"/>
          </a:xfrm>
        </p:spPr>
        <p:txBody>
          <a:bodyPr>
            <a:normAutofit fontScale="90000"/>
          </a:bodyPr>
          <a:lstStyle/>
          <a:p>
            <a:r>
              <a:rPr lang="en-IN" dirty="0"/>
              <a:t>Logistic Regression: Predict Obesity for a Dog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48DAF68-9266-0A14-EC97-50F9AC04D8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7977501"/>
              </p:ext>
            </p:extLst>
          </p:nvPr>
        </p:nvGraphicFramePr>
        <p:xfrm>
          <a:off x="517112" y="796414"/>
          <a:ext cx="3154448" cy="21336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837037">
                  <a:extLst>
                    <a:ext uri="{9D8B030D-6E8A-4147-A177-3AD203B41FA5}">
                      <a16:colId xmlns:a16="http://schemas.microsoft.com/office/drawing/2014/main" val="2992704106"/>
                    </a:ext>
                  </a:extLst>
                </a:gridCol>
                <a:gridCol w="1060983">
                  <a:extLst>
                    <a:ext uri="{9D8B030D-6E8A-4147-A177-3AD203B41FA5}">
                      <a16:colId xmlns:a16="http://schemas.microsoft.com/office/drawing/2014/main" val="1247799351"/>
                    </a:ext>
                  </a:extLst>
                </a:gridCol>
                <a:gridCol w="1256428">
                  <a:extLst>
                    <a:ext uri="{9D8B030D-6E8A-4147-A177-3AD203B41FA5}">
                      <a16:colId xmlns:a16="http://schemas.microsoft.com/office/drawing/2014/main" val="4125520342"/>
                    </a:ext>
                  </a:extLst>
                </a:gridCol>
              </a:tblGrid>
              <a:tr h="272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Dog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Weight (kg)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Obese (y)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7496026"/>
                  </a:ext>
                </a:extLst>
              </a:tr>
              <a:tr h="272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 (Not obese)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4649539"/>
                  </a:ext>
                </a:extLst>
              </a:tr>
              <a:tr h="272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7512936"/>
                  </a:ext>
                </a:extLst>
              </a:tr>
              <a:tr h="272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1504720"/>
                  </a:ext>
                </a:extLst>
              </a:tr>
              <a:tr h="272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 (Obese)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6493873"/>
                  </a:ext>
                </a:extLst>
              </a:tr>
              <a:tr h="272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7706722"/>
                  </a:ext>
                </a:extLst>
              </a:tr>
              <a:tr h="272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97076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EA6DAC6-99A4-DA15-7628-6196EA00E50E}"/>
                  </a:ext>
                </a:extLst>
              </p:cNvPr>
              <p:cNvSpPr txBox="1"/>
              <p:nvPr/>
            </p:nvSpPr>
            <p:spPr>
              <a:xfrm>
                <a:off x="3880964" y="790559"/>
                <a:ext cx="5870309" cy="2454711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IN" sz="1600" dirty="0"/>
                  <a:t>Logistic Regression does NOT directly predict 0 or 1</a:t>
                </a:r>
              </a:p>
              <a:p>
                <a:endParaRPr lang="en-IN" sz="1600" dirty="0"/>
              </a:p>
              <a:p>
                <a:r>
                  <a:rPr lang="en-IN" sz="1600" b="1" dirty="0"/>
                  <a:t>Step 1: Linear score/logit/log-odds (like Linear Regression)</a:t>
                </a:r>
              </a:p>
              <a:p>
                <a:r>
                  <a:rPr lang="en-GB" sz="1600" dirty="0"/>
                  <a:t>z = w . x + b (Similar to linear regression z = w1x1 + w2x2 + … + b)</a:t>
                </a:r>
              </a:p>
              <a:p>
                <a:r>
                  <a:rPr lang="en-GB" sz="1600" dirty="0"/>
                  <a:t>Suppose after training, the model learned w = 0.8 and b = -10, so …</a:t>
                </a:r>
              </a:p>
              <a:p>
                <a:r>
                  <a:rPr lang="en-GB" sz="1600" dirty="0"/>
                  <a:t>z = 0.8 x weight + (-10)</a:t>
                </a:r>
              </a:p>
              <a:p>
                <a:endParaRPr lang="en-GB" sz="1600" dirty="0"/>
              </a:p>
              <a:p>
                <a:r>
                  <a:rPr lang="en-GB" sz="1600" b="1" dirty="0"/>
                  <a:t>Step 2: Convert score into probability using a sigmoid function</a:t>
                </a:r>
              </a:p>
              <a:p>
                <a:r>
                  <a:rPr lang="en-GB" sz="1600" dirty="0"/>
                  <a:t>sigmoid(z)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600" i="0" dirty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GB" sz="16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i="0" dirty="0">
                                <a:latin typeface="Cambria Math" panose="02040503050406030204" pitchFamily="18" charset="0"/>
                              </a:rPr>
                              <m:t>ⅇ</m:t>
                            </m:r>
                          </m:e>
                          <m:sup>
                            <m:r>
                              <a:rPr lang="en-GB" sz="1600" i="0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sz="1600" i="1" dirty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p>
                      </m:den>
                    </m:f>
                  </m:oMath>
                </a14:m>
                <a:r>
                  <a:rPr lang="en-GB" sz="1600" dirty="0"/>
                  <a:t>   =&gt; This forces the output into </a:t>
                </a:r>
                <a:r>
                  <a:rPr lang="en-GB" sz="1600" b="1" dirty="0"/>
                  <a:t>0 to 1 (probability)</a:t>
                </a:r>
                <a:endParaRPr lang="en-GB" sz="1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EA6DAC6-99A4-DA15-7628-6196EA00E5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0964" y="790559"/>
                <a:ext cx="5870309" cy="2454711"/>
              </a:xfrm>
              <a:prstGeom prst="rect">
                <a:avLst/>
              </a:prstGeom>
              <a:blipFill>
                <a:blip r:embed="rId2"/>
                <a:stretch>
                  <a:fillRect l="-623" t="-74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81EE338-5351-4067-FD03-8C808F0402A1}"/>
                  </a:ext>
                </a:extLst>
              </p:cNvPr>
              <p:cNvSpPr txBox="1"/>
              <p:nvPr/>
            </p:nvSpPr>
            <p:spPr>
              <a:xfrm>
                <a:off x="184351" y="3555057"/>
                <a:ext cx="3071267" cy="216482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IN" sz="1600" b="1" dirty="0"/>
                  <a:t>Dog D1</a:t>
                </a:r>
              </a:p>
              <a:p>
                <a:r>
                  <a:rPr lang="en-IN" sz="1600" b="1" dirty="0"/>
                  <a:t>Step 1: Linear score</a:t>
                </a:r>
              </a:p>
              <a:p>
                <a:r>
                  <a:rPr lang="en-GB" sz="1600" dirty="0"/>
                  <a:t>z = 0.8 x 8 + (-10) = 6.4 – 10 = -3.6</a:t>
                </a:r>
              </a:p>
              <a:p>
                <a:endParaRPr lang="en-GB" sz="1600" dirty="0"/>
              </a:p>
              <a:p>
                <a:r>
                  <a:rPr lang="en-GB" sz="1600" b="1" dirty="0"/>
                  <a:t>Step 2: Probability</a:t>
                </a:r>
              </a:p>
              <a:p>
                <a:r>
                  <a:rPr lang="en-GB" sz="1600" dirty="0"/>
                  <a:t>P(obese)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600" dirty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GB" sz="16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dirty="0">
                                <a:latin typeface="Cambria Math" panose="02040503050406030204" pitchFamily="18" charset="0"/>
                              </a:rPr>
                              <m:t>ⅇ</m:t>
                            </m:r>
                          </m:e>
                          <m:sup>
                            <m:r>
                              <a:rPr lang="en-IN" sz="1600" b="0" i="1" dirty="0" smtClean="0">
                                <a:latin typeface="Cambria Math" panose="02040503050406030204" pitchFamily="18" charset="0"/>
                              </a:rPr>
                              <m:t>3.6</m:t>
                            </m:r>
                          </m:sup>
                        </m:sSup>
                      </m:den>
                    </m:f>
                  </m:oMath>
                </a14:m>
                <a:r>
                  <a:rPr lang="en-IN" sz="1600" dirty="0"/>
                  <a:t> ≈ 0.027 = 2.7%</a:t>
                </a:r>
              </a:p>
              <a:p>
                <a:endParaRPr lang="en-IN" sz="1600" dirty="0"/>
              </a:p>
              <a:p>
                <a:r>
                  <a:rPr lang="en-IN" sz="1600" b="1" dirty="0"/>
                  <a:t>Prediction</a:t>
                </a:r>
                <a:r>
                  <a:rPr lang="en-IN" sz="1600" dirty="0"/>
                  <a:t>: Not obese</a:t>
                </a:r>
                <a:endParaRPr lang="en-GB" sz="1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81EE338-5351-4067-FD03-8C808F0402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351" y="3555057"/>
                <a:ext cx="3071267" cy="2164823"/>
              </a:xfrm>
              <a:prstGeom prst="rect">
                <a:avLst/>
              </a:prstGeom>
              <a:blipFill>
                <a:blip r:embed="rId3"/>
                <a:stretch>
                  <a:fillRect l="-992" t="-845" b="-28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88835768-AAC3-3A1D-C99A-B49C02FC74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2197835" y="3555057"/>
            <a:ext cx="750657" cy="5004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1D6611A-4CD6-44A8-AA80-CBF8CF3BB2B7}"/>
                  </a:ext>
                </a:extLst>
              </p:cNvPr>
              <p:cNvSpPr txBox="1"/>
              <p:nvPr/>
            </p:nvSpPr>
            <p:spPr>
              <a:xfrm>
                <a:off x="3426342" y="3548076"/>
                <a:ext cx="3071267" cy="216482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IN" sz="1600" b="1" dirty="0"/>
                  <a:t>Dog D3</a:t>
                </a:r>
              </a:p>
              <a:p>
                <a:r>
                  <a:rPr lang="en-IN" sz="1600" b="1" dirty="0"/>
                  <a:t>Step 1: Linear score</a:t>
                </a:r>
              </a:p>
              <a:p>
                <a:r>
                  <a:rPr lang="en-GB" sz="1600" dirty="0"/>
                  <a:t>z = 0.8 x 12 + (-10) = 9.6 – 10 = -0.4</a:t>
                </a:r>
              </a:p>
              <a:p>
                <a:endParaRPr lang="en-GB" sz="1600" dirty="0"/>
              </a:p>
              <a:p>
                <a:r>
                  <a:rPr lang="en-GB" sz="1600" b="1" dirty="0"/>
                  <a:t>Step 2: Probability</a:t>
                </a:r>
              </a:p>
              <a:p>
                <a:r>
                  <a:rPr lang="en-GB" sz="1600" dirty="0"/>
                  <a:t>P(obese)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600" dirty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GB" sz="16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dirty="0">
                                <a:latin typeface="Cambria Math" panose="02040503050406030204" pitchFamily="18" charset="0"/>
                              </a:rPr>
                              <m:t>ⅇ</m:t>
                            </m:r>
                          </m:e>
                          <m:sup>
                            <m:r>
                              <a:rPr lang="en-IN" sz="1600" b="0" i="1" dirty="0" smtClean="0">
                                <a:latin typeface="Cambria Math" panose="02040503050406030204" pitchFamily="18" charset="0"/>
                              </a:rPr>
                              <m:t>−0.4</m:t>
                            </m:r>
                          </m:sup>
                        </m:sSup>
                      </m:den>
                    </m:f>
                  </m:oMath>
                </a14:m>
                <a:r>
                  <a:rPr lang="en-IN" sz="1600" dirty="0"/>
                  <a:t> ≈ 0.40 = 40%</a:t>
                </a:r>
              </a:p>
              <a:p>
                <a:endParaRPr lang="en-IN" sz="1600" dirty="0"/>
              </a:p>
              <a:p>
                <a:r>
                  <a:rPr lang="en-IN" sz="1600" b="1" dirty="0"/>
                  <a:t>Prediction</a:t>
                </a:r>
                <a:r>
                  <a:rPr lang="en-IN" sz="1600" dirty="0"/>
                  <a:t>: Still not obese</a:t>
                </a:r>
                <a:endParaRPr lang="en-GB" sz="16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1D6611A-4CD6-44A8-AA80-CBF8CF3BB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6342" y="3548076"/>
                <a:ext cx="3071267" cy="2164823"/>
              </a:xfrm>
              <a:prstGeom prst="rect">
                <a:avLst/>
              </a:prstGeom>
              <a:blipFill>
                <a:blip r:embed="rId6"/>
                <a:stretch>
                  <a:fillRect l="-992" t="-845" r="-397" b="-28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F9295F04-7368-2685-6875-B4534A40531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5455259" y="3564195"/>
            <a:ext cx="759362" cy="5081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7801083-516D-9EFB-62B2-1B081A141D8C}"/>
                  </a:ext>
                </a:extLst>
              </p:cNvPr>
              <p:cNvSpPr txBox="1"/>
              <p:nvPr/>
            </p:nvSpPr>
            <p:spPr>
              <a:xfrm>
                <a:off x="6668333" y="3548076"/>
                <a:ext cx="3071267" cy="216482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IN" sz="1600" b="1" dirty="0"/>
                  <a:t>Dog D4</a:t>
                </a:r>
              </a:p>
              <a:p>
                <a:r>
                  <a:rPr lang="en-IN" sz="1600" b="1" dirty="0"/>
                  <a:t>Step 1: Linear score</a:t>
                </a:r>
              </a:p>
              <a:p>
                <a:r>
                  <a:rPr lang="en-GB" sz="1600" dirty="0"/>
                  <a:t>z = 0.8 x 15 + (-10) = 12.0 – 10 = 2</a:t>
                </a:r>
              </a:p>
              <a:p>
                <a:endParaRPr lang="en-GB" sz="1600" dirty="0"/>
              </a:p>
              <a:p>
                <a:r>
                  <a:rPr lang="en-GB" sz="1600" b="1" dirty="0"/>
                  <a:t>Step 2: Probability</a:t>
                </a:r>
              </a:p>
              <a:p>
                <a:r>
                  <a:rPr lang="en-GB" sz="1600" dirty="0"/>
                  <a:t>P(obese)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600" dirty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GB" sz="16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dirty="0">
                                <a:latin typeface="Cambria Math" panose="02040503050406030204" pitchFamily="18" charset="0"/>
                              </a:rPr>
                              <m:t>ⅇ</m:t>
                            </m:r>
                          </m:e>
                          <m:sup>
                            <m:r>
                              <a:rPr lang="en-IN" sz="1600" b="0" i="1" dirty="0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IN" sz="1600" dirty="0"/>
                  <a:t> ≈ 0.88 = 88%</a:t>
                </a:r>
              </a:p>
              <a:p>
                <a:endParaRPr lang="en-IN" sz="1600" dirty="0"/>
              </a:p>
              <a:p>
                <a:r>
                  <a:rPr lang="en-IN" sz="1600" b="1" dirty="0"/>
                  <a:t>Prediction</a:t>
                </a:r>
                <a:r>
                  <a:rPr lang="en-IN" sz="1600" dirty="0"/>
                  <a:t>: Obese</a:t>
                </a:r>
                <a:endParaRPr lang="en-GB" sz="1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7801083-516D-9EFB-62B2-1B081A141D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8333" y="3548076"/>
                <a:ext cx="3071267" cy="2164823"/>
              </a:xfrm>
              <a:prstGeom prst="rect">
                <a:avLst/>
              </a:prstGeom>
              <a:blipFill>
                <a:blip r:embed="rId9"/>
                <a:stretch>
                  <a:fillRect l="-1190" t="-845" b="-28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F8FFDED3-3877-892C-D8D9-DD8433F0D3E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1"/>
              </a:ext>
            </a:extLst>
          </a:blip>
          <a:stretch>
            <a:fillRect/>
          </a:stretch>
        </p:blipFill>
        <p:spPr>
          <a:xfrm>
            <a:off x="8764162" y="3538938"/>
            <a:ext cx="703213" cy="4611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7AA502F-E5BC-19D4-7C6C-9EB2D42EE13B}"/>
                  </a:ext>
                </a:extLst>
              </p:cNvPr>
              <p:cNvSpPr txBox="1"/>
              <p:nvPr/>
            </p:nvSpPr>
            <p:spPr>
              <a:xfrm>
                <a:off x="10243953" y="76783"/>
                <a:ext cx="1628161" cy="3719416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400" b="1" dirty="0"/>
                  <a:t>Odds</a:t>
                </a:r>
              </a:p>
              <a:p>
                <a:endParaRPr lang="en-GB" sz="1400" dirty="0"/>
              </a:p>
              <a:p>
                <a:r>
                  <a:rPr lang="en-GB" sz="1400" dirty="0"/>
                  <a:t>odds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i="1" dirty="0"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GB" sz="1400" i="0" dirty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GB" sz="1400" i="1" dirty="0"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</m:oMath>
                </a14:m>
                <a:endParaRPr lang="en-GB" sz="1400" dirty="0"/>
              </a:p>
              <a:p>
                <a:endParaRPr lang="en-GB" sz="1400" dirty="0"/>
              </a:p>
              <a:p>
                <a:r>
                  <a:rPr lang="en-GB" sz="1400" dirty="0"/>
                  <a:t>Dog D4 (P = 0.88)</a:t>
                </a:r>
              </a:p>
              <a:p>
                <a:r>
                  <a:rPr lang="en-GB" sz="1400" dirty="0"/>
                  <a:t>odds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400" b="0" i="1" dirty="0" smtClean="0">
                            <a:latin typeface="Cambria Math" panose="02040503050406030204" pitchFamily="18" charset="0"/>
                          </a:rPr>
                          <m:t>0.88</m:t>
                        </m:r>
                      </m:num>
                      <m:den>
                        <m:r>
                          <a:rPr lang="en-GB" sz="1400" i="0" dirty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IN" sz="1400" b="0" i="1" dirty="0" smtClean="0">
                            <a:latin typeface="Cambria Math" panose="02040503050406030204" pitchFamily="18" charset="0"/>
                          </a:rPr>
                          <m:t>0. 88</m:t>
                        </m:r>
                      </m:den>
                    </m:f>
                  </m:oMath>
                </a14:m>
                <a:r>
                  <a:rPr lang="en-GB" sz="1400" dirty="0"/>
                  <a:t> </a:t>
                </a:r>
                <a:r>
                  <a:rPr lang="en-IN" sz="1400" dirty="0"/>
                  <a:t>≈</a:t>
                </a:r>
                <a:r>
                  <a:rPr lang="en-GB" sz="1400" dirty="0"/>
                  <a:t> 7.3</a:t>
                </a:r>
              </a:p>
              <a:p>
                <a:endParaRPr lang="en-GB" sz="1400" dirty="0"/>
              </a:p>
              <a:p>
                <a:r>
                  <a:rPr lang="en-GB" sz="1400" dirty="0"/>
                  <a:t>Dog is 7.3 times more likely obese and not obese</a:t>
                </a:r>
              </a:p>
              <a:p>
                <a:endParaRPr lang="en-GB" sz="1400" dirty="0"/>
              </a:p>
              <a:p>
                <a:pPr algn="ctr"/>
                <a:r>
                  <a:rPr lang="en-GB" sz="1400" b="1" dirty="0"/>
                  <a:t>Log-odds (z)</a:t>
                </a:r>
              </a:p>
              <a:p>
                <a:r>
                  <a:rPr lang="en-GB" sz="1400" dirty="0"/>
                  <a:t>z = log(odds)</a:t>
                </a:r>
              </a:p>
              <a:p>
                <a:endParaRPr lang="en-GB" sz="1400" dirty="0"/>
              </a:p>
              <a:p>
                <a:r>
                  <a:rPr lang="en-GB" sz="1400" dirty="0"/>
                  <a:t>Dog D4 (odds = 7.3)</a:t>
                </a:r>
              </a:p>
              <a:p>
                <a:r>
                  <a:rPr lang="en-GB" sz="1400" dirty="0"/>
                  <a:t>z = log(7.3) = 0.86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7AA502F-E5BC-19D4-7C6C-9EB2D42EE1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3953" y="76783"/>
                <a:ext cx="1628161" cy="3719416"/>
              </a:xfrm>
              <a:prstGeom prst="rect">
                <a:avLst/>
              </a:prstGeom>
              <a:blipFill>
                <a:blip r:embed="rId12"/>
                <a:stretch>
                  <a:fillRect l="-1119" t="-328" b="-8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49DB302C-BE43-D31B-6E9C-46144C49CB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9794941"/>
              </p:ext>
            </p:extLst>
          </p:nvPr>
        </p:nvGraphicFramePr>
        <p:xfrm>
          <a:off x="9836469" y="3913625"/>
          <a:ext cx="2169684" cy="1554180"/>
        </p:xfrm>
        <a:graphic>
          <a:graphicData uri="http://schemas.openxmlformats.org/drawingml/2006/table">
            <a:tbl>
              <a:tblPr firstRow="1">
                <a:tableStyleId>{8FD4443E-F989-4FC4-A0C8-D5A2AF1F390B}</a:tableStyleId>
              </a:tblPr>
              <a:tblGrid>
                <a:gridCol w="585193">
                  <a:extLst>
                    <a:ext uri="{9D8B030D-6E8A-4147-A177-3AD203B41FA5}">
                      <a16:colId xmlns:a16="http://schemas.microsoft.com/office/drawing/2014/main" val="2069006429"/>
                    </a:ext>
                  </a:extLst>
                </a:gridCol>
                <a:gridCol w="1584491">
                  <a:extLst>
                    <a:ext uri="{9D8B030D-6E8A-4147-A177-3AD203B41FA5}">
                      <a16:colId xmlns:a16="http://schemas.microsoft.com/office/drawing/2014/main" val="2505400244"/>
                    </a:ext>
                  </a:extLst>
                </a:gridCol>
              </a:tblGrid>
              <a:tr h="237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/>
                        <a:t>z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 dirty="0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3357938"/>
                  </a:ext>
                </a:extLst>
              </a:tr>
              <a:tr h="237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/>
                        <a:t>z = 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Obese and not-obese equally likely (50–50)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5353543"/>
                  </a:ext>
                </a:extLst>
              </a:tr>
              <a:tr h="237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/>
                        <a:t>z &gt; 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/>
                        <a:t>More likely obese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573229"/>
                  </a:ext>
                </a:extLst>
              </a:tr>
              <a:tr h="237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/>
                        <a:t>z &lt; 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/>
                        <a:t>More likely not obese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8021152"/>
                  </a:ext>
                </a:extLst>
              </a:tr>
              <a:tr h="237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/>
                        <a:t>Large +z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/>
                        <a:t>Almost certainly obese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4774734"/>
                  </a:ext>
                </a:extLst>
              </a:tr>
              <a:tr h="237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/>
                        <a:t>Large −z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 dirty="0"/>
                        <a:t>Almost certainly not obese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7853945"/>
                  </a:ext>
                </a:extLst>
              </a:tr>
            </a:tbl>
          </a:graphicData>
        </a:graphic>
      </p:graphicFrame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45704A75-56A8-55F4-2AFD-BADA3B432A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9742" y="5585231"/>
            <a:ext cx="1802372" cy="1201767"/>
          </a:xfrm>
          <a:prstGeom prst="rect">
            <a:avLst/>
          </a:prstGeom>
          <a:solidFill>
            <a:srgbClr val="FFC000"/>
          </a:solidFill>
        </p:spPr>
      </p:pic>
    </p:spTree>
    <p:extLst>
      <p:ext uri="{BB962C8B-B14F-4D97-AF65-F5344CB8AC3E}">
        <p14:creationId xmlns:p14="http://schemas.microsoft.com/office/powerpoint/2010/main" val="2515364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47693-E6EB-1EDD-A235-84E7665ED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0743"/>
            <a:ext cx="10515600" cy="590294"/>
          </a:xfrm>
        </p:spPr>
        <p:txBody>
          <a:bodyPr>
            <a:normAutofit fontScale="90000"/>
          </a:bodyPr>
          <a:lstStyle/>
          <a:p>
            <a:r>
              <a:rPr lang="en-IN" dirty="0"/>
              <a:t>Entropy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7645C-5D5C-DBCE-CC02-F8CCFD1425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C34E676-456B-EBF8-18E9-45BB27A936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7845854"/>
              </p:ext>
            </p:extLst>
          </p:nvPr>
        </p:nvGraphicFramePr>
        <p:xfrm>
          <a:off x="182065" y="681037"/>
          <a:ext cx="2519253" cy="21031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39751">
                  <a:extLst>
                    <a:ext uri="{9D8B030D-6E8A-4147-A177-3AD203B41FA5}">
                      <a16:colId xmlns:a16="http://schemas.microsoft.com/office/drawing/2014/main" val="3850754252"/>
                    </a:ext>
                  </a:extLst>
                </a:gridCol>
                <a:gridCol w="839751">
                  <a:extLst>
                    <a:ext uri="{9D8B030D-6E8A-4147-A177-3AD203B41FA5}">
                      <a16:colId xmlns:a16="http://schemas.microsoft.com/office/drawing/2014/main" val="848513075"/>
                    </a:ext>
                  </a:extLst>
                </a:gridCol>
                <a:gridCol w="839751">
                  <a:extLst>
                    <a:ext uri="{9D8B030D-6E8A-4147-A177-3AD203B41FA5}">
                      <a16:colId xmlns:a16="http://schemas.microsoft.com/office/drawing/2014/main" val="710645149"/>
                    </a:ext>
                  </a:extLst>
                </a:gridCol>
              </a:tblGrid>
              <a:tr h="374856">
                <a:tc>
                  <a:txBody>
                    <a:bodyPr/>
                    <a:lstStyle/>
                    <a:p>
                      <a:r>
                        <a:rPr lang="en-IN" sz="1200" dirty="0"/>
                        <a:t>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Loan Granted?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207216"/>
                  </a:ext>
                </a:extLst>
              </a:tr>
              <a:tr h="224913">
                <a:tc>
                  <a:txBody>
                    <a:bodyPr/>
                    <a:lstStyle/>
                    <a:p>
                      <a:r>
                        <a:rPr lang="en-IN" sz="1200" dirty="0"/>
                        <a:t>100000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623926"/>
                  </a:ext>
                </a:extLst>
              </a:tr>
              <a:tr h="224913">
                <a:tc>
                  <a:txBody>
                    <a:bodyPr/>
                    <a:lstStyle/>
                    <a:p>
                      <a:r>
                        <a:rPr lang="en-IN" sz="1200" dirty="0"/>
                        <a:t>  50000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121338"/>
                  </a:ext>
                </a:extLst>
              </a:tr>
              <a:tr h="224913">
                <a:tc>
                  <a:txBody>
                    <a:bodyPr/>
                    <a:lstStyle/>
                    <a:p>
                      <a:r>
                        <a:rPr lang="en-IN" sz="1200" dirty="0"/>
                        <a:t>200000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9351027"/>
                  </a:ext>
                </a:extLst>
              </a:tr>
              <a:tr h="224913">
                <a:tc>
                  <a:txBody>
                    <a:bodyPr/>
                    <a:lstStyle/>
                    <a:p>
                      <a:r>
                        <a:rPr lang="en-IN" sz="1200" dirty="0"/>
                        <a:t>150000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4191324"/>
                  </a:ext>
                </a:extLst>
              </a:tr>
              <a:tr h="224913">
                <a:tc>
                  <a:txBody>
                    <a:bodyPr/>
                    <a:lstStyle/>
                    <a:p>
                      <a:r>
                        <a:rPr lang="en-IN" sz="1200" dirty="0"/>
                        <a:t>300000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0541946"/>
                  </a:ext>
                </a:extLst>
              </a:tr>
              <a:tr h="224913">
                <a:tc>
                  <a:txBody>
                    <a:bodyPr/>
                    <a:lstStyle/>
                    <a:p>
                      <a:r>
                        <a:rPr lang="en-IN" sz="1200" dirty="0"/>
                        <a:t>110000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506959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0FA6D32-DEA3-1E1E-6801-BA40E1D795D2}"/>
                  </a:ext>
                </a:extLst>
              </p:cNvPr>
              <p:cNvSpPr txBox="1"/>
              <p:nvPr/>
            </p:nvSpPr>
            <p:spPr>
              <a:xfrm>
                <a:off x="2818244" y="267799"/>
                <a:ext cx="2693757" cy="1169551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400" b="1" dirty="0">
                    <a:solidFill>
                      <a:srgbClr val="FF0000"/>
                    </a:solidFill>
                  </a:rPr>
                  <a:t>Entropy formula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−Ʃ</m:t>
                      </m:r>
                      <m:r>
                        <a:rPr lang="en-IN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𝐩𝐢</m:t>
                      </m:r>
                      <m:r>
                        <a:rPr lang="en-IN" sz="14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𝐥𝐨𝐠</m:t>
                      </m:r>
                      <m:r>
                        <a:rPr lang="en-IN" sz="1400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d>
                        <m:dPr>
                          <m:ctrlPr>
                            <a:rPr lang="en-IN" sz="1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IN" sz="1400" b="1" i="1" baseline="-250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d>
                      <m:r>
                        <a:rPr lang="en-IN" sz="14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1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𝐟𝐨𝐫</m:t>
                      </m:r>
                      <m:r>
                        <a:rPr lang="en-IN" sz="14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1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𝐢</m:t>
                      </m:r>
                      <m:r>
                        <a:rPr lang="en-IN" sz="14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1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IN" sz="14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1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𝐭𝐨</m:t>
                      </m:r>
                      <m:r>
                        <a:rPr lang="en-IN" sz="14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1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𝐧</m:t>
                      </m:r>
                    </m:oMath>
                  </m:oMathPara>
                </a14:m>
                <a:endParaRPr lang="en-IN" sz="1400" b="1" dirty="0">
                  <a:solidFill>
                    <a:srgbClr val="FF0000"/>
                  </a:solidFill>
                </a:endParaRPr>
              </a:p>
              <a:p>
                <a:endParaRPr lang="en-GB" sz="1400" dirty="0"/>
              </a:p>
              <a:p>
                <a:pPr algn="ctr"/>
                <a:r>
                  <a:rPr lang="en-IN" sz="1400" b="1" dirty="0">
                    <a:solidFill>
                      <a:srgbClr val="FF0000"/>
                    </a:solidFill>
                  </a:rPr>
                  <a:t>Information Gain (IG) formula</a:t>
                </a:r>
              </a:p>
              <a:p>
                <a:pPr algn="ctr"/>
                <a:r>
                  <a:rPr lang="en-IN" sz="1400" b="1" dirty="0">
                    <a:solidFill>
                      <a:srgbClr val="FF0000"/>
                    </a:solidFill>
                  </a:rPr>
                  <a:t>1 - Entropy</a:t>
                </a:r>
                <a:endParaRPr lang="en-GB" sz="1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0FA6D32-DEA3-1E1E-6801-BA40E1D795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8244" y="267799"/>
                <a:ext cx="2693757" cy="1169551"/>
              </a:xfrm>
              <a:prstGeom prst="rect">
                <a:avLst/>
              </a:prstGeom>
              <a:blipFill>
                <a:blip r:embed="rId2"/>
                <a:stretch>
                  <a:fillRect t="-1042" b="-41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2E0E91A-465C-214D-55D3-A424F7807B20}"/>
                  </a:ext>
                </a:extLst>
              </p:cNvPr>
              <p:cNvSpPr txBox="1"/>
              <p:nvPr/>
            </p:nvSpPr>
            <p:spPr>
              <a:xfrm>
                <a:off x="182065" y="2881011"/>
                <a:ext cx="2693758" cy="723981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1200" b="1" i="1" smtClean="0">
                        <a:latin typeface="Cambria Math" panose="02040503050406030204" pitchFamily="18" charset="0"/>
                      </a:rPr>
                      <m:t>𝑬𝒏𝒕𝒓𝒐𝒑𝒚</m:t>
                    </m:r>
                    <m:r>
                      <a:rPr lang="en-IN" sz="12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sz="1200" dirty="0"/>
                  <a:t> -[(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2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IN" sz="1200" dirty="0"/>
                  <a:t> 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120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1200" baseline="-25000">
                        <a:latin typeface="Cambria Math" panose="02040503050406030204" pitchFamily="18" charset="0"/>
                      </a:rPr>
                      <m:t>2 </m:t>
                    </m:r>
                  </m:oMath>
                </a14:m>
                <a:r>
                  <a:rPr lang="en-IN" sz="120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IN" sz="1200" dirty="0"/>
                  <a:t>) +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IN" sz="1200" dirty="0"/>
                  <a:t> 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120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1200" baseline="-25000">
                        <a:latin typeface="Cambria Math" panose="02040503050406030204" pitchFamily="18" charset="0"/>
                      </a:rPr>
                      <m:t>2 </m:t>
                    </m:r>
                  </m:oMath>
                </a14:m>
                <a:r>
                  <a:rPr lang="en-IN" sz="120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IN" sz="1200" dirty="0"/>
                  <a:t>)]</a:t>
                </a:r>
              </a:p>
              <a:p>
                <a:r>
                  <a:rPr lang="en-IN" sz="1200" dirty="0"/>
                  <a:t>= - [(0.5 x -1) + (</a:t>
                </a:r>
                <a14:m>
                  <m:oMath xmlns:m="http://schemas.openxmlformats.org/officeDocument/2006/math">
                    <m:r>
                      <a:rPr lang="en-IN" sz="1200" b="0" i="1" dirty="0" smtClean="0"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lang="en-IN" sz="1200" dirty="0"/>
                  <a:t> x -1)] </a:t>
                </a:r>
              </a:p>
              <a:p>
                <a:r>
                  <a:rPr lang="en-IN" sz="1200" dirty="0"/>
                  <a:t>= - [(-0.5) + (-0.5)] = </a:t>
                </a:r>
                <a:r>
                  <a:rPr lang="en-IN" sz="1200" b="1" dirty="0"/>
                  <a:t>1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2E0E91A-465C-214D-55D3-A424F7807B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065" y="2881011"/>
                <a:ext cx="2693758" cy="723981"/>
              </a:xfrm>
              <a:prstGeom prst="rect">
                <a:avLst/>
              </a:prstGeom>
              <a:blipFill>
                <a:blip r:embed="rId3"/>
                <a:stretch>
                  <a:fillRect l="-226" b="-67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545BCEEA-4573-482F-1D15-A3AC4A05200E}"/>
              </a:ext>
            </a:extLst>
          </p:cNvPr>
          <p:cNvSpPr txBox="1"/>
          <p:nvPr/>
        </p:nvSpPr>
        <p:spPr>
          <a:xfrm>
            <a:off x="5946503" y="427156"/>
            <a:ext cx="1891621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Split on Age</a:t>
            </a:r>
            <a:endParaRPr lang="en-GB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D76DFC2-63BB-C0A3-48B0-5C305EC842B7}"/>
                  </a:ext>
                </a:extLst>
              </p:cNvPr>
              <p:cNvSpPr txBox="1"/>
              <p:nvPr/>
            </p:nvSpPr>
            <p:spPr>
              <a:xfrm>
                <a:off x="5709766" y="1906997"/>
                <a:ext cx="2770539" cy="722827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1200" b="1" i="1" smtClean="0">
                        <a:latin typeface="Cambria Math" panose="02040503050406030204" pitchFamily="18" charset="0"/>
                      </a:rPr>
                      <m:t>𝑬𝒏𝒕𝒓𝒐𝒑𝒚</m:t>
                    </m:r>
                    <m:r>
                      <a:rPr lang="en-IN" sz="12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sz="1200" dirty="0"/>
                  <a:t> -[(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2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IN" sz="1200" dirty="0"/>
                  <a:t> 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120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1200" baseline="-25000">
                        <a:latin typeface="Cambria Math" panose="02040503050406030204" pitchFamily="18" charset="0"/>
                      </a:rPr>
                      <m:t>2 </m:t>
                    </m:r>
                  </m:oMath>
                </a14:m>
                <a:r>
                  <a:rPr lang="en-IN" sz="120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IN" sz="1200" dirty="0"/>
                  <a:t>) +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IN" sz="1200" dirty="0"/>
                  <a:t> 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120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1200" baseline="-25000">
                        <a:latin typeface="Cambria Math" panose="02040503050406030204" pitchFamily="18" charset="0"/>
                      </a:rPr>
                      <m:t>2 </m:t>
                    </m:r>
                  </m:oMath>
                </a14:m>
                <a:r>
                  <a:rPr lang="en-IN" sz="120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IN" sz="1200" dirty="0"/>
                  <a:t>)]</a:t>
                </a:r>
              </a:p>
              <a:p>
                <a:r>
                  <a:rPr lang="en-IN" sz="1200" dirty="0"/>
                  <a:t>= - [(0.25 x -2) + (</a:t>
                </a:r>
                <a14:m>
                  <m:oMath xmlns:m="http://schemas.openxmlformats.org/officeDocument/2006/math">
                    <m:r>
                      <a:rPr lang="en-IN" sz="1200" b="0" i="1" dirty="0" smtClean="0">
                        <a:latin typeface="Cambria Math" panose="02040503050406030204" pitchFamily="18" charset="0"/>
                      </a:rPr>
                      <m:t>0.75</m:t>
                    </m:r>
                  </m:oMath>
                </a14:m>
                <a:r>
                  <a:rPr lang="en-IN" sz="1200" dirty="0"/>
                  <a:t> x -0.41)] </a:t>
                </a:r>
              </a:p>
              <a:p>
                <a:r>
                  <a:rPr lang="en-IN" sz="1200" dirty="0"/>
                  <a:t>= - [(-0.50) + (-0.30)] = 0.82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D76DFC2-63BB-C0A3-48B0-5C305EC84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9766" y="1906997"/>
                <a:ext cx="2770539" cy="722827"/>
              </a:xfrm>
              <a:prstGeom prst="rect">
                <a:avLst/>
              </a:prstGeom>
              <a:blipFill>
                <a:blip r:embed="rId4"/>
                <a:stretch>
                  <a:fillRect l="-220" b="-67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07AABE8-7CBC-8F9C-0959-F1B0CBA8D3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2209243"/>
              </p:ext>
            </p:extLst>
          </p:nvPr>
        </p:nvGraphicFramePr>
        <p:xfrm>
          <a:off x="5709766" y="843837"/>
          <a:ext cx="2693757" cy="1005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97919">
                  <a:extLst>
                    <a:ext uri="{9D8B030D-6E8A-4147-A177-3AD203B41FA5}">
                      <a16:colId xmlns:a16="http://schemas.microsoft.com/office/drawing/2014/main" val="3850754252"/>
                    </a:ext>
                  </a:extLst>
                </a:gridCol>
                <a:gridCol w="897919">
                  <a:extLst>
                    <a:ext uri="{9D8B030D-6E8A-4147-A177-3AD203B41FA5}">
                      <a16:colId xmlns:a16="http://schemas.microsoft.com/office/drawing/2014/main" val="848513075"/>
                    </a:ext>
                  </a:extLst>
                </a:gridCol>
                <a:gridCol w="897919">
                  <a:extLst>
                    <a:ext uri="{9D8B030D-6E8A-4147-A177-3AD203B41FA5}">
                      <a16:colId xmlns:a16="http://schemas.microsoft.com/office/drawing/2014/main" val="710645149"/>
                    </a:ext>
                  </a:extLst>
                </a:gridCol>
              </a:tblGrid>
              <a:tr h="236545">
                <a:tc>
                  <a:txBody>
                    <a:bodyPr/>
                    <a:lstStyle/>
                    <a:p>
                      <a:r>
                        <a:rPr lang="en-IN" sz="1200" dirty="0"/>
                        <a:t>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Total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Loan Granted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207216"/>
                  </a:ext>
                </a:extLst>
              </a:tr>
              <a:tr h="236545">
                <a:tc>
                  <a:txBody>
                    <a:bodyPr/>
                    <a:lstStyle/>
                    <a:p>
                      <a:r>
                        <a:rPr lang="en-IN" sz="1200" dirty="0"/>
                        <a:t>Age &gt;=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Yes =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623926"/>
                  </a:ext>
                </a:extLst>
              </a:tr>
              <a:tr h="236545"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No =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12133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6D62E5A-D878-CDC0-7B8A-36B566F670FA}"/>
                  </a:ext>
                </a:extLst>
              </p:cNvPr>
              <p:cNvSpPr txBox="1"/>
              <p:nvPr/>
            </p:nvSpPr>
            <p:spPr>
              <a:xfrm>
                <a:off x="5709765" y="3926307"/>
                <a:ext cx="2849550" cy="722827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1200" b="1" i="1" smtClean="0">
                        <a:latin typeface="Cambria Math" panose="02040503050406030204" pitchFamily="18" charset="0"/>
                      </a:rPr>
                      <m:t>𝑬𝒏𝒕𝒓𝒐𝒑𝒚</m:t>
                    </m:r>
                    <m:r>
                      <a:rPr lang="en-IN" sz="12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sz="1200" dirty="0"/>
                  <a:t> -[(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2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IN" sz="1200" dirty="0"/>
                  <a:t> 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120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1200" baseline="-25000">
                        <a:latin typeface="Cambria Math" panose="02040503050406030204" pitchFamily="18" charset="0"/>
                      </a:rPr>
                      <m:t>2 </m:t>
                    </m:r>
                  </m:oMath>
                </a14:m>
                <a:r>
                  <a:rPr lang="en-IN" sz="120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IN" sz="1200" dirty="0"/>
                  <a:t>) +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IN" sz="1200" dirty="0"/>
                  <a:t> 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120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1200" baseline="-25000">
                        <a:latin typeface="Cambria Math" panose="02040503050406030204" pitchFamily="18" charset="0"/>
                      </a:rPr>
                      <m:t>2 </m:t>
                    </m:r>
                  </m:oMath>
                </a14:m>
                <a:r>
                  <a:rPr lang="en-IN" sz="120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IN" sz="1200" dirty="0"/>
                  <a:t>)]</a:t>
                </a:r>
              </a:p>
              <a:p>
                <a:r>
                  <a:rPr lang="en-IN" sz="1200" dirty="0"/>
                  <a:t>= - [(1 x 0) + (</a:t>
                </a:r>
                <a14:m>
                  <m:oMath xmlns:m="http://schemas.openxmlformats.org/officeDocument/2006/math">
                    <m:r>
                      <a:rPr lang="en-IN" sz="1200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IN" sz="1200" dirty="0"/>
                  <a:t> x 0)] </a:t>
                </a:r>
              </a:p>
              <a:p>
                <a:r>
                  <a:rPr lang="en-IN" sz="1200" dirty="0"/>
                  <a:t>= - [(0) + (0)] = 0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6D62E5A-D878-CDC0-7B8A-36B566F670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9765" y="3926307"/>
                <a:ext cx="2849550" cy="722827"/>
              </a:xfrm>
              <a:prstGeom prst="rect">
                <a:avLst/>
              </a:prstGeom>
              <a:blipFill>
                <a:blip r:embed="rId5"/>
                <a:stretch>
                  <a:fillRect l="-214" b="-58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184E3BD-FEA1-6C0A-0B45-66EEB7DBF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2419171"/>
              </p:ext>
            </p:extLst>
          </p:nvPr>
        </p:nvGraphicFramePr>
        <p:xfrm>
          <a:off x="5709765" y="2814394"/>
          <a:ext cx="2693757" cy="105327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97919">
                  <a:extLst>
                    <a:ext uri="{9D8B030D-6E8A-4147-A177-3AD203B41FA5}">
                      <a16:colId xmlns:a16="http://schemas.microsoft.com/office/drawing/2014/main" val="3850754252"/>
                    </a:ext>
                  </a:extLst>
                </a:gridCol>
                <a:gridCol w="897919">
                  <a:extLst>
                    <a:ext uri="{9D8B030D-6E8A-4147-A177-3AD203B41FA5}">
                      <a16:colId xmlns:a16="http://schemas.microsoft.com/office/drawing/2014/main" val="848513075"/>
                    </a:ext>
                  </a:extLst>
                </a:gridCol>
                <a:gridCol w="897919">
                  <a:extLst>
                    <a:ext uri="{9D8B030D-6E8A-4147-A177-3AD203B41FA5}">
                      <a16:colId xmlns:a16="http://schemas.microsoft.com/office/drawing/2014/main" val="7106451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1200" dirty="0"/>
                        <a:t>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Total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Loan Granted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207216"/>
                  </a:ext>
                </a:extLst>
              </a:tr>
              <a:tr h="298038">
                <a:tc>
                  <a:txBody>
                    <a:bodyPr/>
                    <a:lstStyle/>
                    <a:p>
                      <a:r>
                        <a:rPr lang="en-IN" sz="1200" dirty="0"/>
                        <a:t>Age &lt;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Yes =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623926"/>
                  </a:ext>
                </a:extLst>
              </a:tr>
              <a:tr h="298038"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No =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12133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EE7D676-BD27-019F-2C20-F8764BC2EDE4}"/>
                  </a:ext>
                </a:extLst>
              </p:cNvPr>
              <p:cNvSpPr txBox="1"/>
              <p:nvPr/>
            </p:nvSpPr>
            <p:spPr>
              <a:xfrm>
                <a:off x="5709766" y="4934495"/>
                <a:ext cx="2770540" cy="82920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400" dirty="0"/>
                  <a:t>Weighted average </a:t>
                </a:r>
              </a:p>
              <a:p>
                <a:pPr algn="ctr"/>
                <a:r>
                  <a:rPr lang="en-IN" sz="1400" dirty="0"/>
                  <a:t>= (0.82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4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14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IN" sz="1400" dirty="0"/>
                  <a:t>) + (0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14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IN" sz="1400" dirty="0"/>
                  <a:t>) </a:t>
                </a:r>
              </a:p>
              <a:p>
                <a:pPr algn="ctr"/>
                <a:r>
                  <a:rPr lang="en-IN" sz="1400" dirty="0"/>
                  <a:t>= 0.54 + 0 = 0.54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EE7D676-BD27-019F-2C20-F8764BC2ED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9766" y="4934495"/>
                <a:ext cx="2770540" cy="829201"/>
              </a:xfrm>
              <a:prstGeom prst="rect">
                <a:avLst/>
              </a:prstGeom>
              <a:blipFill>
                <a:blip r:embed="rId6"/>
                <a:stretch>
                  <a:fillRect t="-735" b="-735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B0EB1A8F-EA89-F8BB-C486-2A184BBB87F2}"/>
              </a:ext>
            </a:extLst>
          </p:cNvPr>
          <p:cNvSpPr txBox="1"/>
          <p:nvPr/>
        </p:nvSpPr>
        <p:spPr>
          <a:xfrm>
            <a:off x="9212051" y="427156"/>
            <a:ext cx="1891621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Split on Income</a:t>
            </a:r>
            <a:endParaRPr lang="en-GB" b="1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8565834-75A5-03B5-A4C4-E7D2F02B5D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3492929"/>
              </p:ext>
            </p:extLst>
          </p:nvPr>
        </p:nvGraphicFramePr>
        <p:xfrm>
          <a:off x="8768252" y="843796"/>
          <a:ext cx="2608809" cy="1005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29018">
                  <a:extLst>
                    <a:ext uri="{9D8B030D-6E8A-4147-A177-3AD203B41FA5}">
                      <a16:colId xmlns:a16="http://schemas.microsoft.com/office/drawing/2014/main" val="3850754252"/>
                    </a:ext>
                  </a:extLst>
                </a:gridCol>
                <a:gridCol w="610188">
                  <a:extLst>
                    <a:ext uri="{9D8B030D-6E8A-4147-A177-3AD203B41FA5}">
                      <a16:colId xmlns:a16="http://schemas.microsoft.com/office/drawing/2014/main" val="848513075"/>
                    </a:ext>
                  </a:extLst>
                </a:gridCol>
                <a:gridCol w="869603">
                  <a:extLst>
                    <a:ext uri="{9D8B030D-6E8A-4147-A177-3AD203B41FA5}">
                      <a16:colId xmlns:a16="http://schemas.microsoft.com/office/drawing/2014/main" val="710645149"/>
                    </a:ext>
                  </a:extLst>
                </a:gridCol>
              </a:tblGrid>
              <a:tr h="241615">
                <a:tc>
                  <a:txBody>
                    <a:bodyPr/>
                    <a:lstStyle/>
                    <a:p>
                      <a:r>
                        <a:rPr lang="en-IN" sz="1200" dirty="0"/>
                        <a:t>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Total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Loan Granted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207216"/>
                  </a:ext>
                </a:extLst>
              </a:tr>
              <a:tr h="241615">
                <a:tc>
                  <a:txBody>
                    <a:bodyPr/>
                    <a:lstStyle/>
                    <a:p>
                      <a:r>
                        <a:rPr lang="en-IN" sz="1200" dirty="0"/>
                        <a:t>Income &gt;= 1.5L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Yes =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623926"/>
                  </a:ext>
                </a:extLst>
              </a:tr>
              <a:tr h="241615"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No =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12133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5D57444-AED0-24AF-E9AA-DB04EAD852E4}"/>
                  </a:ext>
                </a:extLst>
              </p:cNvPr>
              <p:cNvSpPr txBox="1"/>
              <p:nvPr/>
            </p:nvSpPr>
            <p:spPr>
              <a:xfrm>
                <a:off x="8725776" y="1896944"/>
                <a:ext cx="2825789" cy="73288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1200" b="1" i="1" smtClean="0">
                        <a:latin typeface="Cambria Math" panose="02040503050406030204" pitchFamily="18" charset="0"/>
                      </a:rPr>
                      <m:t>𝑬𝒏𝒕𝒓𝒐𝒑𝒚</m:t>
                    </m:r>
                    <m:r>
                      <a:rPr lang="en-IN" sz="12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sz="1200" dirty="0"/>
                  <a:t> -[(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2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IN" sz="1200" dirty="0"/>
                  <a:t> 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120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1200" baseline="-25000">
                        <a:latin typeface="Cambria Math" panose="02040503050406030204" pitchFamily="18" charset="0"/>
                      </a:rPr>
                      <m:t>2 </m:t>
                    </m:r>
                  </m:oMath>
                </a14:m>
                <a:r>
                  <a:rPr lang="en-IN" sz="120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IN" sz="1200" dirty="0"/>
                  <a:t>) +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IN" sz="1200" dirty="0"/>
                  <a:t> 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120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1200" baseline="-25000">
                        <a:latin typeface="Cambria Math" panose="02040503050406030204" pitchFamily="18" charset="0"/>
                      </a:rPr>
                      <m:t>2 </m:t>
                    </m:r>
                  </m:oMath>
                </a14:m>
                <a:r>
                  <a:rPr lang="en-IN" sz="120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IN" sz="1200" dirty="0"/>
                  <a:t>)]</a:t>
                </a:r>
              </a:p>
              <a:p>
                <a:r>
                  <a:rPr lang="en-IN" sz="1200" dirty="0"/>
                  <a:t>= - [(0.66 x -0.585) + (</a:t>
                </a:r>
                <a14:m>
                  <m:oMath xmlns:m="http://schemas.openxmlformats.org/officeDocument/2006/math">
                    <m:r>
                      <a:rPr lang="en-IN" sz="1200" b="0" i="1" dirty="0" smtClean="0">
                        <a:latin typeface="Cambria Math" panose="02040503050406030204" pitchFamily="18" charset="0"/>
                      </a:rPr>
                      <m:t>0.33</m:t>
                    </m:r>
                  </m:oMath>
                </a14:m>
                <a:r>
                  <a:rPr lang="en-IN" sz="1200" dirty="0"/>
                  <a:t> x -1.58)] </a:t>
                </a:r>
              </a:p>
              <a:p>
                <a:r>
                  <a:rPr lang="en-IN" sz="1200" dirty="0"/>
                  <a:t>= - [(-0.38) + (-0.52)] = 0.9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5D57444-AED0-24AF-E9AA-DB04EAD852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5776" y="1896944"/>
                <a:ext cx="2825789" cy="732880"/>
              </a:xfrm>
              <a:prstGeom prst="rect">
                <a:avLst/>
              </a:prstGeom>
              <a:blipFill>
                <a:blip r:embed="rId7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882DD022-B5AB-9EE1-7539-67BB52C01D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7541883"/>
              </p:ext>
            </p:extLst>
          </p:nvPr>
        </p:nvGraphicFramePr>
        <p:xfrm>
          <a:off x="8725776" y="2814395"/>
          <a:ext cx="2769948" cy="1005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22633">
                  <a:extLst>
                    <a:ext uri="{9D8B030D-6E8A-4147-A177-3AD203B41FA5}">
                      <a16:colId xmlns:a16="http://schemas.microsoft.com/office/drawing/2014/main" val="3850754252"/>
                    </a:ext>
                  </a:extLst>
                </a:gridCol>
                <a:gridCol w="723999">
                  <a:extLst>
                    <a:ext uri="{9D8B030D-6E8A-4147-A177-3AD203B41FA5}">
                      <a16:colId xmlns:a16="http://schemas.microsoft.com/office/drawing/2014/main" val="848513075"/>
                    </a:ext>
                  </a:extLst>
                </a:gridCol>
                <a:gridCol w="923316">
                  <a:extLst>
                    <a:ext uri="{9D8B030D-6E8A-4147-A177-3AD203B41FA5}">
                      <a16:colId xmlns:a16="http://schemas.microsoft.com/office/drawing/2014/main" val="710645149"/>
                    </a:ext>
                  </a:extLst>
                </a:gridCol>
              </a:tblGrid>
              <a:tr h="244293">
                <a:tc>
                  <a:txBody>
                    <a:bodyPr/>
                    <a:lstStyle/>
                    <a:p>
                      <a:r>
                        <a:rPr lang="en-IN" sz="1200" dirty="0"/>
                        <a:t>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Total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Loan Granted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207216"/>
                  </a:ext>
                </a:extLst>
              </a:tr>
              <a:tr h="244293">
                <a:tc>
                  <a:txBody>
                    <a:bodyPr/>
                    <a:lstStyle/>
                    <a:p>
                      <a:r>
                        <a:rPr lang="en-IN" sz="1200" dirty="0"/>
                        <a:t>Income &lt; 1.5L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Yes =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623926"/>
                  </a:ext>
                </a:extLst>
              </a:tr>
              <a:tr h="244293"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No =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12133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91B0BD9-BE87-C8D3-7288-270F0753C13F}"/>
                  </a:ext>
                </a:extLst>
              </p:cNvPr>
              <p:cNvSpPr txBox="1"/>
              <p:nvPr/>
            </p:nvSpPr>
            <p:spPr>
              <a:xfrm>
                <a:off x="8768252" y="3925410"/>
                <a:ext cx="3017073" cy="723724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1200" b="1" i="1" smtClean="0">
                        <a:latin typeface="Cambria Math" panose="02040503050406030204" pitchFamily="18" charset="0"/>
                      </a:rPr>
                      <m:t>𝑬𝒏𝒕𝒓𝒐𝒑𝒚</m:t>
                    </m:r>
                    <m:r>
                      <a:rPr lang="en-IN" sz="12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sz="1200" dirty="0"/>
                  <a:t> -[(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2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IN" sz="1200" dirty="0"/>
                  <a:t> 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120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1200" baseline="-25000">
                        <a:latin typeface="Cambria Math" panose="02040503050406030204" pitchFamily="18" charset="0"/>
                      </a:rPr>
                      <m:t>2 </m:t>
                    </m:r>
                  </m:oMath>
                </a14:m>
                <a:r>
                  <a:rPr lang="en-IN" sz="120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IN" sz="1200" dirty="0"/>
                  <a:t>) +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IN" sz="1200" dirty="0"/>
                  <a:t> 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120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1200" baseline="-25000">
                        <a:latin typeface="Cambria Math" panose="02040503050406030204" pitchFamily="18" charset="0"/>
                      </a:rPr>
                      <m:t>2 </m:t>
                    </m:r>
                  </m:oMath>
                </a14:m>
                <a:r>
                  <a:rPr lang="en-IN" sz="120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IN" sz="1200" dirty="0"/>
                  <a:t>)]</a:t>
                </a:r>
              </a:p>
              <a:p>
                <a:r>
                  <a:rPr lang="en-IN" sz="1200" dirty="0"/>
                  <a:t>= - [(0.33 x -1.58) + (</a:t>
                </a:r>
                <a14:m>
                  <m:oMath xmlns:m="http://schemas.openxmlformats.org/officeDocument/2006/math">
                    <m:r>
                      <a:rPr lang="en-IN" sz="1200" b="0" i="1" dirty="0" smtClean="0">
                        <a:latin typeface="Cambria Math" panose="02040503050406030204" pitchFamily="18" charset="0"/>
                      </a:rPr>
                      <m:t>0.66</m:t>
                    </m:r>
                  </m:oMath>
                </a14:m>
                <a:r>
                  <a:rPr lang="en-IN" sz="1200" dirty="0"/>
                  <a:t> x -0.585)] </a:t>
                </a:r>
              </a:p>
              <a:p>
                <a:r>
                  <a:rPr lang="en-IN" sz="1200" dirty="0"/>
                  <a:t>= - [(-0.52) + (-0.38)] = 0.9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91B0BD9-BE87-C8D3-7288-270F0753C1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8252" y="3925410"/>
                <a:ext cx="3017073" cy="723724"/>
              </a:xfrm>
              <a:prstGeom prst="rect">
                <a:avLst/>
              </a:prstGeom>
              <a:blipFill>
                <a:blip r:embed="rId8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EB6C71E-39DE-BC41-6667-4D9C46285586}"/>
                  </a:ext>
                </a:extLst>
              </p:cNvPr>
              <p:cNvSpPr txBox="1"/>
              <p:nvPr/>
            </p:nvSpPr>
            <p:spPr>
              <a:xfrm>
                <a:off x="8778114" y="4934495"/>
                <a:ext cx="2864194" cy="82920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400" dirty="0"/>
                  <a:t>Weighted average </a:t>
                </a:r>
              </a:p>
              <a:p>
                <a:pPr algn="ctr"/>
                <a:r>
                  <a:rPr lang="en-IN" sz="1400" dirty="0"/>
                  <a:t>= (0.9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14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IN" sz="1400" dirty="0"/>
                  <a:t>) + (0.9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14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IN" sz="1400" dirty="0"/>
                  <a:t>) </a:t>
                </a:r>
              </a:p>
              <a:p>
                <a:pPr algn="ctr"/>
                <a:r>
                  <a:rPr lang="en-IN" sz="1400" dirty="0"/>
                  <a:t>= 0.45 + 0.45 = 0.90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EB6C71E-39DE-BC41-6667-4D9C462855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8114" y="4934495"/>
                <a:ext cx="2864194" cy="829201"/>
              </a:xfrm>
              <a:prstGeom prst="rect">
                <a:avLst/>
              </a:prstGeom>
              <a:blipFill>
                <a:blip r:embed="rId9"/>
                <a:stretch>
                  <a:fillRect t="-735" b="-735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F0CFB1A7-9E93-EECD-43D3-EA4BE503EB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291578"/>
              </p:ext>
            </p:extLst>
          </p:nvPr>
        </p:nvGraphicFramePr>
        <p:xfrm>
          <a:off x="182065" y="3944098"/>
          <a:ext cx="4822704" cy="143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7568">
                  <a:extLst>
                    <a:ext uri="{9D8B030D-6E8A-4147-A177-3AD203B41FA5}">
                      <a16:colId xmlns:a16="http://schemas.microsoft.com/office/drawing/2014/main" val="3095583132"/>
                    </a:ext>
                  </a:extLst>
                </a:gridCol>
                <a:gridCol w="1607568">
                  <a:extLst>
                    <a:ext uri="{9D8B030D-6E8A-4147-A177-3AD203B41FA5}">
                      <a16:colId xmlns:a16="http://schemas.microsoft.com/office/drawing/2014/main" val="260849839"/>
                    </a:ext>
                  </a:extLst>
                </a:gridCol>
                <a:gridCol w="1607568">
                  <a:extLst>
                    <a:ext uri="{9D8B030D-6E8A-4147-A177-3AD203B41FA5}">
                      <a16:colId xmlns:a16="http://schemas.microsoft.com/office/drawing/2014/main" val="1370531593"/>
                    </a:ext>
                  </a:extLst>
                </a:gridCol>
              </a:tblGrid>
              <a:tr h="442296">
                <a:tc>
                  <a:txBody>
                    <a:bodyPr/>
                    <a:lstStyle/>
                    <a:p>
                      <a:r>
                        <a:rPr lang="en-IN" sz="1400" dirty="0"/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Entropy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Entropy  Reduction (Information Gain)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6945739"/>
                  </a:ext>
                </a:extLst>
              </a:tr>
              <a:tr h="260174">
                <a:tc>
                  <a:txBody>
                    <a:bodyPr/>
                    <a:lstStyle/>
                    <a:p>
                      <a:r>
                        <a:rPr lang="en-IN" sz="1400" dirty="0"/>
                        <a:t>Original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326886"/>
                  </a:ext>
                </a:extLst>
              </a:tr>
              <a:tr h="260174">
                <a:tc>
                  <a:txBody>
                    <a:bodyPr/>
                    <a:lstStyle/>
                    <a:p>
                      <a:r>
                        <a:rPr lang="en-IN" sz="1400" dirty="0"/>
                        <a:t>Split on 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 – 0.54 = 0.46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8125669"/>
                  </a:ext>
                </a:extLst>
              </a:tr>
              <a:tr h="260174">
                <a:tc>
                  <a:txBody>
                    <a:bodyPr/>
                    <a:lstStyle/>
                    <a:p>
                      <a:r>
                        <a:rPr lang="en-IN" sz="1400" dirty="0"/>
                        <a:t>Split on 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 – 0.90 = 0.10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3979880"/>
                  </a:ext>
                </a:extLst>
              </a:tr>
            </a:tbl>
          </a:graphicData>
        </a:graphic>
      </p:graphicFrame>
      <p:sp>
        <p:nvSpPr>
          <p:cNvPr id="20" name="Arrow: Up 19">
            <a:extLst>
              <a:ext uri="{FF2B5EF4-FFF2-40B4-BE49-F238E27FC236}">
                <a16:creationId xmlns:a16="http://schemas.microsoft.com/office/drawing/2014/main" id="{A8DC7C3A-4321-0255-1609-6E807D43E0A0}"/>
              </a:ext>
            </a:extLst>
          </p:cNvPr>
          <p:cNvSpPr/>
          <p:nvPr/>
        </p:nvSpPr>
        <p:spPr>
          <a:xfrm>
            <a:off x="2843555" y="1092507"/>
            <a:ext cx="190224" cy="272226"/>
          </a:xfrm>
          <a:prstGeom prst="upArrow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Arrow: Up 20">
            <a:extLst>
              <a:ext uri="{FF2B5EF4-FFF2-40B4-BE49-F238E27FC236}">
                <a16:creationId xmlns:a16="http://schemas.microsoft.com/office/drawing/2014/main" id="{4061080C-31AF-7DD5-5B19-24F53A1640E4}"/>
              </a:ext>
            </a:extLst>
          </p:cNvPr>
          <p:cNvSpPr/>
          <p:nvPr/>
        </p:nvSpPr>
        <p:spPr>
          <a:xfrm rot="10800000">
            <a:off x="2843555" y="490191"/>
            <a:ext cx="190224" cy="272226"/>
          </a:xfrm>
          <a:prstGeom prst="upArrow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Sun 21">
            <a:extLst>
              <a:ext uri="{FF2B5EF4-FFF2-40B4-BE49-F238E27FC236}">
                <a16:creationId xmlns:a16="http://schemas.microsoft.com/office/drawing/2014/main" id="{48CBFC59-27A3-F8AF-4779-67257B3AC9DA}"/>
              </a:ext>
            </a:extLst>
          </p:cNvPr>
          <p:cNvSpPr/>
          <p:nvPr/>
        </p:nvSpPr>
        <p:spPr>
          <a:xfrm>
            <a:off x="1292489" y="5213866"/>
            <a:ext cx="2351151" cy="1494060"/>
          </a:xfrm>
          <a:prstGeom prst="su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Split on Age is better</a:t>
            </a:r>
            <a:endParaRPr lang="en-GB" sz="1200" b="1" dirty="0"/>
          </a:p>
        </p:txBody>
      </p:sp>
    </p:spTree>
    <p:extLst>
      <p:ext uri="{BB962C8B-B14F-4D97-AF65-F5344CB8AC3E}">
        <p14:creationId xmlns:p14="http://schemas.microsoft.com/office/powerpoint/2010/main" val="1997691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A2D79-9BB4-FA45-5281-6EB92A46D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Decision Tree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B6FA4-AD37-1D87-D59C-3B5CC57085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A6C00A-D6AC-2EB5-8D9A-92B712C03DEF}"/>
              </a:ext>
            </a:extLst>
          </p:cNvPr>
          <p:cNvSpPr txBox="1"/>
          <p:nvPr/>
        </p:nvSpPr>
        <p:spPr>
          <a:xfrm>
            <a:off x="4866776" y="1006867"/>
            <a:ext cx="2357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noProof="0" dirty="0"/>
              <a:t>Label: </a:t>
            </a:r>
            <a:r>
              <a:rPr lang="en-IN" b="1" noProof="0" dirty="0"/>
              <a:t>Loan Granted?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821E8F3-74E5-BE4F-56B7-9804E2EAD64C}"/>
              </a:ext>
            </a:extLst>
          </p:cNvPr>
          <p:cNvGrpSpPr/>
          <p:nvPr/>
        </p:nvGrpSpPr>
        <p:grpSpPr>
          <a:xfrm>
            <a:off x="5509545" y="1402039"/>
            <a:ext cx="1273047" cy="1243780"/>
            <a:chOff x="5237319" y="2246637"/>
            <a:chExt cx="1273047" cy="124378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2527ACA-CBB7-09FE-368D-9E0754247A34}"/>
                </a:ext>
              </a:extLst>
            </p:cNvPr>
            <p:cNvSpPr/>
            <p:nvPr/>
          </p:nvSpPr>
          <p:spPr>
            <a:xfrm>
              <a:off x="5237319" y="2246637"/>
              <a:ext cx="1273047" cy="124378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noProof="0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29807FA-8FBB-39B7-B3EC-AF3BFCDA2848}"/>
                </a:ext>
              </a:extLst>
            </p:cNvPr>
            <p:cNvSpPr/>
            <p:nvPr/>
          </p:nvSpPr>
          <p:spPr>
            <a:xfrm>
              <a:off x="5444225" y="2547559"/>
              <a:ext cx="259882" cy="259882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noProof="0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8FA3067-6BE0-311C-8CFE-04C35B1BBFA7}"/>
                </a:ext>
              </a:extLst>
            </p:cNvPr>
            <p:cNvSpPr/>
            <p:nvPr/>
          </p:nvSpPr>
          <p:spPr>
            <a:xfrm>
              <a:off x="6002720" y="2544813"/>
              <a:ext cx="259882" cy="259882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noProof="0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0159398-685D-11D4-3B57-D4AE734018F8}"/>
                </a:ext>
              </a:extLst>
            </p:cNvPr>
            <p:cNvSpPr/>
            <p:nvPr/>
          </p:nvSpPr>
          <p:spPr>
            <a:xfrm>
              <a:off x="5726503" y="2946828"/>
              <a:ext cx="259882" cy="259882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noProof="0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CD36754-C4F5-BE96-D778-F6B3F68E2CFD}"/>
                </a:ext>
              </a:extLst>
            </p:cNvPr>
            <p:cNvSpPr/>
            <p:nvPr/>
          </p:nvSpPr>
          <p:spPr>
            <a:xfrm>
              <a:off x="5726503" y="2533599"/>
              <a:ext cx="259882" cy="259882"/>
            </a:xfrm>
            <a:prstGeom prst="ellipse">
              <a:avLst/>
            </a:prstGeom>
            <a:solidFill>
              <a:srgbClr val="FF0000"/>
            </a:solidFill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noProof="0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5BA44C0-5F4F-DAC6-2B92-4E0BDAE18865}"/>
                </a:ext>
              </a:extLst>
            </p:cNvPr>
            <p:cNvSpPr/>
            <p:nvPr/>
          </p:nvSpPr>
          <p:spPr>
            <a:xfrm>
              <a:off x="6020042" y="2945893"/>
              <a:ext cx="259882" cy="259882"/>
            </a:xfrm>
            <a:prstGeom prst="ellipse">
              <a:avLst/>
            </a:prstGeom>
            <a:solidFill>
              <a:srgbClr val="FF0000"/>
            </a:solidFill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noProof="0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57D3F32-AC36-6538-3DC9-1C467F36048E}"/>
                </a:ext>
              </a:extLst>
            </p:cNvPr>
            <p:cNvSpPr/>
            <p:nvPr/>
          </p:nvSpPr>
          <p:spPr>
            <a:xfrm>
              <a:off x="5432964" y="2942378"/>
              <a:ext cx="259882" cy="259882"/>
            </a:xfrm>
            <a:prstGeom prst="ellipse">
              <a:avLst/>
            </a:prstGeom>
            <a:solidFill>
              <a:srgbClr val="FF0000"/>
            </a:solidFill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noProof="0" dirty="0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B4B938E0-A32E-2F60-5EFC-C7D05779E485}"/>
              </a:ext>
            </a:extLst>
          </p:cNvPr>
          <p:cNvSpPr txBox="1"/>
          <p:nvPr/>
        </p:nvSpPr>
        <p:spPr>
          <a:xfrm>
            <a:off x="5084939" y="2639507"/>
            <a:ext cx="1088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>
                <a:solidFill>
                  <a:srgbClr val="FF0000"/>
                </a:solidFill>
              </a:rPr>
              <a:t>No: 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0A0111A-126C-B3CE-D1A9-D1639510890B}"/>
              </a:ext>
            </a:extLst>
          </p:cNvPr>
          <p:cNvSpPr txBox="1"/>
          <p:nvPr/>
        </p:nvSpPr>
        <p:spPr>
          <a:xfrm>
            <a:off x="6238364" y="2639507"/>
            <a:ext cx="1088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>
                <a:solidFill>
                  <a:schemeClr val="accent6">
                    <a:lumMod val="75000"/>
                  </a:schemeClr>
                </a:solidFill>
              </a:rPr>
              <a:t>Yes: 3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41CEB6E-7DAB-96EA-0224-B67584FDD451}"/>
              </a:ext>
            </a:extLst>
          </p:cNvPr>
          <p:cNvCxnSpPr>
            <a:cxnSpLocks/>
          </p:cNvCxnSpPr>
          <p:nvPr/>
        </p:nvCxnSpPr>
        <p:spPr>
          <a:xfrm>
            <a:off x="6157497" y="2637268"/>
            <a:ext cx="0" cy="525853"/>
          </a:xfrm>
          <a:prstGeom prst="straightConnector1">
            <a:avLst/>
          </a:prstGeom>
          <a:ln w="254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F63479E-7789-2039-E32E-3019CAC2D78A}"/>
              </a:ext>
            </a:extLst>
          </p:cNvPr>
          <p:cNvSpPr txBox="1"/>
          <p:nvPr/>
        </p:nvSpPr>
        <p:spPr>
          <a:xfrm>
            <a:off x="5613269" y="3160409"/>
            <a:ext cx="1088455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Age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3D4BF43-65A6-4099-D397-54EA4575564E}"/>
              </a:ext>
            </a:extLst>
          </p:cNvPr>
          <p:cNvSpPr/>
          <p:nvPr/>
        </p:nvSpPr>
        <p:spPr>
          <a:xfrm>
            <a:off x="4717775" y="3507118"/>
            <a:ext cx="911791" cy="699214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noProof="0" dirty="0">
                <a:solidFill>
                  <a:schemeClr val="tx1"/>
                </a:solidFill>
              </a:rPr>
              <a:t>&gt;=30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88F76C1-B48E-59EF-E1E9-3F818F87F9C0}"/>
              </a:ext>
            </a:extLst>
          </p:cNvPr>
          <p:cNvSpPr/>
          <p:nvPr/>
        </p:nvSpPr>
        <p:spPr>
          <a:xfrm>
            <a:off x="6656241" y="3518077"/>
            <a:ext cx="907530" cy="68679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noProof="0" dirty="0">
                <a:solidFill>
                  <a:schemeClr val="tx1"/>
                </a:solidFill>
              </a:rPr>
              <a:t>&lt;30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D79DCE9-A734-1640-5962-62ADC29E990C}"/>
              </a:ext>
            </a:extLst>
          </p:cNvPr>
          <p:cNvCxnSpPr>
            <a:cxnSpLocks/>
          </p:cNvCxnSpPr>
          <p:nvPr/>
        </p:nvCxnSpPr>
        <p:spPr>
          <a:xfrm flipH="1">
            <a:off x="5446142" y="3578154"/>
            <a:ext cx="666737" cy="1173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C80DBFC-40D9-B54B-CEF9-FAC7F14EAA02}"/>
              </a:ext>
            </a:extLst>
          </p:cNvPr>
          <p:cNvCxnSpPr>
            <a:cxnSpLocks/>
          </p:cNvCxnSpPr>
          <p:nvPr/>
        </p:nvCxnSpPr>
        <p:spPr>
          <a:xfrm>
            <a:off x="6257861" y="3578154"/>
            <a:ext cx="508933" cy="2395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DDCFE110-C1FD-DF83-1C45-A81DCB4CF0AE}"/>
              </a:ext>
            </a:extLst>
          </p:cNvPr>
          <p:cNvSpPr/>
          <p:nvPr/>
        </p:nvSpPr>
        <p:spPr>
          <a:xfrm>
            <a:off x="4548901" y="4272147"/>
            <a:ext cx="1273047" cy="12437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noProof="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321486F-63A9-0DD4-A003-CCBD53DD3F66}"/>
              </a:ext>
            </a:extLst>
          </p:cNvPr>
          <p:cNvSpPr/>
          <p:nvPr/>
        </p:nvSpPr>
        <p:spPr>
          <a:xfrm>
            <a:off x="5038085" y="4972338"/>
            <a:ext cx="259882" cy="259882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noProof="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D045511-1C65-7EC4-4594-CF6684860B35}"/>
              </a:ext>
            </a:extLst>
          </p:cNvPr>
          <p:cNvSpPr/>
          <p:nvPr/>
        </p:nvSpPr>
        <p:spPr>
          <a:xfrm>
            <a:off x="5038085" y="4559109"/>
            <a:ext cx="259882" cy="259882"/>
          </a:xfrm>
          <a:prstGeom prst="ellipse">
            <a:avLst/>
          </a:prstGeom>
          <a:solidFill>
            <a:srgbClr val="FF000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noProof="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59FF10C-8BBE-76B3-1A9E-470388876E15}"/>
              </a:ext>
            </a:extLst>
          </p:cNvPr>
          <p:cNvSpPr/>
          <p:nvPr/>
        </p:nvSpPr>
        <p:spPr>
          <a:xfrm>
            <a:off x="5331624" y="4971403"/>
            <a:ext cx="259882" cy="259882"/>
          </a:xfrm>
          <a:prstGeom prst="ellipse">
            <a:avLst/>
          </a:prstGeom>
          <a:solidFill>
            <a:srgbClr val="FF000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noProof="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2EED259-3F5C-7CAA-118D-AC495A221792}"/>
              </a:ext>
            </a:extLst>
          </p:cNvPr>
          <p:cNvSpPr/>
          <p:nvPr/>
        </p:nvSpPr>
        <p:spPr>
          <a:xfrm>
            <a:off x="4744546" y="4967888"/>
            <a:ext cx="259882" cy="259882"/>
          </a:xfrm>
          <a:prstGeom prst="ellipse">
            <a:avLst/>
          </a:prstGeom>
          <a:solidFill>
            <a:srgbClr val="FF000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noProof="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FAB28CF-61E9-7851-42AA-842B131F139E}"/>
              </a:ext>
            </a:extLst>
          </p:cNvPr>
          <p:cNvSpPr/>
          <p:nvPr/>
        </p:nvSpPr>
        <p:spPr>
          <a:xfrm>
            <a:off x="6587752" y="4270095"/>
            <a:ext cx="1273047" cy="12437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noProof="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45F3E8C-CDE5-2DF5-1E5A-7E3F11A4A84E}"/>
              </a:ext>
            </a:extLst>
          </p:cNvPr>
          <p:cNvSpPr/>
          <p:nvPr/>
        </p:nvSpPr>
        <p:spPr>
          <a:xfrm>
            <a:off x="6980065" y="4632103"/>
            <a:ext cx="259882" cy="259882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noProof="0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B468A789-F398-34F6-80BE-4C17615A6FBB}"/>
              </a:ext>
            </a:extLst>
          </p:cNvPr>
          <p:cNvSpPr/>
          <p:nvPr/>
        </p:nvSpPr>
        <p:spPr>
          <a:xfrm>
            <a:off x="7279487" y="4621240"/>
            <a:ext cx="259882" cy="259882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noProof="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6DD32D5-A3AC-0052-3105-934067AAD5AE}"/>
              </a:ext>
            </a:extLst>
          </p:cNvPr>
          <p:cNvSpPr txBox="1"/>
          <p:nvPr/>
        </p:nvSpPr>
        <p:spPr>
          <a:xfrm>
            <a:off x="3974731" y="5534930"/>
            <a:ext cx="1088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>
                <a:solidFill>
                  <a:srgbClr val="FF0000"/>
                </a:solidFill>
              </a:rPr>
              <a:t>No: 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4D503E4-6A12-67EC-8980-EB11F684CEDB}"/>
              </a:ext>
            </a:extLst>
          </p:cNvPr>
          <p:cNvSpPr txBox="1"/>
          <p:nvPr/>
        </p:nvSpPr>
        <p:spPr>
          <a:xfrm>
            <a:off x="5128156" y="5534930"/>
            <a:ext cx="1088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>
                <a:solidFill>
                  <a:schemeClr val="accent6">
                    <a:lumMod val="75000"/>
                  </a:schemeClr>
                </a:solidFill>
              </a:rPr>
              <a:t>Yes: </a:t>
            </a:r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1</a:t>
            </a:r>
            <a:endParaRPr lang="en-IN" b="1" noProof="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43C64C2-0C4A-182D-2779-B37C5C56A8B7}"/>
              </a:ext>
            </a:extLst>
          </p:cNvPr>
          <p:cNvSpPr txBox="1"/>
          <p:nvPr/>
        </p:nvSpPr>
        <p:spPr>
          <a:xfrm>
            <a:off x="6086522" y="5531774"/>
            <a:ext cx="1088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>
                <a:solidFill>
                  <a:srgbClr val="FF0000"/>
                </a:solidFill>
              </a:rPr>
              <a:t>No: 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923EDEB-BE61-72CE-7C31-D2AE1FF200DE}"/>
              </a:ext>
            </a:extLst>
          </p:cNvPr>
          <p:cNvSpPr txBox="1"/>
          <p:nvPr/>
        </p:nvSpPr>
        <p:spPr>
          <a:xfrm>
            <a:off x="7239947" y="5531774"/>
            <a:ext cx="1088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>
                <a:solidFill>
                  <a:schemeClr val="accent6">
                    <a:lumMod val="75000"/>
                  </a:schemeClr>
                </a:solidFill>
              </a:rPr>
              <a:t>Yes: 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2BFB0F1-52B1-8F98-6B65-1E21A1F265F7}"/>
              </a:ext>
            </a:extLst>
          </p:cNvPr>
          <p:cNvSpPr txBox="1"/>
          <p:nvPr/>
        </p:nvSpPr>
        <p:spPr>
          <a:xfrm>
            <a:off x="1737257" y="2645819"/>
            <a:ext cx="1790299" cy="147732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>
                <a:solidFill>
                  <a:srgbClr val="FF0000"/>
                </a:solidFill>
              </a:rPr>
              <a:t>Features</a:t>
            </a:r>
          </a:p>
          <a:p>
            <a:pPr algn="ctr"/>
            <a:endParaRPr lang="en-IN" noProof="0" dirty="0"/>
          </a:p>
          <a:p>
            <a:pPr algn="ctr"/>
            <a:r>
              <a:rPr lang="en-IN" b="1" noProof="0" dirty="0"/>
              <a:t>Age </a:t>
            </a:r>
          </a:p>
          <a:p>
            <a:pPr algn="ctr"/>
            <a:endParaRPr lang="en-IN" b="1" noProof="0" dirty="0"/>
          </a:p>
          <a:p>
            <a:pPr algn="ctr"/>
            <a:r>
              <a:rPr lang="en-IN" b="1" noProof="0" dirty="0"/>
              <a:t>Income</a:t>
            </a: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6312DFA2-F54D-FE5A-FB27-04D854801AA7}"/>
              </a:ext>
            </a:extLst>
          </p:cNvPr>
          <p:cNvSpPr/>
          <p:nvPr/>
        </p:nvSpPr>
        <p:spPr>
          <a:xfrm>
            <a:off x="3011879" y="2763520"/>
            <a:ext cx="2568905" cy="875899"/>
          </a:xfrm>
          <a:custGeom>
            <a:avLst/>
            <a:gdLst>
              <a:gd name="connsiteX0" fmla="*/ 0 w 4475747"/>
              <a:gd name="connsiteY0" fmla="*/ 616017 h 875899"/>
              <a:gd name="connsiteX1" fmla="*/ 336884 w 4475747"/>
              <a:gd name="connsiteY1" fmla="*/ 837398 h 875899"/>
              <a:gd name="connsiteX2" fmla="*/ 606392 w 4475747"/>
              <a:gd name="connsiteY2" fmla="*/ 875899 h 875899"/>
              <a:gd name="connsiteX3" fmla="*/ 1164657 w 4475747"/>
              <a:gd name="connsiteY3" fmla="*/ 741145 h 875899"/>
              <a:gd name="connsiteX4" fmla="*/ 1212783 w 4475747"/>
              <a:gd name="connsiteY4" fmla="*/ 721894 h 875899"/>
              <a:gd name="connsiteX5" fmla="*/ 1376413 w 4475747"/>
              <a:gd name="connsiteY5" fmla="*/ 606391 h 875899"/>
              <a:gd name="connsiteX6" fmla="*/ 1434164 w 4475747"/>
              <a:gd name="connsiteY6" fmla="*/ 433137 h 875899"/>
              <a:gd name="connsiteX7" fmla="*/ 1549667 w 4475747"/>
              <a:gd name="connsiteY7" fmla="*/ 192505 h 875899"/>
              <a:gd name="connsiteX8" fmla="*/ 1559293 w 4475747"/>
              <a:gd name="connsiteY8" fmla="*/ 154004 h 875899"/>
              <a:gd name="connsiteX9" fmla="*/ 1645920 w 4475747"/>
              <a:gd name="connsiteY9" fmla="*/ 134753 h 875899"/>
              <a:gd name="connsiteX10" fmla="*/ 1751798 w 4475747"/>
              <a:gd name="connsiteY10" fmla="*/ 96252 h 875899"/>
              <a:gd name="connsiteX11" fmla="*/ 2136808 w 4475747"/>
              <a:gd name="connsiteY11" fmla="*/ 38501 h 875899"/>
              <a:gd name="connsiteX12" fmla="*/ 2310063 w 4475747"/>
              <a:gd name="connsiteY12" fmla="*/ 19250 h 875899"/>
              <a:gd name="connsiteX13" fmla="*/ 2637322 w 4475747"/>
              <a:gd name="connsiteY13" fmla="*/ 0 h 875899"/>
              <a:gd name="connsiteX14" fmla="*/ 3003082 w 4475747"/>
              <a:gd name="connsiteY14" fmla="*/ 19250 h 875899"/>
              <a:gd name="connsiteX15" fmla="*/ 3205213 w 4475747"/>
              <a:gd name="connsiteY15" fmla="*/ 38501 h 875899"/>
              <a:gd name="connsiteX16" fmla="*/ 3397718 w 4475747"/>
              <a:gd name="connsiteY16" fmla="*/ 86627 h 875899"/>
              <a:gd name="connsiteX17" fmla="*/ 3513221 w 4475747"/>
              <a:gd name="connsiteY17" fmla="*/ 115503 h 875899"/>
              <a:gd name="connsiteX18" fmla="*/ 3628724 w 4475747"/>
              <a:gd name="connsiteY18" fmla="*/ 202130 h 875899"/>
              <a:gd name="connsiteX19" fmla="*/ 3753853 w 4475747"/>
              <a:gd name="connsiteY19" fmla="*/ 279132 h 875899"/>
              <a:gd name="connsiteX20" fmla="*/ 3850105 w 4475747"/>
              <a:gd name="connsiteY20" fmla="*/ 327259 h 875899"/>
              <a:gd name="connsiteX21" fmla="*/ 3917482 w 4475747"/>
              <a:gd name="connsiteY21" fmla="*/ 375385 h 875899"/>
              <a:gd name="connsiteX22" fmla="*/ 3984859 w 4475747"/>
              <a:gd name="connsiteY22" fmla="*/ 404261 h 875899"/>
              <a:gd name="connsiteX23" fmla="*/ 4042611 w 4475747"/>
              <a:gd name="connsiteY23" fmla="*/ 433137 h 875899"/>
              <a:gd name="connsiteX24" fmla="*/ 4167739 w 4475747"/>
              <a:gd name="connsiteY24" fmla="*/ 490888 h 875899"/>
              <a:gd name="connsiteX25" fmla="*/ 4215865 w 4475747"/>
              <a:gd name="connsiteY25" fmla="*/ 519764 h 875899"/>
              <a:gd name="connsiteX26" fmla="*/ 4254366 w 4475747"/>
              <a:gd name="connsiteY26" fmla="*/ 539014 h 875899"/>
              <a:gd name="connsiteX27" fmla="*/ 4283242 w 4475747"/>
              <a:gd name="connsiteY27" fmla="*/ 558265 h 875899"/>
              <a:gd name="connsiteX28" fmla="*/ 4340994 w 4475747"/>
              <a:gd name="connsiteY28" fmla="*/ 567890 h 875899"/>
              <a:gd name="connsiteX29" fmla="*/ 4427621 w 4475747"/>
              <a:gd name="connsiteY29" fmla="*/ 616017 h 875899"/>
              <a:gd name="connsiteX30" fmla="*/ 4475747 w 4475747"/>
              <a:gd name="connsiteY30" fmla="*/ 635267 h 8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475747" h="875899">
                <a:moveTo>
                  <a:pt x="0" y="616017"/>
                </a:moveTo>
                <a:cubicBezTo>
                  <a:pt x="105811" y="704191"/>
                  <a:pt x="194092" y="782285"/>
                  <a:pt x="336884" y="837398"/>
                </a:cubicBezTo>
                <a:cubicBezTo>
                  <a:pt x="421545" y="870074"/>
                  <a:pt x="516556" y="863065"/>
                  <a:pt x="606392" y="875899"/>
                </a:cubicBezTo>
                <a:cubicBezTo>
                  <a:pt x="873674" y="816503"/>
                  <a:pt x="959674" y="809473"/>
                  <a:pt x="1164657" y="741145"/>
                </a:cubicBezTo>
                <a:cubicBezTo>
                  <a:pt x="1181048" y="735681"/>
                  <a:pt x="1198407" y="731478"/>
                  <a:pt x="1212783" y="721894"/>
                </a:cubicBezTo>
                <a:cubicBezTo>
                  <a:pt x="1433288" y="574891"/>
                  <a:pt x="1267940" y="660629"/>
                  <a:pt x="1376413" y="606391"/>
                </a:cubicBezTo>
                <a:cubicBezTo>
                  <a:pt x="1391103" y="558650"/>
                  <a:pt x="1410146" y="484604"/>
                  <a:pt x="1434164" y="433137"/>
                </a:cubicBezTo>
                <a:cubicBezTo>
                  <a:pt x="1471789" y="352512"/>
                  <a:pt x="1528086" y="278820"/>
                  <a:pt x="1549667" y="192505"/>
                </a:cubicBezTo>
                <a:cubicBezTo>
                  <a:pt x="1552876" y="179671"/>
                  <a:pt x="1547949" y="160810"/>
                  <a:pt x="1559293" y="154004"/>
                </a:cubicBezTo>
                <a:cubicBezTo>
                  <a:pt x="1584658" y="138785"/>
                  <a:pt x="1617587" y="143253"/>
                  <a:pt x="1645920" y="134753"/>
                </a:cubicBezTo>
                <a:cubicBezTo>
                  <a:pt x="1681890" y="123962"/>
                  <a:pt x="1715139" y="104399"/>
                  <a:pt x="1751798" y="96252"/>
                </a:cubicBezTo>
                <a:cubicBezTo>
                  <a:pt x="1817468" y="81659"/>
                  <a:pt x="2045142" y="49612"/>
                  <a:pt x="2136808" y="38501"/>
                </a:cubicBezTo>
                <a:cubicBezTo>
                  <a:pt x="2194493" y="31509"/>
                  <a:pt x="2252127" y="23707"/>
                  <a:pt x="2310063" y="19250"/>
                </a:cubicBezTo>
                <a:cubicBezTo>
                  <a:pt x="2419016" y="10869"/>
                  <a:pt x="2637322" y="0"/>
                  <a:pt x="2637322" y="0"/>
                </a:cubicBezTo>
                <a:lnTo>
                  <a:pt x="3003082" y="19250"/>
                </a:lnTo>
                <a:cubicBezTo>
                  <a:pt x="3035461" y="21232"/>
                  <a:pt x="3169790" y="34958"/>
                  <a:pt x="3205213" y="38501"/>
                </a:cubicBezTo>
                <a:cubicBezTo>
                  <a:pt x="3491599" y="104591"/>
                  <a:pt x="3213608" y="38177"/>
                  <a:pt x="3397718" y="86627"/>
                </a:cubicBezTo>
                <a:cubicBezTo>
                  <a:pt x="3436097" y="96727"/>
                  <a:pt x="3513221" y="115503"/>
                  <a:pt x="3513221" y="115503"/>
                </a:cubicBezTo>
                <a:cubicBezTo>
                  <a:pt x="3564244" y="183533"/>
                  <a:pt x="3523281" y="139823"/>
                  <a:pt x="3628724" y="202130"/>
                </a:cubicBezTo>
                <a:cubicBezTo>
                  <a:pt x="3670888" y="227045"/>
                  <a:pt x="3711218" y="255034"/>
                  <a:pt x="3753853" y="279132"/>
                </a:cubicBezTo>
                <a:cubicBezTo>
                  <a:pt x="3785081" y="296783"/>
                  <a:pt x="3819186" y="309072"/>
                  <a:pt x="3850105" y="327259"/>
                </a:cubicBezTo>
                <a:cubicBezTo>
                  <a:pt x="3873894" y="341253"/>
                  <a:pt x="3893519" y="361692"/>
                  <a:pt x="3917482" y="375385"/>
                </a:cubicBezTo>
                <a:cubicBezTo>
                  <a:pt x="3938697" y="387508"/>
                  <a:pt x="3962673" y="394021"/>
                  <a:pt x="3984859" y="404261"/>
                </a:cubicBezTo>
                <a:cubicBezTo>
                  <a:pt x="4004401" y="413280"/>
                  <a:pt x="4022943" y="424396"/>
                  <a:pt x="4042611" y="433137"/>
                </a:cubicBezTo>
                <a:cubicBezTo>
                  <a:pt x="4131295" y="472552"/>
                  <a:pt x="3971268" y="373004"/>
                  <a:pt x="4167739" y="490888"/>
                </a:cubicBezTo>
                <a:cubicBezTo>
                  <a:pt x="4183781" y="500513"/>
                  <a:pt x="4199511" y="510679"/>
                  <a:pt x="4215865" y="519764"/>
                </a:cubicBezTo>
                <a:cubicBezTo>
                  <a:pt x="4228408" y="526732"/>
                  <a:pt x="4241908" y="531895"/>
                  <a:pt x="4254366" y="539014"/>
                </a:cubicBezTo>
                <a:cubicBezTo>
                  <a:pt x="4264410" y="544753"/>
                  <a:pt x="4272267" y="554607"/>
                  <a:pt x="4283242" y="558265"/>
                </a:cubicBezTo>
                <a:cubicBezTo>
                  <a:pt x="4301757" y="564437"/>
                  <a:pt x="4321743" y="564682"/>
                  <a:pt x="4340994" y="567890"/>
                </a:cubicBezTo>
                <a:cubicBezTo>
                  <a:pt x="4361413" y="580141"/>
                  <a:pt x="4403074" y="606812"/>
                  <a:pt x="4427621" y="616017"/>
                </a:cubicBezTo>
                <a:cubicBezTo>
                  <a:pt x="4479105" y="635324"/>
                  <a:pt x="4453825" y="613345"/>
                  <a:pt x="4475747" y="635267"/>
                </a:cubicBezTo>
              </a:path>
            </a:pathLst>
          </a:custGeom>
          <a:noFill/>
          <a:ln w="19050">
            <a:prstDash val="dash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noProof="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50B2829-0844-E0E3-918D-04CF76077453}"/>
              </a:ext>
            </a:extLst>
          </p:cNvPr>
          <p:cNvSpPr txBox="1"/>
          <p:nvPr/>
        </p:nvSpPr>
        <p:spPr>
          <a:xfrm>
            <a:off x="8588000" y="1590765"/>
            <a:ext cx="1741569" cy="369332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>
                <a:solidFill>
                  <a:schemeClr val="bg1"/>
                </a:solidFill>
              </a:rPr>
              <a:t>Original dataset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35274CD-B2AD-C62D-2F96-390AF4F20036}"/>
              </a:ext>
            </a:extLst>
          </p:cNvPr>
          <p:cNvSpPr txBox="1"/>
          <p:nvPr/>
        </p:nvSpPr>
        <p:spPr>
          <a:xfrm>
            <a:off x="8587999" y="3074022"/>
            <a:ext cx="1741569" cy="369332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>
                <a:solidFill>
                  <a:schemeClr val="bg1"/>
                </a:solidFill>
              </a:rPr>
              <a:t>Splitting on </a:t>
            </a:r>
            <a:r>
              <a:rPr lang="en-IN" b="1" i="1" noProof="0" dirty="0">
                <a:solidFill>
                  <a:schemeClr val="bg1"/>
                </a:solidFill>
              </a:rPr>
              <a:t>Age</a:t>
            </a:r>
            <a:endParaRPr lang="en-IN" b="1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5585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21826-C325-A9AB-41C9-AF58E417A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Gini Index/Coefficient/Impurity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5DDD4-3093-7AE3-5F20-2C0C684151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823" y="1832699"/>
            <a:ext cx="10515600" cy="4351338"/>
          </a:xfrm>
        </p:spPr>
        <p:txBody>
          <a:bodyPr/>
          <a:lstStyle/>
          <a:p>
            <a:r>
              <a:rPr lang="en-IN" b="1" noProof="0" dirty="0"/>
              <a:t>Gini impurity </a:t>
            </a:r>
            <a:r>
              <a:rPr lang="en-IN" noProof="0" dirty="0"/>
              <a:t>Alternative to entropy (Lower the better, 0 is the best)</a:t>
            </a:r>
          </a:p>
          <a:p>
            <a:r>
              <a:rPr lang="en-IN" noProof="0" dirty="0"/>
              <a:t>Example: Predict fruit: A or 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33DCC1-9D57-FC89-9CAF-AA0075620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382" y="3206601"/>
            <a:ext cx="1765391" cy="34799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59BEA97-B983-3902-9CDC-D6638A7D5A29}"/>
              </a:ext>
            </a:extLst>
          </p:cNvPr>
          <p:cNvSpPr txBox="1"/>
          <p:nvPr/>
        </p:nvSpPr>
        <p:spPr>
          <a:xfrm>
            <a:off x="8496730" y="673963"/>
            <a:ext cx="3082246" cy="7078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sz="2000" b="0" i="0" noProof="0" dirty="0">
                <a:solidFill>
                  <a:srgbClr val="374151"/>
                </a:solidFill>
                <a:effectLst/>
              </a:rPr>
              <a:t>P(A) = 10/20 = 0.5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000" noProof="0" dirty="0">
                <a:solidFill>
                  <a:srgbClr val="374151"/>
                </a:solidFill>
              </a:rPr>
              <a:t>P(B) = 10/20 = 0.5</a:t>
            </a:r>
            <a:endParaRPr lang="en-IN" sz="20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E6467B5-2E1C-80B1-7B45-9CE8E5451617}"/>
                  </a:ext>
                </a:extLst>
              </p:cNvPr>
              <p:cNvSpPr txBox="1"/>
              <p:nvPr/>
            </p:nvSpPr>
            <p:spPr>
              <a:xfrm>
                <a:off x="3771049" y="2937267"/>
                <a:ext cx="7214569" cy="1815882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sz="2400" b="0" i="1" noProof="0" smtClean="0">
                        <a:latin typeface="Cambria Math" panose="02040503050406030204" pitchFamily="18" charset="0"/>
                      </a:rPr>
                      <m:t>𝐸𝑛𝑡𝑟𝑜𝑝𝑦</m:t>
                    </m:r>
                    <m:r>
                      <a:rPr lang="en-IN" sz="2400" b="0" i="1" noProof="0" smtClean="0">
                        <a:latin typeface="Cambria Math" panose="02040503050406030204" pitchFamily="18" charset="0"/>
                      </a:rPr>
                      <m:t>=−Ʃ</m:t>
                    </m:r>
                    <m:r>
                      <m:rPr>
                        <m:sty m:val="p"/>
                      </m:rPr>
                      <a:rPr lang="en-IN" sz="2400" b="0" i="0" noProof="0" smtClean="0">
                        <a:latin typeface="Cambria Math" panose="02040503050406030204" pitchFamily="18" charset="0"/>
                      </a:rPr>
                      <m:t>pi</m:t>
                    </m:r>
                    <m:r>
                      <a:rPr lang="en-IN" sz="2400" b="0" i="0" noProof="0" smtClean="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IN" sz="2400" b="0" i="0" noProof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b="0" i="0" baseline="-25000" noProof="0" smtClean="0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IN" sz="24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 b="0" i="0" noProof="0" smtClean="0">
                            <a:latin typeface="Cambria Math" panose="02040503050406030204" pitchFamily="18" charset="0"/>
                          </a:rPr>
                          <m:t>pi</m:t>
                        </m:r>
                      </m:e>
                    </m:d>
                    <m:r>
                      <a:rPr lang="en-IN" sz="2400" b="0" i="0" noProof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400" b="0" i="0" noProof="0" smtClean="0">
                        <a:latin typeface="Cambria Math" panose="02040503050406030204" pitchFamily="18" charset="0"/>
                      </a:rPr>
                      <m:t>for</m:t>
                    </m:r>
                    <m:r>
                      <a:rPr lang="en-IN" sz="2400" b="0" i="0" noProof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400" b="0" i="0" noProof="0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IN" sz="2400" b="0" i="0" noProof="0" smtClean="0">
                        <a:latin typeface="Cambria Math" panose="02040503050406030204" pitchFamily="18" charset="0"/>
                      </a:rPr>
                      <m:t>=1 </m:t>
                    </m:r>
                    <m:r>
                      <m:rPr>
                        <m:sty m:val="p"/>
                      </m:rPr>
                      <a:rPr lang="en-IN" sz="2400" b="0" i="0" noProof="0" smtClean="0">
                        <a:latin typeface="Cambria Math" panose="02040503050406030204" pitchFamily="18" charset="0"/>
                      </a:rPr>
                      <m:t>to</m:t>
                    </m:r>
                    <m:r>
                      <a:rPr lang="en-IN" sz="2400" b="0" i="0" noProof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400" b="0" i="0" noProof="0" smtClean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endParaRPr lang="en-IN" sz="2400" b="0" noProof="0" dirty="0"/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sz="2400" b="0" i="1" noProof="0" smtClean="0">
                        <a:latin typeface="Cambria Math" panose="02040503050406030204" pitchFamily="18" charset="0"/>
                      </a:rPr>
                      <m:t>𝐸𝑛𝑡𝑟𝑜𝑝𝑦</m:t>
                    </m:r>
                    <m:r>
                      <a:rPr lang="en-IN" sz="2400" b="0" i="1" noProof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sz="2400" b="0" noProof="0" dirty="0"/>
                  <a:t>-[(-0.5 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 noProof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baseline="-25000" noProof="0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IN" sz="2400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0" i="0" noProof="0" smtClean="0">
                            <a:latin typeface="Cambria Math" panose="02040503050406030204" pitchFamily="18" charset="0"/>
                          </a:rPr>
                          <m:t>0.5</m:t>
                        </m:r>
                      </m:e>
                    </m:d>
                    <m:r>
                      <a:rPr lang="en-IN" sz="2400" b="0" i="1" noProof="0" smtClean="0">
                        <a:latin typeface="Cambria Math" panose="02040503050406030204" pitchFamily="18" charset="0"/>
                      </a:rPr>
                      <m:t>)+</m:t>
                    </m:r>
                    <m:r>
                      <m:rPr>
                        <m:nor/>
                      </m:rPr>
                      <a:rPr lang="en-IN" sz="2400" noProof="0"/>
                      <m:t>(−0.5 </m:t>
                    </m:r>
                    <m:r>
                      <m:rPr>
                        <m:nor/>
                      </m:rPr>
                      <a:rPr lang="en-IN" sz="2400" noProof="0"/>
                      <m:t>x</m:t>
                    </m:r>
                    <m:r>
                      <m:rPr>
                        <m:nor/>
                      </m:rPr>
                      <a:rPr lang="en-IN" sz="2400" noProof="0"/>
                      <m:t> </m:t>
                    </m:r>
                    <m:r>
                      <m:rPr>
                        <m:sty m:val="p"/>
                      </m:rPr>
                      <a:rPr lang="en-IN" sz="2400" noProof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baseline="-25000" noProof="0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IN" sz="2400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noProof="0">
                            <a:latin typeface="Cambria Math" panose="02040503050406030204" pitchFamily="18" charset="0"/>
                          </a:rPr>
                          <m:t>0.5</m:t>
                        </m:r>
                      </m:e>
                    </m:d>
                    <m:r>
                      <a:rPr lang="en-IN" sz="2400" i="1" noProof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400" b="0" noProof="0" dirty="0"/>
                  <a:t>]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sz="2400" b="0" i="1" noProof="0" smtClean="0">
                        <a:latin typeface="Cambria Math" panose="02040503050406030204" pitchFamily="18" charset="0"/>
                      </a:rPr>
                      <m:t>𝐸𝑛𝑡𝑟𝑜𝑝𝑦</m:t>
                    </m:r>
                    <m:r>
                      <a:rPr lang="en-IN" sz="2400" b="0" i="1" noProof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sz="2400" b="0" noProof="0" dirty="0"/>
                  <a:t> -(-0.5 x -1 + -0.5 x -1)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sz="2400" b="0" i="1" noProof="0" smtClean="0">
                        <a:latin typeface="Cambria Math" panose="02040503050406030204" pitchFamily="18" charset="0"/>
                      </a:rPr>
                      <m:t>𝐸𝑛𝑡𝑟𝑜𝑝𝑦</m:t>
                    </m:r>
                    <m:r>
                      <a:rPr lang="en-IN" sz="2400" b="0" i="1" noProof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sz="2400" b="0" noProof="0" dirty="0"/>
                  <a:t> -(-0.5 + -0.5) = 1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:endParaRPr lang="en-IN" sz="1600" noProof="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E6467B5-2E1C-80B1-7B45-9CE8E54516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1049" y="2937267"/>
                <a:ext cx="7214569" cy="1815882"/>
              </a:xfrm>
              <a:prstGeom prst="rect">
                <a:avLst/>
              </a:prstGeom>
              <a:blipFill>
                <a:blip r:embed="rId3"/>
                <a:stretch>
                  <a:fillRect l="-1183" t="-16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518FBF-CC1F-BDE9-D074-46DD8810CED8}"/>
                  </a:ext>
                </a:extLst>
              </p:cNvPr>
              <p:cNvSpPr txBox="1"/>
              <p:nvPr/>
            </p:nvSpPr>
            <p:spPr>
              <a:xfrm>
                <a:off x="3771049" y="4994953"/>
                <a:ext cx="7214569" cy="156966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sz="2400" b="0" i="1" noProof="0" smtClean="0">
                        <a:latin typeface="Cambria Math" panose="02040503050406030204" pitchFamily="18" charset="0"/>
                      </a:rPr>
                      <m:t>𝐺𝑖𝑛𝑖</m:t>
                    </m:r>
                    <m:r>
                      <a:rPr lang="en-IN" sz="2400" b="0" i="1" noProof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400" b="0" i="1" noProof="0" smtClean="0">
                        <a:latin typeface="Cambria Math" panose="02040503050406030204" pitchFamily="18" charset="0"/>
                      </a:rPr>
                      <m:t>𝑖𝑚𝑝𝑢𝑟𝑖𝑡𝑦</m:t>
                    </m:r>
                    <m:r>
                      <a:rPr lang="en-IN" sz="2400" b="0" i="1" noProof="0" smtClean="0">
                        <a:latin typeface="Cambria Math" panose="02040503050406030204" pitchFamily="18" charset="0"/>
                      </a:rPr>
                      <m:t>=1 −[</m:t>
                    </m:r>
                    <m:r>
                      <a:rPr lang="en-IN" sz="2400" b="0" i="1" noProof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24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0" i="1" noProof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IN" sz="2400" b="0" i="1" baseline="30000" noProof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 noProof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 noProof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2400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0" i="1" noProof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IN" sz="2400" i="1" baseline="30000" noProof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IN" sz="2400" b="0" noProof="0" dirty="0"/>
                  <a:t>]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sz="2400" b="0" i="1" noProof="0" smtClean="0">
                        <a:latin typeface="Cambria Math" panose="02040503050406030204" pitchFamily="18" charset="0"/>
                      </a:rPr>
                      <m:t>𝐺𝑖𝑛𝑖</m:t>
                    </m:r>
                    <m:r>
                      <a:rPr lang="en-IN" sz="2400" b="0" i="1" noProof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400" b="0" i="1" noProof="0" smtClean="0">
                        <a:latin typeface="Cambria Math" panose="02040503050406030204" pitchFamily="18" charset="0"/>
                      </a:rPr>
                      <m:t>𝑖𝑚𝑝𝑢𝑟𝑖𝑡𝑦</m:t>
                    </m:r>
                    <m:r>
                      <a:rPr lang="en-IN" sz="2400" b="0" i="1" noProof="0" smtClean="0">
                        <a:latin typeface="Cambria Math" panose="02040503050406030204" pitchFamily="18" charset="0"/>
                      </a:rPr>
                      <m:t>=1 −[(0.5)2+(0.5)2</m:t>
                    </m:r>
                  </m:oMath>
                </a14:m>
                <a:r>
                  <a:rPr lang="en-IN" sz="2400" b="0" noProof="0" dirty="0"/>
                  <a:t>]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sz="2400" b="0" i="1" noProof="0" smtClean="0">
                        <a:latin typeface="Cambria Math" panose="02040503050406030204" pitchFamily="18" charset="0"/>
                      </a:rPr>
                      <m:t>𝐺𝑖𝑛𝑖</m:t>
                    </m:r>
                    <m:r>
                      <a:rPr lang="en-IN" sz="2400" b="0" i="1" noProof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400" b="0" i="1" noProof="0" smtClean="0">
                        <a:latin typeface="Cambria Math" panose="02040503050406030204" pitchFamily="18" charset="0"/>
                      </a:rPr>
                      <m:t>𝑖𝑚𝑝𝑢𝑟𝑖𝑡𝑦</m:t>
                    </m:r>
                    <m:r>
                      <a:rPr lang="en-IN" sz="2400" b="0" i="1" noProof="0" smtClean="0">
                        <a:latin typeface="Cambria Math" panose="02040503050406030204" pitchFamily="18" charset="0"/>
                      </a:rPr>
                      <m:t>=1 −[0.25+0.25</m:t>
                    </m:r>
                  </m:oMath>
                </a14:m>
                <a:r>
                  <a:rPr lang="en-IN" sz="2400" b="0" noProof="0" dirty="0"/>
                  <a:t>]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sz="2400" b="0" i="1" noProof="0" smtClean="0">
                        <a:latin typeface="Cambria Math" panose="02040503050406030204" pitchFamily="18" charset="0"/>
                      </a:rPr>
                      <m:t>𝐺𝑖𝑛𝑖</m:t>
                    </m:r>
                    <m:r>
                      <a:rPr lang="en-IN" sz="2400" b="0" i="1" noProof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400" b="0" i="1" noProof="0" smtClean="0">
                        <a:latin typeface="Cambria Math" panose="02040503050406030204" pitchFamily="18" charset="0"/>
                      </a:rPr>
                      <m:t>𝑖𝑚𝑝𝑢𝑟𝑖𝑡𝑦</m:t>
                    </m:r>
                    <m:r>
                      <a:rPr lang="en-IN" sz="2400" b="0" i="1" noProof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IN" sz="1600" noProof="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518FBF-CC1F-BDE9-D074-46DD8810CE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1049" y="4994953"/>
                <a:ext cx="7214569" cy="1569660"/>
              </a:xfrm>
              <a:prstGeom prst="rect">
                <a:avLst/>
              </a:prstGeom>
              <a:blipFill>
                <a:blip r:embed="rId4"/>
                <a:stretch>
                  <a:fillRect l="-1183" t="-3101" b="-620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5976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F3666-03F9-AADC-22E1-B780A66F7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92" y="207927"/>
            <a:ext cx="3053236" cy="482854"/>
          </a:xfrm>
        </p:spPr>
        <p:txBody>
          <a:bodyPr>
            <a:normAutofit fontScale="90000"/>
          </a:bodyPr>
          <a:lstStyle/>
          <a:p>
            <a:r>
              <a:rPr lang="en-IN" dirty="0"/>
              <a:t>Random Forest</a:t>
            </a:r>
            <a:endParaRPr lang="en-GB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F5B4C4E-95B3-FE69-3E2F-3DDBA0460E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7100976"/>
              </p:ext>
            </p:extLst>
          </p:nvPr>
        </p:nvGraphicFramePr>
        <p:xfrm>
          <a:off x="1472231" y="806092"/>
          <a:ext cx="3203890" cy="210312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640778">
                  <a:extLst>
                    <a:ext uri="{9D8B030D-6E8A-4147-A177-3AD203B41FA5}">
                      <a16:colId xmlns:a16="http://schemas.microsoft.com/office/drawing/2014/main" val="3424128733"/>
                    </a:ext>
                  </a:extLst>
                </a:gridCol>
                <a:gridCol w="640778">
                  <a:extLst>
                    <a:ext uri="{9D8B030D-6E8A-4147-A177-3AD203B41FA5}">
                      <a16:colId xmlns:a16="http://schemas.microsoft.com/office/drawing/2014/main" val="2572653747"/>
                    </a:ext>
                  </a:extLst>
                </a:gridCol>
                <a:gridCol w="640778">
                  <a:extLst>
                    <a:ext uri="{9D8B030D-6E8A-4147-A177-3AD203B41FA5}">
                      <a16:colId xmlns:a16="http://schemas.microsoft.com/office/drawing/2014/main" val="1460886761"/>
                    </a:ext>
                  </a:extLst>
                </a:gridCol>
                <a:gridCol w="640778">
                  <a:extLst>
                    <a:ext uri="{9D8B030D-6E8A-4147-A177-3AD203B41FA5}">
                      <a16:colId xmlns:a16="http://schemas.microsoft.com/office/drawing/2014/main" val="4096754459"/>
                    </a:ext>
                  </a:extLst>
                </a:gridCol>
                <a:gridCol w="640778">
                  <a:extLst>
                    <a:ext uri="{9D8B030D-6E8A-4147-A177-3AD203B41FA5}">
                      <a16:colId xmlns:a16="http://schemas.microsoft.com/office/drawing/2014/main" val="1277989782"/>
                    </a:ext>
                  </a:extLst>
                </a:gridCol>
              </a:tblGrid>
              <a:tr h="3818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Dog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Weight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Obese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Left (≤13)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Right (&gt;13)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3388933"/>
                  </a:ext>
                </a:extLst>
              </a:tr>
              <a:tr h="224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D1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-</a:t>
                      </a:r>
                      <a:endParaRPr lang="en-GB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0101129"/>
                  </a:ext>
                </a:extLst>
              </a:tr>
              <a:tr h="224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D2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-</a:t>
                      </a:r>
                      <a:endParaRPr lang="en-GB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4619035"/>
                  </a:ext>
                </a:extLst>
              </a:tr>
              <a:tr h="224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D3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-</a:t>
                      </a:r>
                      <a:endParaRPr lang="en-GB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9826053"/>
                  </a:ext>
                </a:extLst>
              </a:tr>
              <a:tr h="224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D4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-</a:t>
                      </a:r>
                      <a:endParaRPr lang="en-GB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9885487"/>
                  </a:ext>
                </a:extLst>
              </a:tr>
              <a:tr h="224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D5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-</a:t>
                      </a:r>
                      <a:endParaRPr lang="en-GB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194803"/>
                  </a:ext>
                </a:extLst>
              </a:tr>
              <a:tr h="224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D6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-</a:t>
                      </a:r>
                      <a:endParaRPr lang="en-GB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3792046"/>
                  </a:ext>
                </a:extLst>
              </a:tr>
            </a:tbl>
          </a:graphicData>
        </a:graphic>
      </p:graphicFrame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21D61E3-1FD9-35E8-E665-D4F8B14F419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25171890"/>
              </p:ext>
            </p:extLst>
          </p:nvPr>
        </p:nvGraphicFramePr>
        <p:xfrm>
          <a:off x="303345" y="4036881"/>
          <a:ext cx="3154448" cy="21336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837037">
                  <a:extLst>
                    <a:ext uri="{9D8B030D-6E8A-4147-A177-3AD203B41FA5}">
                      <a16:colId xmlns:a16="http://schemas.microsoft.com/office/drawing/2014/main" val="2992704106"/>
                    </a:ext>
                  </a:extLst>
                </a:gridCol>
                <a:gridCol w="1060983">
                  <a:extLst>
                    <a:ext uri="{9D8B030D-6E8A-4147-A177-3AD203B41FA5}">
                      <a16:colId xmlns:a16="http://schemas.microsoft.com/office/drawing/2014/main" val="1247799351"/>
                    </a:ext>
                  </a:extLst>
                </a:gridCol>
                <a:gridCol w="1256428">
                  <a:extLst>
                    <a:ext uri="{9D8B030D-6E8A-4147-A177-3AD203B41FA5}">
                      <a16:colId xmlns:a16="http://schemas.microsoft.com/office/drawing/2014/main" val="41255203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Dog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Weight (kg)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Obese (y)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7496026"/>
                  </a:ext>
                </a:extLst>
              </a:tr>
              <a:tr h="272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 (Not obese)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4649539"/>
                  </a:ext>
                </a:extLst>
              </a:tr>
              <a:tr h="272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7512936"/>
                  </a:ext>
                </a:extLst>
              </a:tr>
              <a:tr h="272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1504720"/>
                  </a:ext>
                </a:extLst>
              </a:tr>
              <a:tr h="272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 (Obese)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6493873"/>
                  </a:ext>
                </a:extLst>
              </a:tr>
              <a:tr h="272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7706722"/>
                  </a:ext>
                </a:extLst>
              </a:tr>
              <a:tr h="272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97076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648F310-2FF8-8947-849E-330B6B5952A1}"/>
              </a:ext>
            </a:extLst>
          </p:cNvPr>
          <p:cNvSpPr txBox="1"/>
          <p:nvPr/>
        </p:nvSpPr>
        <p:spPr>
          <a:xfrm>
            <a:off x="1880569" y="383695"/>
            <a:ext cx="2387213" cy="338554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/>
              <a:t>Split 1: Is weight ≤ 13 kg?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466224-382D-2BD0-07D2-4447D7A1E398}"/>
              </a:ext>
            </a:extLst>
          </p:cNvPr>
          <p:cNvSpPr txBox="1"/>
          <p:nvPr/>
        </p:nvSpPr>
        <p:spPr>
          <a:xfrm>
            <a:off x="1472231" y="2924452"/>
            <a:ext cx="3203890" cy="7386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Tree says:</a:t>
            </a:r>
          </a:p>
          <a:p>
            <a:r>
              <a:rPr lang="en-IN" sz="1400" dirty="0"/>
              <a:t>When weight &lt;= 13, P(Obese) = 0/3 = 0</a:t>
            </a:r>
          </a:p>
          <a:p>
            <a:r>
              <a:rPr lang="en-IN" sz="1400" dirty="0"/>
              <a:t>When weight &gt; 13, P(Obese) = 3/3 = 1</a:t>
            </a:r>
            <a:endParaRPr lang="en-GB" sz="1400" dirty="0"/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045619A5-27B1-EF68-C6C8-C3FD10A5602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79393246"/>
              </p:ext>
            </p:extLst>
          </p:nvPr>
        </p:nvGraphicFramePr>
        <p:xfrm>
          <a:off x="4737779" y="806092"/>
          <a:ext cx="3203890" cy="210312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640778">
                  <a:extLst>
                    <a:ext uri="{9D8B030D-6E8A-4147-A177-3AD203B41FA5}">
                      <a16:colId xmlns:a16="http://schemas.microsoft.com/office/drawing/2014/main" val="3424128733"/>
                    </a:ext>
                  </a:extLst>
                </a:gridCol>
                <a:gridCol w="640778">
                  <a:extLst>
                    <a:ext uri="{9D8B030D-6E8A-4147-A177-3AD203B41FA5}">
                      <a16:colId xmlns:a16="http://schemas.microsoft.com/office/drawing/2014/main" val="2572653747"/>
                    </a:ext>
                  </a:extLst>
                </a:gridCol>
                <a:gridCol w="640778">
                  <a:extLst>
                    <a:ext uri="{9D8B030D-6E8A-4147-A177-3AD203B41FA5}">
                      <a16:colId xmlns:a16="http://schemas.microsoft.com/office/drawing/2014/main" val="1460886761"/>
                    </a:ext>
                  </a:extLst>
                </a:gridCol>
                <a:gridCol w="640778">
                  <a:extLst>
                    <a:ext uri="{9D8B030D-6E8A-4147-A177-3AD203B41FA5}">
                      <a16:colId xmlns:a16="http://schemas.microsoft.com/office/drawing/2014/main" val="4096754459"/>
                    </a:ext>
                  </a:extLst>
                </a:gridCol>
                <a:gridCol w="640778">
                  <a:extLst>
                    <a:ext uri="{9D8B030D-6E8A-4147-A177-3AD203B41FA5}">
                      <a16:colId xmlns:a16="http://schemas.microsoft.com/office/drawing/2014/main" val="1277989782"/>
                    </a:ext>
                  </a:extLst>
                </a:gridCol>
              </a:tblGrid>
              <a:tr h="3818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Dog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Weight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Obese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Left (≤14)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Right (&gt;14)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3388933"/>
                  </a:ext>
                </a:extLst>
              </a:tr>
              <a:tr h="224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D1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-</a:t>
                      </a:r>
                      <a:endParaRPr lang="en-GB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0101129"/>
                  </a:ext>
                </a:extLst>
              </a:tr>
              <a:tr h="224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D2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-</a:t>
                      </a:r>
                      <a:endParaRPr lang="en-GB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4619035"/>
                  </a:ext>
                </a:extLst>
              </a:tr>
              <a:tr h="224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D3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-</a:t>
                      </a:r>
                      <a:endParaRPr lang="en-GB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9826053"/>
                  </a:ext>
                </a:extLst>
              </a:tr>
              <a:tr h="224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D4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-</a:t>
                      </a:r>
                      <a:endParaRPr lang="en-GB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9885487"/>
                  </a:ext>
                </a:extLst>
              </a:tr>
              <a:tr h="224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D5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-</a:t>
                      </a:r>
                      <a:endParaRPr lang="en-GB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194803"/>
                  </a:ext>
                </a:extLst>
              </a:tr>
              <a:tr h="224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D6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-</a:t>
                      </a:r>
                      <a:endParaRPr lang="en-GB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379204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1D0FB11-A598-3879-46E0-7976966858B0}"/>
              </a:ext>
            </a:extLst>
          </p:cNvPr>
          <p:cNvSpPr txBox="1"/>
          <p:nvPr/>
        </p:nvSpPr>
        <p:spPr>
          <a:xfrm>
            <a:off x="5146117" y="383695"/>
            <a:ext cx="2387213" cy="338554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/>
              <a:t>Split 2: Is weight ≤ 14 kg?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D8C755-C6CE-BBF8-0128-018FCAA141FB}"/>
              </a:ext>
            </a:extLst>
          </p:cNvPr>
          <p:cNvSpPr txBox="1"/>
          <p:nvPr/>
        </p:nvSpPr>
        <p:spPr>
          <a:xfrm>
            <a:off x="4737779" y="2924452"/>
            <a:ext cx="3203890" cy="7386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Tree says :</a:t>
            </a:r>
          </a:p>
          <a:p>
            <a:r>
              <a:rPr lang="en-IN" sz="1400" dirty="0"/>
              <a:t>When weight &lt;= 14, P(Obese) = 0/3 = 0</a:t>
            </a:r>
          </a:p>
          <a:p>
            <a:r>
              <a:rPr lang="en-IN" sz="1400" dirty="0"/>
              <a:t>When weight &gt; 14, P(Obese) = 3/3 = 1</a:t>
            </a:r>
            <a:endParaRPr lang="en-GB" sz="1400" dirty="0"/>
          </a:p>
        </p:txBody>
      </p:sp>
      <p:graphicFrame>
        <p:nvGraphicFramePr>
          <p:cNvPr id="11" name="Content Placeholder 5">
            <a:extLst>
              <a:ext uri="{FF2B5EF4-FFF2-40B4-BE49-F238E27FC236}">
                <a16:creationId xmlns:a16="http://schemas.microsoft.com/office/drawing/2014/main" id="{912BCC02-13B0-ADFD-AF15-06BB6AF0EC8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6500731"/>
              </p:ext>
            </p:extLst>
          </p:nvPr>
        </p:nvGraphicFramePr>
        <p:xfrm>
          <a:off x="8003327" y="806092"/>
          <a:ext cx="3203890" cy="210312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640778">
                  <a:extLst>
                    <a:ext uri="{9D8B030D-6E8A-4147-A177-3AD203B41FA5}">
                      <a16:colId xmlns:a16="http://schemas.microsoft.com/office/drawing/2014/main" val="3424128733"/>
                    </a:ext>
                  </a:extLst>
                </a:gridCol>
                <a:gridCol w="640778">
                  <a:extLst>
                    <a:ext uri="{9D8B030D-6E8A-4147-A177-3AD203B41FA5}">
                      <a16:colId xmlns:a16="http://schemas.microsoft.com/office/drawing/2014/main" val="2572653747"/>
                    </a:ext>
                  </a:extLst>
                </a:gridCol>
                <a:gridCol w="640778">
                  <a:extLst>
                    <a:ext uri="{9D8B030D-6E8A-4147-A177-3AD203B41FA5}">
                      <a16:colId xmlns:a16="http://schemas.microsoft.com/office/drawing/2014/main" val="1460886761"/>
                    </a:ext>
                  </a:extLst>
                </a:gridCol>
                <a:gridCol w="640778">
                  <a:extLst>
                    <a:ext uri="{9D8B030D-6E8A-4147-A177-3AD203B41FA5}">
                      <a16:colId xmlns:a16="http://schemas.microsoft.com/office/drawing/2014/main" val="4096754459"/>
                    </a:ext>
                  </a:extLst>
                </a:gridCol>
                <a:gridCol w="640778">
                  <a:extLst>
                    <a:ext uri="{9D8B030D-6E8A-4147-A177-3AD203B41FA5}">
                      <a16:colId xmlns:a16="http://schemas.microsoft.com/office/drawing/2014/main" val="1277989782"/>
                    </a:ext>
                  </a:extLst>
                </a:gridCol>
              </a:tblGrid>
              <a:tr h="3818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Dog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Weight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Obese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Left (≤13)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Right (&gt;13)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3388933"/>
                  </a:ext>
                </a:extLst>
              </a:tr>
              <a:tr h="224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D1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-</a:t>
                      </a:r>
                      <a:endParaRPr lang="en-GB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0101129"/>
                  </a:ext>
                </a:extLst>
              </a:tr>
              <a:tr h="224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D2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-</a:t>
                      </a:r>
                      <a:endParaRPr lang="en-GB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4619035"/>
                  </a:ext>
                </a:extLst>
              </a:tr>
              <a:tr h="224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D3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-</a:t>
                      </a:r>
                      <a:endParaRPr lang="en-GB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9826053"/>
                  </a:ext>
                </a:extLst>
              </a:tr>
              <a:tr h="224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D4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-</a:t>
                      </a:r>
                      <a:endParaRPr lang="en-GB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9885487"/>
                  </a:ext>
                </a:extLst>
              </a:tr>
              <a:tr h="224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D5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-</a:t>
                      </a:r>
                      <a:endParaRPr lang="en-GB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194803"/>
                  </a:ext>
                </a:extLst>
              </a:tr>
              <a:tr h="224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D6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-</a:t>
                      </a:r>
                      <a:endParaRPr lang="en-GB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3792046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CFF98308-227C-1264-D635-B3354A4293C0}"/>
              </a:ext>
            </a:extLst>
          </p:cNvPr>
          <p:cNvSpPr txBox="1"/>
          <p:nvPr/>
        </p:nvSpPr>
        <p:spPr>
          <a:xfrm>
            <a:off x="8411665" y="383695"/>
            <a:ext cx="2387213" cy="338554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/>
              <a:t>Split 3: Is weight ≤ 12 kg?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0916A0-6AC5-7F77-3514-9FA9E9A96FBE}"/>
              </a:ext>
            </a:extLst>
          </p:cNvPr>
          <p:cNvSpPr txBox="1"/>
          <p:nvPr/>
        </p:nvSpPr>
        <p:spPr>
          <a:xfrm>
            <a:off x="8003327" y="2924452"/>
            <a:ext cx="3203890" cy="7386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Tree says :</a:t>
            </a:r>
          </a:p>
          <a:p>
            <a:r>
              <a:rPr lang="en-IN" sz="1400" dirty="0"/>
              <a:t>When weight &lt;= 12, P(Obese) = 0/3 = 0</a:t>
            </a:r>
          </a:p>
          <a:p>
            <a:r>
              <a:rPr lang="en-IN" sz="1400" dirty="0"/>
              <a:t>When weight &gt; 12, P(Obese) = 3/3 = 1</a:t>
            </a:r>
            <a:endParaRPr lang="en-GB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0112DF-7340-59FF-D1DA-D938287B129B}"/>
              </a:ext>
            </a:extLst>
          </p:cNvPr>
          <p:cNvSpPr txBox="1"/>
          <p:nvPr/>
        </p:nvSpPr>
        <p:spPr>
          <a:xfrm>
            <a:off x="6953105" y="6276278"/>
            <a:ext cx="3125365" cy="30777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/>
              <a:t>Prediction for a new dog (weight = 14)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C33CFDBD-9278-C6B6-DA3D-B01234E646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785144"/>
              </p:ext>
            </p:extLst>
          </p:nvPr>
        </p:nvGraphicFramePr>
        <p:xfrm>
          <a:off x="6953105" y="4032254"/>
          <a:ext cx="2784208" cy="1219200"/>
        </p:xfrm>
        <a:graphic>
          <a:graphicData uri="http://schemas.openxmlformats.org/drawingml/2006/table">
            <a:tbl>
              <a:tblPr firstRow="1">
                <a:tableStyleId>{793D81CF-94F2-401A-BA57-92F5A7B2D0C5}</a:tableStyleId>
              </a:tblPr>
              <a:tblGrid>
                <a:gridCol w="1392104">
                  <a:extLst>
                    <a:ext uri="{9D8B030D-6E8A-4147-A177-3AD203B41FA5}">
                      <a16:colId xmlns:a16="http://schemas.microsoft.com/office/drawing/2014/main" val="1210086484"/>
                    </a:ext>
                  </a:extLst>
                </a:gridCol>
                <a:gridCol w="1392104">
                  <a:extLst>
                    <a:ext uri="{9D8B030D-6E8A-4147-A177-3AD203B41FA5}">
                      <a16:colId xmlns:a16="http://schemas.microsoft.com/office/drawing/2014/main" val="1627989634"/>
                    </a:ext>
                  </a:extLst>
                </a:gridCol>
              </a:tblGrid>
              <a:tr h="2471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Tree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Prediction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5285242"/>
                  </a:ext>
                </a:extLst>
              </a:tr>
              <a:tr h="2471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Tree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Obese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5629043"/>
                  </a:ext>
                </a:extLst>
              </a:tr>
              <a:tr h="2471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Tree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Not obese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0495631"/>
                  </a:ext>
                </a:extLst>
              </a:tr>
              <a:tr h="2471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Tree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Obese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526222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CCC9C074-4A78-2CF9-35BC-30DAE49F6B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0802742"/>
              </p:ext>
            </p:extLst>
          </p:nvPr>
        </p:nvGraphicFramePr>
        <p:xfrm>
          <a:off x="3642766" y="4032254"/>
          <a:ext cx="3125366" cy="1219200"/>
        </p:xfrm>
        <a:graphic>
          <a:graphicData uri="http://schemas.openxmlformats.org/drawingml/2006/table">
            <a:tbl>
              <a:tblPr firstRow="1">
                <a:tableStyleId>{10A1B5D5-9B99-4C35-A422-299274C87663}</a:tableStyleId>
              </a:tblPr>
              <a:tblGrid>
                <a:gridCol w="880373">
                  <a:extLst>
                    <a:ext uri="{9D8B030D-6E8A-4147-A177-3AD203B41FA5}">
                      <a16:colId xmlns:a16="http://schemas.microsoft.com/office/drawing/2014/main" val="1210086484"/>
                    </a:ext>
                  </a:extLst>
                </a:gridCol>
                <a:gridCol w="2244993">
                  <a:extLst>
                    <a:ext uri="{9D8B030D-6E8A-4147-A177-3AD203B41FA5}">
                      <a16:colId xmlns:a16="http://schemas.microsoft.com/office/drawing/2014/main" val="1627989634"/>
                    </a:ext>
                  </a:extLst>
                </a:gridCol>
              </a:tblGrid>
              <a:tr h="2471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Tree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Prediction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5285242"/>
                  </a:ext>
                </a:extLst>
              </a:tr>
              <a:tr h="2471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Tree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weight &lt;= 13 -&gt; 0, else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5629043"/>
                  </a:ext>
                </a:extLst>
              </a:tr>
              <a:tr h="2471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Tree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weight &lt;= 14 -&gt; 0, else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0495631"/>
                  </a:ext>
                </a:extLst>
              </a:tr>
              <a:tr h="2471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Tree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weight &lt;= 12 -&gt; 0, else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5262220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47E22E66-315C-B2D5-80B7-B5D08479DE31}"/>
              </a:ext>
            </a:extLst>
          </p:cNvPr>
          <p:cNvSpPr txBox="1"/>
          <p:nvPr/>
        </p:nvSpPr>
        <p:spPr>
          <a:xfrm>
            <a:off x="584296" y="6276278"/>
            <a:ext cx="2151923" cy="30777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/>
              <a:t>Original data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25908C-5B5E-7159-3392-30C4C1888750}"/>
              </a:ext>
            </a:extLst>
          </p:cNvPr>
          <p:cNvSpPr txBox="1"/>
          <p:nvPr/>
        </p:nvSpPr>
        <p:spPr>
          <a:xfrm>
            <a:off x="4070155" y="6276278"/>
            <a:ext cx="2151923" cy="30777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/>
              <a:t>Random Forest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AF28178-7076-541E-655A-4F801775F996}"/>
                  </a:ext>
                </a:extLst>
              </p:cNvPr>
              <p:cNvSpPr txBox="1"/>
              <p:nvPr/>
            </p:nvSpPr>
            <p:spPr>
              <a:xfrm>
                <a:off x="10078470" y="4032254"/>
                <a:ext cx="1810185" cy="147527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400" b="1" dirty="0">
                    <a:solidFill>
                      <a:srgbClr val="FF0000"/>
                    </a:solidFill>
                  </a:rPr>
                  <a:t>Final Random Forest Output</a:t>
                </a:r>
              </a:p>
              <a:p>
                <a:pPr algn="ctr"/>
                <a:endParaRPr lang="en-GB" sz="1400" b="1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GB" sz="1400" dirty="0">
                    <a:solidFill>
                      <a:srgbClr val="FF0000"/>
                    </a:solidFill>
                  </a:rPr>
                  <a:t>P(Obese)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GB" sz="1400" dirty="0">
                    <a:solidFill>
                      <a:srgbClr val="FF0000"/>
                    </a:solidFill>
                  </a:rPr>
                  <a:t> ≈ 0.66</a:t>
                </a:r>
              </a:p>
              <a:p>
                <a:pPr algn="ctr"/>
                <a:endParaRPr lang="en-GB" sz="1400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GB" sz="1400" dirty="0">
                    <a:solidFill>
                      <a:srgbClr val="FF0000"/>
                    </a:solidFill>
                  </a:rPr>
                  <a:t>66%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AF28178-7076-541E-655A-4F801775F9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8470" y="4032254"/>
                <a:ext cx="1810185" cy="1475276"/>
              </a:xfrm>
              <a:prstGeom prst="rect">
                <a:avLst/>
              </a:prstGeom>
              <a:blipFill>
                <a:blip r:embed="rId2"/>
                <a:stretch>
                  <a:fillRect t="-413" b="-37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Arrow: Up 19">
            <a:extLst>
              <a:ext uri="{FF2B5EF4-FFF2-40B4-BE49-F238E27FC236}">
                <a16:creationId xmlns:a16="http://schemas.microsoft.com/office/drawing/2014/main" id="{70583CC4-696F-345C-7035-771F206C1BC2}"/>
              </a:ext>
            </a:extLst>
          </p:cNvPr>
          <p:cNvSpPr/>
          <p:nvPr/>
        </p:nvSpPr>
        <p:spPr>
          <a:xfrm>
            <a:off x="1814840" y="3735910"/>
            <a:ext cx="286186" cy="223549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Arrow: Up 20">
            <a:extLst>
              <a:ext uri="{FF2B5EF4-FFF2-40B4-BE49-F238E27FC236}">
                <a16:creationId xmlns:a16="http://schemas.microsoft.com/office/drawing/2014/main" id="{EEE5AD32-391A-A588-8B5C-117C64AE065A}"/>
              </a:ext>
            </a:extLst>
          </p:cNvPr>
          <p:cNvSpPr/>
          <p:nvPr/>
        </p:nvSpPr>
        <p:spPr>
          <a:xfrm rot="10800000">
            <a:off x="5345634" y="3747596"/>
            <a:ext cx="286186" cy="223549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7421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A33A1-DA66-CCCE-F229-F658AF89E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K-Nearest Neighbours (KNN)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2FAAF-133F-DECD-4284-CACED16F72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7159631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 </a:t>
            </a:r>
            <a:r>
              <a:rPr lang="en-US" b="1" dirty="0"/>
              <a:t>supervised machine learning algorithm</a:t>
            </a:r>
            <a:r>
              <a:rPr lang="en-US" dirty="0"/>
              <a:t> used for </a:t>
            </a:r>
            <a:r>
              <a:rPr lang="en-US" b="1" dirty="0"/>
              <a:t>classification and regression</a:t>
            </a:r>
            <a:r>
              <a:rPr lang="en-US" dirty="0"/>
              <a:t> based on similarity</a:t>
            </a:r>
          </a:p>
          <a:p>
            <a:r>
              <a:rPr lang="en-US" dirty="0"/>
              <a:t>Goal</a:t>
            </a:r>
          </a:p>
          <a:p>
            <a:pPr lvl="1"/>
            <a:r>
              <a:rPr lang="en-US" dirty="0"/>
              <a:t>Predict the label of a new data point</a:t>
            </a:r>
          </a:p>
          <a:p>
            <a:pPr lvl="1"/>
            <a:r>
              <a:rPr lang="en-US" dirty="0"/>
              <a:t>Look at the K closest data points</a:t>
            </a:r>
          </a:p>
          <a:p>
            <a:pPr lvl="1"/>
            <a:r>
              <a:rPr lang="en-US" dirty="0"/>
              <a:t>Decide based on majority vote (classification)</a:t>
            </a:r>
          </a:p>
          <a:p>
            <a:r>
              <a:rPr lang="en-US" dirty="0"/>
              <a:t>Working</a:t>
            </a:r>
          </a:p>
          <a:p>
            <a:pPr lvl="1"/>
            <a:r>
              <a:rPr lang="en-US" dirty="0"/>
              <a:t>Choose K (number of </a:t>
            </a:r>
            <a:r>
              <a:rPr lang="en-US" dirty="0" err="1"/>
              <a:t>neighbours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Measure distance from the new point to all training points</a:t>
            </a:r>
          </a:p>
          <a:p>
            <a:pPr lvl="1"/>
            <a:r>
              <a:rPr lang="en-US" dirty="0"/>
              <a:t>Select the K nearest </a:t>
            </a:r>
            <a:r>
              <a:rPr lang="en-US" dirty="0" err="1"/>
              <a:t>neighbours</a:t>
            </a:r>
            <a:endParaRPr lang="en-US" dirty="0"/>
          </a:p>
          <a:p>
            <a:pPr lvl="1"/>
            <a:r>
              <a:rPr lang="en-US" dirty="0"/>
              <a:t>Assign the most common class among them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20C454-15DA-C9AF-CD06-BE58C7A5C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7830" y="1825625"/>
            <a:ext cx="4081094" cy="4295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910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3242D-CEA5-0124-F655-671F336B8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144" y="136586"/>
            <a:ext cx="3217270" cy="837617"/>
          </a:xfrm>
        </p:spPr>
        <p:txBody>
          <a:bodyPr>
            <a:noAutofit/>
          </a:bodyPr>
          <a:lstStyle/>
          <a:p>
            <a:r>
              <a:rPr lang="en-IN" sz="3200" dirty="0"/>
              <a:t>K-Nearest Neighbours (KNN)</a:t>
            </a:r>
            <a:endParaRPr lang="en-GB" sz="3200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1CA6DDC7-1215-6B8F-94D0-8299D775F4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6290735"/>
              </p:ext>
            </p:extLst>
          </p:nvPr>
        </p:nvGraphicFramePr>
        <p:xfrm>
          <a:off x="216965" y="4675257"/>
          <a:ext cx="3489496" cy="213360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872374">
                  <a:extLst>
                    <a:ext uri="{9D8B030D-6E8A-4147-A177-3AD203B41FA5}">
                      <a16:colId xmlns:a16="http://schemas.microsoft.com/office/drawing/2014/main" val="1962405"/>
                    </a:ext>
                  </a:extLst>
                </a:gridCol>
                <a:gridCol w="872374">
                  <a:extLst>
                    <a:ext uri="{9D8B030D-6E8A-4147-A177-3AD203B41FA5}">
                      <a16:colId xmlns:a16="http://schemas.microsoft.com/office/drawing/2014/main" val="2052798113"/>
                    </a:ext>
                  </a:extLst>
                </a:gridCol>
                <a:gridCol w="872374">
                  <a:extLst>
                    <a:ext uri="{9D8B030D-6E8A-4147-A177-3AD203B41FA5}">
                      <a16:colId xmlns:a16="http://schemas.microsoft.com/office/drawing/2014/main" val="898958121"/>
                    </a:ext>
                  </a:extLst>
                </a:gridCol>
                <a:gridCol w="872374">
                  <a:extLst>
                    <a:ext uri="{9D8B030D-6E8A-4147-A177-3AD203B41FA5}">
                      <a16:colId xmlns:a16="http://schemas.microsoft.com/office/drawing/2014/main" val="120610361"/>
                    </a:ext>
                  </a:extLst>
                </a:gridCol>
              </a:tblGrid>
              <a:tr h="2923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Dog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Weight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Obese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Distance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7499775"/>
                  </a:ext>
                </a:extLst>
              </a:tr>
              <a:tr h="2923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6</a:t>
                      </a:r>
                      <a:endParaRPr lang="en-GB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9832505"/>
                  </a:ext>
                </a:extLst>
              </a:tr>
              <a:tr h="2923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5554093"/>
                  </a:ext>
                </a:extLst>
              </a:tr>
              <a:tr h="2923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6132073"/>
                  </a:ext>
                </a:extLst>
              </a:tr>
              <a:tr h="2923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4272985"/>
                  </a:ext>
                </a:extLst>
              </a:tr>
              <a:tr h="2923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5619064"/>
                  </a:ext>
                </a:extLst>
              </a:tr>
              <a:tr h="2923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491922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B3FA9E4-F8A7-EA5F-C318-6724D7857A7B}"/>
              </a:ext>
            </a:extLst>
          </p:cNvPr>
          <p:cNvSpPr txBox="1"/>
          <p:nvPr/>
        </p:nvSpPr>
        <p:spPr>
          <a:xfrm>
            <a:off x="3371414" y="320519"/>
            <a:ext cx="4181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“You are the average of your </a:t>
            </a:r>
            <a:r>
              <a:rPr lang="en-US" b="1" dirty="0" err="1">
                <a:solidFill>
                  <a:srgbClr val="FF0000"/>
                </a:solidFill>
              </a:rPr>
              <a:t>neighbours</a:t>
            </a:r>
            <a:r>
              <a:rPr lang="en-US" b="1" dirty="0">
                <a:solidFill>
                  <a:srgbClr val="FF0000"/>
                </a:solidFill>
              </a:rPr>
              <a:t>”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7FBE4B-090E-0B79-C0E1-F25FAAB3E29D}"/>
              </a:ext>
            </a:extLst>
          </p:cNvPr>
          <p:cNvSpPr txBox="1"/>
          <p:nvPr/>
        </p:nvSpPr>
        <p:spPr>
          <a:xfrm>
            <a:off x="216965" y="3321896"/>
            <a:ext cx="3440635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b="1" dirty="0"/>
              <a:t>Step 1: Choose K</a:t>
            </a:r>
            <a:r>
              <a:rPr lang="en-IN" sz="1400" dirty="0"/>
              <a:t> (e.g. 3)</a:t>
            </a:r>
          </a:p>
          <a:p>
            <a:r>
              <a:rPr lang="en-IN" sz="1400" dirty="0"/>
              <a:t>Meaning: Look at the 3 closest dogs</a:t>
            </a:r>
            <a:endParaRPr lang="en-GB" sz="1400" dirty="0"/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382AFEAD-2340-1A88-01D0-79AAE88BFE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40224069"/>
              </p:ext>
            </p:extLst>
          </p:nvPr>
        </p:nvGraphicFramePr>
        <p:xfrm>
          <a:off x="216966" y="1091256"/>
          <a:ext cx="3154448" cy="21336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837037">
                  <a:extLst>
                    <a:ext uri="{9D8B030D-6E8A-4147-A177-3AD203B41FA5}">
                      <a16:colId xmlns:a16="http://schemas.microsoft.com/office/drawing/2014/main" val="2992704106"/>
                    </a:ext>
                  </a:extLst>
                </a:gridCol>
                <a:gridCol w="1060983">
                  <a:extLst>
                    <a:ext uri="{9D8B030D-6E8A-4147-A177-3AD203B41FA5}">
                      <a16:colId xmlns:a16="http://schemas.microsoft.com/office/drawing/2014/main" val="1247799351"/>
                    </a:ext>
                  </a:extLst>
                </a:gridCol>
                <a:gridCol w="1256428">
                  <a:extLst>
                    <a:ext uri="{9D8B030D-6E8A-4147-A177-3AD203B41FA5}">
                      <a16:colId xmlns:a16="http://schemas.microsoft.com/office/drawing/2014/main" val="41255203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Dog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Weight (kg)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Obese (y)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7496026"/>
                  </a:ext>
                </a:extLst>
              </a:tr>
              <a:tr h="272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D1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 (Not obese)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4649539"/>
                  </a:ext>
                </a:extLst>
              </a:tr>
              <a:tr h="272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D2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7512936"/>
                  </a:ext>
                </a:extLst>
              </a:tr>
              <a:tr h="272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D3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1504720"/>
                  </a:ext>
                </a:extLst>
              </a:tr>
              <a:tr h="272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D4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 (Obese)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6493873"/>
                  </a:ext>
                </a:extLst>
              </a:tr>
              <a:tr h="272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D5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7706722"/>
                  </a:ext>
                </a:extLst>
              </a:tr>
              <a:tr h="272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D6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97076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188A0A2-EAE4-205D-D134-3CB6E0A2EF64}"/>
              </a:ext>
            </a:extLst>
          </p:cNvPr>
          <p:cNvSpPr txBox="1"/>
          <p:nvPr/>
        </p:nvSpPr>
        <p:spPr>
          <a:xfrm>
            <a:off x="216965" y="3916079"/>
            <a:ext cx="3440635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b="1" dirty="0"/>
              <a:t>Step 2: A new dog arrives</a:t>
            </a:r>
            <a:r>
              <a:rPr lang="en-IN" sz="1400" dirty="0"/>
              <a:t> (weight = 14 kg)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508852-BC93-FC26-A2AB-201E659D6CAA}"/>
              </a:ext>
            </a:extLst>
          </p:cNvPr>
          <p:cNvSpPr txBox="1"/>
          <p:nvPr/>
        </p:nvSpPr>
        <p:spPr>
          <a:xfrm>
            <a:off x="216965" y="4316608"/>
            <a:ext cx="3440635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b="1" dirty="0"/>
              <a:t>Step 3: Compute distances to all dogs</a:t>
            </a:r>
            <a:endParaRPr lang="en-IN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30E81E-662C-D7FF-D9E9-04092A7D3937}"/>
              </a:ext>
            </a:extLst>
          </p:cNvPr>
          <p:cNvSpPr txBox="1"/>
          <p:nvPr/>
        </p:nvSpPr>
        <p:spPr>
          <a:xfrm>
            <a:off x="4375682" y="1062765"/>
            <a:ext cx="3440635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b="1" dirty="0"/>
              <a:t>Step 4: Pick 3 nearest neighbours</a:t>
            </a:r>
            <a:endParaRPr lang="en-IN" sz="1400" dirty="0"/>
          </a:p>
          <a:p>
            <a:r>
              <a:rPr lang="en-IN" sz="1400" dirty="0"/>
              <a:t>Sort by distance</a:t>
            </a:r>
            <a:endParaRPr lang="en-GB" sz="1400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2226625-F17A-94C8-243A-AB93C092A7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526273"/>
              </p:ext>
            </p:extLst>
          </p:nvPr>
        </p:nvGraphicFramePr>
        <p:xfrm>
          <a:off x="4375682" y="1613431"/>
          <a:ext cx="3440636" cy="1219200"/>
        </p:xfrm>
        <a:graphic>
          <a:graphicData uri="http://schemas.openxmlformats.org/drawingml/2006/table">
            <a:tbl>
              <a:tblPr>
                <a:tableStyleId>{8FD4443E-F989-4FC4-A0C8-D5A2AF1F390B}</a:tableStyleId>
              </a:tblPr>
              <a:tblGrid>
                <a:gridCol w="1720318">
                  <a:extLst>
                    <a:ext uri="{9D8B030D-6E8A-4147-A177-3AD203B41FA5}">
                      <a16:colId xmlns:a16="http://schemas.microsoft.com/office/drawing/2014/main" val="2600094225"/>
                    </a:ext>
                  </a:extLst>
                </a:gridCol>
                <a:gridCol w="1720318">
                  <a:extLst>
                    <a:ext uri="{9D8B030D-6E8A-4147-A177-3AD203B41FA5}">
                      <a16:colId xmlns:a16="http://schemas.microsoft.com/office/drawing/2014/main" val="34768297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Dog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Obese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30833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D4 (15)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95294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D3 (12)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26803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D2 (10)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8445928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FCF71FAB-0DF6-F545-D287-EDF4355ACB96}"/>
              </a:ext>
            </a:extLst>
          </p:cNvPr>
          <p:cNvSpPr txBox="1"/>
          <p:nvPr/>
        </p:nvSpPr>
        <p:spPr>
          <a:xfrm>
            <a:off x="4375681" y="2905780"/>
            <a:ext cx="3440635" cy="7386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b="1" dirty="0"/>
              <a:t>Step 5: Voting</a:t>
            </a:r>
            <a:endParaRPr lang="en-IN" sz="1400" dirty="0"/>
          </a:p>
          <a:p>
            <a:r>
              <a:rPr lang="en-IN" sz="1400" dirty="0"/>
              <a:t>Obese = 1 vote, Not obese = 2 votes</a:t>
            </a:r>
          </a:p>
          <a:p>
            <a:r>
              <a:rPr lang="en-IN" sz="1400" dirty="0"/>
              <a:t>Final prediction: Not obese</a:t>
            </a:r>
            <a:endParaRPr lang="en-GB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C097217-08C1-0008-5F05-147C786DE094}"/>
                  </a:ext>
                </a:extLst>
              </p:cNvPr>
              <p:cNvSpPr txBox="1"/>
              <p:nvPr/>
            </p:nvSpPr>
            <p:spPr>
              <a:xfrm>
                <a:off x="4375680" y="3717593"/>
                <a:ext cx="3440635" cy="61350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IN" sz="1400" b="1" dirty="0"/>
                  <a:t>Step 6: Probability interpretation</a:t>
                </a:r>
                <a:endParaRPr lang="en-IN" sz="1400" dirty="0"/>
              </a:p>
              <a:p>
                <a:r>
                  <a:rPr lang="en-GB" sz="1400" dirty="0">
                    <a:solidFill>
                      <a:schemeClr val="tx1"/>
                    </a:solidFill>
                  </a:rPr>
                  <a:t>P(Obese)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GB" sz="1400" dirty="0">
                    <a:solidFill>
                      <a:schemeClr val="tx1"/>
                    </a:solidFill>
                  </a:rPr>
                  <a:t> ≈ 0.33</a:t>
                </a:r>
                <a:endParaRPr lang="en-GB" sz="1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C097217-08C1-0008-5F05-147C786DE0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5680" y="3717593"/>
                <a:ext cx="3440635" cy="613501"/>
              </a:xfrm>
              <a:prstGeom prst="rect">
                <a:avLst/>
              </a:prstGeom>
              <a:blipFill>
                <a:blip r:embed="rId2"/>
                <a:stretch>
                  <a:fillRect l="-532" t="-2000" b="-3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D986D8FE-A7E0-17D2-CCEB-2ECDF69C53A6}"/>
              </a:ext>
            </a:extLst>
          </p:cNvPr>
          <p:cNvSpPr txBox="1"/>
          <p:nvPr/>
        </p:nvSpPr>
        <p:spPr>
          <a:xfrm>
            <a:off x="8290384" y="1062765"/>
            <a:ext cx="3440635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b="1" dirty="0"/>
              <a:t>What if K = 5?</a:t>
            </a:r>
            <a:endParaRPr lang="en-IN" sz="1400" dirty="0"/>
          </a:p>
          <a:p>
            <a:r>
              <a:rPr lang="en-IN" sz="1400" dirty="0"/>
              <a:t>Meaning: Look at 5 nearest dogs</a:t>
            </a:r>
            <a:endParaRPr lang="en-GB" sz="1400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B09331F7-4297-7006-7615-7C75512DB9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9133700"/>
              </p:ext>
            </p:extLst>
          </p:nvPr>
        </p:nvGraphicFramePr>
        <p:xfrm>
          <a:off x="8632117" y="1613431"/>
          <a:ext cx="2061478" cy="182880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1030739">
                  <a:extLst>
                    <a:ext uri="{9D8B030D-6E8A-4147-A177-3AD203B41FA5}">
                      <a16:colId xmlns:a16="http://schemas.microsoft.com/office/drawing/2014/main" val="3160939910"/>
                    </a:ext>
                  </a:extLst>
                </a:gridCol>
                <a:gridCol w="1030739">
                  <a:extLst>
                    <a:ext uri="{9D8B030D-6E8A-4147-A177-3AD203B41FA5}">
                      <a16:colId xmlns:a16="http://schemas.microsoft.com/office/drawing/2014/main" val="535562131"/>
                    </a:ext>
                  </a:extLst>
                </a:gridCol>
              </a:tblGrid>
              <a:tr h="285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Dog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Obese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8200223"/>
                  </a:ext>
                </a:extLst>
              </a:tr>
              <a:tr h="285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8104655"/>
                  </a:ext>
                </a:extLst>
              </a:tr>
              <a:tr h="285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7225917"/>
                  </a:ext>
                </a:extLst>
              </a:tr>
              <a:tr h="285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5518192"/>
                  </a:ext>
                </a:extLst>
              </a:tr>
              <a:tr h="285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0889803"/>
                  </a:ext>
                </a:extLst>
              </a:tr>
              <a:tr h="285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4823793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B3332ABE-A096-8E09-0B3D-22669F664653}"/>
              </a:ext>
            </a:extLst>
          </p:cNvPr>
          <p:cNvSpPr txBox="1"/>
          <p:nvPr/>
        </p:nvSpPr>
        <p:spPr>
          <a:xfrm>
            <a:off x="8290384" y="3485192"/>
            <a:ext cx="3440635" cy="7386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b="1" dirty="0"/>
              <a:t>Voting</a:t>
            </a:r>
            <a:endParaRPr lang="en-IN" sz="1400" dirty="0"/>
          </a:p>
          <a:p>
            <a:r>
              <a:rPr lang="en-IN" sz="1400" dirty="0"/>
              <a:t>Obese = 2 vote, Not obese = 3 votes</a:t>
            </a:r>
          </a:p>
          <a:p>
            <a:r>
              <a:rPr lang="en-IN" sz="1400" dirty="0"/>
              <a:t>Final prediction: Not obese</a:t>
            </a:r>
            <a:endParaRPr lang="en-GB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E0110A8-96A2-BBD2-C1F8-9C0A063641FE}"/>
                  </a:ext>
                </a:extLst>
              </p:cNvPr>
              <p:cNvSpPr txBox="1"/>
              <p:nvPr/>
            </p:nvSpPr>
            <p:spPr>
              <a:xfrm>
                <a:off x="8290383" y="4268297"/>
                <a:ext cx="3440635" cy="61350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IN" sz="1400" b="1" dirty="0"/>
                  <a:t>Probability interpretation</a:t>
                </a:r>
                <a:endParaRPr lang="en-IN" sz="1400" dirty="0"/>
              </a:p>
              <a:p>
                <a:r>
                  <a:rPr lang="en-GB" sz="1400" dirty="0">
                    <a:solidFill>
                      <a:schemeClr val="tx1"/>
                    </a:solidFill>
                  </a:rPr>
                  <a:t>P(Obese)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GB" sz="1400" dirty="0">
                    <a:solidFill>
                      <a:schemeClr val="tx1"/>
                    </a:solidFill>
                  </a:rPr>
                  <a:t> ≈ 0.40</a:t>
                </a:r>
                <a:endParaRPr lang="en-GB" sz="1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E0110A8-96A2-BBD2-C1F8-9C0A063641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0383" y="4268297"/>
                <a:ext cx="3440635" cy="613501"/>
              </a:xfrm>
              <a:prstGeom prst="rect">
                <a:avLst/>
              </a:prstGeom>
              <a:blipFill>
                <a:blip r:embed="rId3"/>
                <a:stretch>
                  <a:fillRect l="-532" t="-1980" b="-29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DF45A014-2902-D423-5D74-C52914308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6896075"/>
              </p:ext>
            </p:extLst>
          </p:nvPr>
        </p:nvGraphicFramePr>
        <p:xfrm>
          <a:off x="4190415" y="5648511"/>
          <a:ext cx="3811164" cy="914400"/>
        </p:xfrm>
        <a:graphic>
          <a:graphicData uri="http://schemas.openxmlformats.org/drawingml/2006/table">
            <a:tbl>
              <a:tblPr firstRow="1">
                <a:tableStyleId>{125E5076-3810-47DD-B79F-674D7AD40C01}</a:tableStyleId>
              </a:tblPr>
              <a:tblGrid>
                <a:gridCol w="1905582">
                  <a:extLst>
                    <a:ext uri="{9D8B030D-6E8A-4147-A177-3AD203B41FA5}">
                      <a16:colId xmlns:a16="http://schemas.microsoft.com/office/drawing/2014/main" val="1992201352"/>
                    </a:ext>
                  </a:extLst>
                </a:gridCol>
                <a:gridCol w="1905582">
                  <a:extLst>
                    <a:ext uri="{9D8B030D-6E8A-4147-A177-3AD203B41FA5}">
                      <a16:colId xmlns:a16="http://schemas.microsoft.com/office/drawing/2014/main" val="20563559"/>
                    </a:ext>
                  </a:extLst>
                </a:gridCol>
              </a:tblGrid>
              <a:tr h="204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Behavior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6959049"/>
                  </a:ext>
                </a:extLst>
              </a:tr>
              <a:tr h="204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Small K (e.g. 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Very noisy, overfits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2887871"/>
                  </a:ext>
                </a:extLst>
              </a:tr>
              <a:tr h="204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Large 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Smooth, may underfit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2424487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92D20DD3-7B9C-4034-4601-25B0A14693B1}"/>
              </a:ext>
            </a:extLst>
          </p:cNvPr>
          <p:cNvSpPr txBox="1"/>
          <p:nvPr/>
        </p:nvSpPr>
        <p:spPr>
          <a:xfrm>
            <a:off x="8157759" y="5628657"/>
            <a:ext cx="3440635" cy="9541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b="1" dirty="0"/>
              <a:t>How KNN learns? It does not!</a:t>
            </a:r>
          </a:p>
          <a:p>
            <a:r>
              <a:rPr lang="en-GB" sz="1400" dirty="0"/>
              <a:t>Training = Storing the data</a:t>
            </a:r>
          </a:p>
          <a:p>
            <a:r>
              <a:rPr lang="en-GB" sz="1400" dirty="0"/>
              <a:t>Prediction = Computing the distances</a:t>
            </a:r>
          </a:p>
          <a:p>
            <a:r>
              <a:rPr lang="en-GB" sz="1400" dirty="0"/>
              <a:t>Called a “lazy learner”</a:t>
            </a:r>
          </a:p>
        </p:txBody>
      </p:sp>
    </p:spTree>
    <p:extLst>
      <p:ext uri="{BB962C8B-B14F-4D97-AF65-F5344CB8AC3E}">
        <p14:creationId xmlns:p14="http://schemas.microsoft.com/office/powerpoint/2010/main" val="1598239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E79AB-3687-FEB7-621F-A20A363D0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Naïve Bayes: Recap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58E73-EFFB-E500-C6F2-F9BA225F9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69D0430-2103-712A-792D-64A285DDA24B}"/>
                  </a:ext>
                </a:extLst>
              </p:cNvPr>
              <p:cNvSpPr txBox="1"/>
              <p:nvPr/>
            </p:nvSpPr>
            <p:spPr>
              <a:xfrm>
                <a:off x="838200" y="1853761"/>
                <a:ext cx="4134852" cy="157523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Reminder of Bayes Theorem …</a:t>
                </a:r>
              </a:p>
              <a:p>
                <a:endParaRPr lang="en-I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1" i="1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endChr m:val="|"/>
                          <m:ctrlPr>
                            <a:rPr lang="en-IN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1" i="1"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IN" sz="2000" b="1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0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000" b="1" i="1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IN" sz="2000" b="1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IN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b="1" i="1"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endChr m:val="|"/>
                              <m:ctrlPr>
                                <a:rPr lang="en-IN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000" b="1" i="1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d>
                          <m:r>
                            <a:rPr lang="en-IN" sz="2000" b="1" i="1"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IN" sz="2000" b="1" i="1">
                              <a:latin typeface="Cambria Math" panose="02040503050406030204" pitchFamily="18" charset="0"/>
                            </a:rPr>
                            <m:t>) </m:t>
                          </m:r>
                          <m:r>
                            <a:rPr lang="en-IN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IN" sz="2000" b="1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000" b="1" i="1"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IN" sz="20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2000" b="1" i="1"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IN" sz="20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IN" sz="2000" b="1" i="1"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IN" sz="20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2000" b="1" i="1"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en-IN" sz="20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IN" sz="2000" b="1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69D0430-2103-712A-792D-64A285DDA2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53761"/>
                <a:ext cx="4134852" cy="1575239"/>
              </a:xfrm>
              <a:prstGeom prst="rect">
                <a:avLst/>
              </a:prstGeom>
              <a:blipFill>
                <a:blip r:embed="rId2"/>
                <a:stretch>
                  <a:fillRect l="-1327" t="-19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5480297-05E9-F4F0-5C86-60CFFE45A442}"/>
                  </a:ext>
                </a:extLst>
              </p:cNvPr>
              <p:cNvSpPr txBox="1"/>
              <p:nvPr/>
            </p:nvSpPr>
            <p:spPr>
              <a:xfrm>
                <a:off x="703395" y="4401916"/>
                <a:ext cx="10785209" cy="1575239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Reminder of Bayes Theorem …</a:t>
                </a:r>
              </a:p>
              <a:p>
                <a:endParaRPr lang="en-I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1" i="1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endChr m:val="|"/>
                          <m:ctrlPr>
                            <a:rPr lang="en-IN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1" i="1" smtClean="0">
                              <a:latin typeface="Cambria Math" panose="02040503050406030204" pitchFamily="18" charset="0"/>
                            </a:rPr>
                            <m:t>𝑷𝒖𝒓𝒄𝒉𝒂𝒔𝒆</m:t>
                          </m:r>
                          <m:r>
                            <a:rPr lang="en-IN" sz="2000" b="1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0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000" b="1" i="1" smtClean="0">
                          <a:latin typeface="Cambria Math" panose="02040503050406030204" pitchFamily="18" charset="0"/>
                        </a:rPr>
                        <m:t>𝑪𝒖𝒔𝒕𝒐𝒎𝒆𝒓</m:t>
                      </m:r>
                      <m:r>
                        <a:rPr lang="en-IN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000" b="1" i="1" smtClean="0">
                          <a:latin typeface="Cambria Math" panose="02040503050406030204" pitchFamily="18" charset="0"/>
                        </a:rPr>
                        <m:t>𝑭𝒆𝒂𝒕𝒖𝒓𝒆𝒔</m:t>
                      </m:r>
                      <m:r>
                        <a:rPr lang="en-IN" sz="2000" b="1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IN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b="1" i="1"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endChr m:val="|"/>
                              <m:ctrlPr>
                                <a:rPr lang="en-IN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000" b="1" i="1" smtClean="0">
                                  <a:latin typeface="Cambria Math" panose="02040503050406030204" pitchFamily="18" charset="0"/>
                                </a:rPr>
                                <m:t>𝑪𝒖𝒔𝒕𝒐𝒎𝒆𝒓</m:t>
                              </m:r>
                              <m:r>
                                <a:rPr lang="en-IN" sz="2000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000" b="1" i="1" smtClean="0">
                                  <a:latin typeface="Cambria Math" panose="02040503050406030204" pitchFamily="18" charset="0"/>
                                </a:rPr>
                                <m:t>𝑭𝒆𝒂𝒕𝒖𝒓𝒆𝒔</m:t>
                              </m:r>
                              <m:r>
                                <a:rPr lang="en-IN" sz="2000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IN" sz="20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000" b="1" i="1" smtClean="0">
                              <a:latin typeface="Cambria Math" panose="02040503050406030204" pitchFamily="18" charset="0"/>
                            </a:rPr>
                            <m:t>𝑷𝒖𝒓𝒄𝒉𝒂𝒔𝒆</m:t>
                          </m:r>
                          <m:r>
                            <a:rPr lang="en-IN" sz="2000" b="1" i="1">
                              <a:latin typeface="Cambria Math" panose="02040503050406030204" pitchFamily="18" charset="0"/>
                            </a:rPr>
                            <m:t>) </m:t>
                          </m:r>
                          <m:r>
                            <a:rPr lang="en-IN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IN" sz="2000" b="1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000" b="1" i="1"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IN" sz="20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2000" b="1" i="1" smtClean="0">
                              <a:latin typeface="Cambria Math" panose="02040503050406030204" pitchFamily="18" charset="0"/>
                            </a:rPr>
                            <m:t>𝑷𝒖𝒓𝒄𝒉𝒂𝒔𝒆</m:t>
                          </m:r>
                          <m:r>
                            <a:rPr lang="en-IN" sz="20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IN" sz="2000" b="1" i="1"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IN" sz="20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2000" b="1" i="1" smtClean="0">
                              <a:latin typeface="Cambria Math" panose="02040503050406030204" pitchFamily="18" charset="0"/>
                            </a:rPr>
                            <m:t>𝑪𝒖𝒔𝒕𝒐𝒎𝒆𝒓</m:t>
                          </m:r>
                          <m:r>
                            <a:rPr lang="en-IN" sz="20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000" b="1" i="1" smtClean="0">
                              <a:latin typeface="Cambria Math" panose="02040503050406030204" pitchFamily="18" charset="0"/>
                            </a:rPr>
                            <m:t>𝑭𝒆𝒂𝒕𝒖𝒓𝒆𝒔</m:t>
                          </m:r>
                          <m:r>
                            <a:rPr lang="en-IN" sz="20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IN" sz="2000" b="1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5480297-05E9-F4F0-5C86-60CFFE45A4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395" y="4401916"/>
                <a:ext cx="10785209" cy="1575239"/>
              </a:xfrm>
              <a:prstGeom prst="rect">
                <a:avLst/>
              </a:prstGeom>
              <a:blipFill>
                <a:blip r:embed="rId3"/>
                <a:stretch>
                  <a:fillRect l="-452" t="-19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96CC9E5-2495-4549-552D-E6AE93B5F0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9582838"/>
              </p:ext>
            </p:extLst>
          </p:nvPr>
        </p:nvGraphicFramePr>
        <p:xfrm>
          <a:off x="6366481" y="1027906"/>
          <a:ext cx="4751430" cy="334587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50286">
                  <a:extLst>
                    <a:ext uri="{9D8B030D-6E8A-4147-A177-3AD203B41FA5}">
                      <a16:colId xmlns:a16="http://schemas.microsoft.com/office/drawing/2014/main" val="331311263"/>
                    </a:ext>
                  </a:extLst>
                </a:gridCol>
                <a:gridCol w="950286">
                  <a:extLst>
                    <a:ext uri="{9D8B030D-6E8A-4147-A177-3AD203B41FA5}">
                      <a16:colId xmlns:a16="http://schemas.microsoft.com/office/drawing/2014/main" val="2077185985"/>
                    </a:ext>
                  </a:extLst>
                </a:gridCol>
                <a:gridCol w="950286">
                  <a:extLst>
                    <a:ext uri="{9D8B030D-6E8A-4147-A177-3AD203B41FA5}">
                      <a16:colId xmlns:a16="http://schemas.microsoft.com/office/drawing/2014/main" val="3009242686"/>
                    </a:ext>
                  </a:extLst>
                </a:gridCol>
                <a:gridCol w="950286">
                  <a:extLst>
                    <a:ext uri="{9D8B030D-6E8A-4147-A177-3AD203B41FA5}">
                      <a16:colId xmlns:a16="http://schemas.microsoft.com/office/drawing/2014/main" val="1578407940"/>
                    </a:ext>
                  </a:extLst>
                </a:gridCol>
                <a:gridCol w="950286">
                  <a:extLst>
                    <a:ext uri="{9D8B030D-6E8A-4147-A177-3AD203B41FA5}">
                      <a16:colId xmlns:a16="http://schemas.microsoft.com/office/drawing/2014/main" val="2524111458"/>
                    </a:ext>
                  </a:extLst>
                </a:gridCol>
              </a:tblGrid>
              <a:tr h="328354"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Newsletter?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Social Media?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Website?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Purchase?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1994044"/>
                  </a:ext>
                </a:extLst>
              </a:tr>
              <a:tr h="200661"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2252211"/>
                  </a:ext>
                </a:extLst>
              </a:tr>
              <a:tr h="200661"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1807117"/>
                  </a:ext>
                </a:extLst>
              </a:tr>
              <a:tr h="200661"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4586837"/>
                  </a:ext>
                </a:extLst>
              </a:tr>
              <a:tr h="200661"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5551386"/>
                  </a:ext>
                </a:extLst>
              </a:tr>
              <a:tr h="200661"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8749021"/>
                  </a:ext>
                </a:extLst>
              </a:tr>
              <a:tr h="200661"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5150591"/>
                  </a:ext>
                </a:extLst>
              </a:tr>
              <a:tr h="200661"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42069"/>
                  </a:ext>
                </a:extLst>
              </a:tr>
              <a:tr h="200661"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586315"/>
                  </a:ext>
                </a:extLst>
              </a:tr>
              <a:tr h="200661"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9032624"/>
                  </a:ext>
                </a:extLst>
              </a:tr>
              <a:tr h="200661"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5196276"/>
                  </a:ext>
                </a:extLst>
              </a:tr>
              <a:tr h="200661"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b="1" noProof="0" dirty="0">
                          <a:solidFill>
                            <a:srgbClr val="FF0000"/>
                          </a:solidFill>
                        </a:rPr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3996752"/>
                  </a:ext>
                </a:extLst>
              </a:tr>
              <a:tr h="200661"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b="1" noProof="0" dirty="0">
                          <a:solidFill>
                            <a:srgbClr val="FF0000"/>
                          </a:solidFill>
                        </a:rPr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89849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44385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C90B8-DA6C-7202-FC22-43EA0AD89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63" y="18255"/>
            <a:ext cx="2644896" cy="1325563"/>
          </a:xfrm>
        </p:spPr>
        <p:txBody>
          <a:bodyPr/>
          <a:lstStyle/>
          <a:p>
            <a:r>
              <a:rPr lang="en-IN" dirty="0"/>
              <a:t>Naïve Bayes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31116-6987-5A1E-A0B6-06642AA7A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B915531-323F-E929-E11E-7FB6E1C6EA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673522"/>
              </p:ext>
            </p:extLst>
          </p:nvPr>
        </p:nvGraphicFramePr>
        <p:xfrm>
          <a:off x="77363" y="3021398"/>
          <a:ext cx="4751430" cy="334587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50286">
                  <a:extLst>
                    <a:ext uri="{9D8B030D-6E8A-4147-A177-3AD203B41FA5}">
                      <a16:colId xmlns:a16="http://schemas.microsoft.com/office/drawing/2014/main" val="331311263"/>
                    </a:ext>
                  </a:extLst>
                </a:gridCol>
                <a:gridCol w="950286">
                  <a:extLst>
                    <a:ext uri="{9D8B030D-6E8A-4147-A177-3AD203B41FA5}">
                      <a16:colId xmlns:a16="http://schemas.microsoft.com/office/drawing/2014/main" val="2077185985"/>
                    </a:ext>
                  </a:extLst>
                </a:gridCol>
                <a:gridCol w="950286">
                  <a:extLst>
                    <a:ext uri="{9D8B030D-6E8A-4147-A177-3AD203B41FA5}">
                      <a16:colId xmlns:a16="http://schemas.microsoft.com/office/drawing/2014/main" val="3009242686"/>
                    </a:ext>
                  </a:extLst>
                </a:gridCol>
                <a:gridCol w="950286">
                  <a:extLst>
                    <a:ext uri="{9D8B030D-6E8A-4147-A177-3AD203B41FA5}">
                      <a16:colId xmlns:a16="http://schemas.microsoft.com/office/drawing/2014/main" val="1578407940"/>
                    </a:ext>
                  </a:extLst>
                </a:gridCol>
                <a:gridCol w="950286">
                  <a:extLst>
                    <a:ext uri="{9D8B030D-6E8A-4147-A177-3AD203B41FA5}">
                      <a16:colId xmlns:a16="http://schemas.microsoft.com/office/drawing/2014/main" val="2524111458"/>
                    </a:ext>
                  </a:extLst>
                </a:gridCol>
              </a:tblGrid>
              <a:tr h="328354"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Newsletter?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Social Media?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Website?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Purchase?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1994044"/>
                  </a:ext>
                </a:extLst>
              </a:tr>
              <a:tr h="200661"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2252211"/>
                  </a:ext>
                </a:extLst>
              </a:tr>
              <a:tr h="200661"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1807117"/>
                  </a:ext>
                </a:extLst>
              </a:tr>
              <a:tr h="200661"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4586837"/>
                  </a:ext>
                </a:extLst>
              </a:tr>
              <a:tr h="200661"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5551386"/>
                  </a:ext>
                </a:extLst>
              </a:tr>
              <a:tr h="200661"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8749021"/>
                  </a:ext>
                </a:extLst>
              </a:tr>
              <a:tr h="200661"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5150591"/>
                  </a:ext>
                </a:extLst>
              </a:tr>
              <a:tr h="200661"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42069"/>
                  </a:ext>
                </a:extLst>
              </a:tr>
              <a:tr h="200661"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586315"/>
                  </a:ext>
                </a:extLst>
              </a:tr>
              <a:tr h="200661"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9032624"/>
                  </a:ext>
                </a:extLst>
              </a:tr>
              <a:tr h="200661"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5196276"/>
                  </a:ext>
                </a:extLst>
              </a:tr>
              <a:tr h="200661"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b="1" noProof="0" dirty="0">
                          <a:solidFill>
                            <a:srgbClr val="FF0000"/>
                          </a:solidFill>
                        </a:rPr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3996752"/>
                  </a:ext>
                </a:extLst>
              </a:tr>
              <a:tr h="200661"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b="1" noProof="0" dirty="0">
                          <a:solidFill>
                            <a:srgbClr val="FF0000"/>
                          </a:solidFill>
                        </a:rPr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898491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0EBB0F5-1D58-6EFC-3BAC-5866A590DDC9}"/>
              </a:ext>
            </a:extLst>
          </p:cNvPr>
          <p:cNvSpPr txBox="1"/>
          <p:nvPr/>
        </p:nvSpPr>
        <p:spPr>
          <a:xfrm>
            <a:off x="1485609" y="18255"/>
            <a:ext cx="4278833" cy="18158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b="1" dirty="0"/>
              <a:t>Step 1: Calculate base/unconditional probabilities</a:t>
            </a:r>
          </a:p>
          <a:p>
            <a:endParaRPr lang="en-GB" sz="1400" dirty="0"/>
          </a:p>
          <a:p>
            <a:r>
              <a:rPr lang="en-US" sz="1400" dirty="0"/>
              <a:t>Total customers = 10</a:t>
            </a:r>
          </a:p>
          <a:p>
            <a:r>
              <a:rPr lang="en-US" sz="1400" dirty="0"/>
              <a:t>Count (Purchased = 1) = 5</a:t>
            </a:r>
          </a:p>
          <a:p>
            <a:r>
              <a:rPr lang="en-US" sz="1400" dirty="0"/>
              <a:t>Count (Purchased = 0) = 5</a:t>
            </a:r>
          </a:p>
          <a:p>
            <a:endParaRPr lang="en-GB" sz="1400" dirty="0"/>
          </a:p>
          <a:p>
            <a:r>
              <a:rPr lang="en-US" sz="1400" dirty="0"/>
              <a:t>P(Purchased = 1) = 5/10 = 0.5</a:t>
            </a:r>
          </a:p>
          <a:p>
            <a:r>
              <a:rPr lang="en-US" sz="1400" dirty="0"/>
              <a:t>P(Purchased = 0) = 5/10 = 0.5</a:t>
            </a:r>
            <a:endParaRPr lang="en-GB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4E7E96-7833-60CE-19EB-1F7A1466DD49}"/>
              </a:ext>
            </a:extLst>
          </p:cNvPr>
          <p:cNvSpPr txBox="1"/>
          <p:nvPr/>
        </p:nvSpPr>
        <p:spPr>
          <a:xfrm>
            <a:off x="5813304" y="18255"/>
            <a:ext cx="4278833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b="1" dirty="0"/>
              <a:t>Step 2: Calculate conditional probabilities for each class</a:t>
            </a:r>
            <a:endParaRPr lang="en-GB" sz="140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748F1D0-A550-7222-02DE-235846AA2E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0948103"/>
              </p:ext>
            </p:extLst>
          </p:nvPr>
        </p:nvGraphicFramePr>
        <p:xfrm>
          <a:off x="5829589" y="377939"/>
          <a:ext cx="5596919" cy="1133723"/>
        </p:xfrm>
        <a:graphic>
          <a:graphicData uri="http://schemas.openxmlformats.org/drawingml/2006/table">
            <a:tbl>
              <a:tblPr firstRow="1">
                <a:tableStyleId>{E8B1032C-EA38-4F05-BA0D-38AFFFC7BED3}</a:tableStyleId>
              </a:tblPr>
              <a:tblGrid>
                <a:gridCol w="1171327">
                  <a:extLst>
                    <a:ext uri="{9D8B030D-6E8A-4147-A177-3AD203B41FA5}">
                      <a16:colId xmlns:a16="http://schemas.microsoft.com/office/drawing/2014/main" val="169176195"/>
                    </a:ext>
                  </a:extLst>
                </a:gridCol>
                <a:gridCol w="2531938">
                  <a:extLst>
                    <a:ext uri="{9D8B030D-6E8A-4147-A177-3AD203B41FA5}">
                      <a16:colId xmlns:a16="http://schemas.microsoft.com/office/drawing/2014/main" val="3875242345"/>
                    </a:ext>
                  </a:extLst>
                </a:gridCol>
                <a:gridCol w="991012">
                  <a:extLst>
                    <a:ext uri="{9D8B030D-6E8A-4147-A177-3AD203B41FA5}">
                      <a16:colId xmlns:a16="http://schemas.microsoft.com/office/drawing/2014/main" val="3945146293"/>
                    </a:ext>
                  </a:extLst>
                </a:gridCol>
                <a:gridCol w="902642">
                  <a:extLst>
                    <a:ext uri="{9D8B030D-6E8A-4147-A177-3AD203B41FA5}">
                      <a16:colId xmlns:a16="http://schemas.microsoft.com/office/drawing/2014/main" val="2306417662"/>
                    </a:ext>
                  </a:extLst>
                </a:gridCol>
              </a:tblGrid>
              <a:tr h="3107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Count for Purchase =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Purchase =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Probability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3475128"/>
                  </a:ext>
                </a:extLst>
              </a:tr>
              <a:tr h="24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Subscribed =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3 (customers 3, 6, 10)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3/5 = 0.6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5757677"/>
                  </a:ext>
                </a:extLst>
              </a:tr>
              <a:tr h="24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Follows =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1 (No customer, so considering as 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1/5 = 0.2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5063935"/>
                  </a:ext>
                </a:extLst>
              </a:tr>
              <a:tr h="24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Visited =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2 (customers 6, 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2/5 = 0.4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795897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08BBA96-D5D4-8975-8A59-419EE5B4A4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8458282"/>
              </p:ext>
            </p:extLst>
          </p:nvPr>
        </p:nvGraphicFramePr>
        <p:xfrm>
          <a:off x="5829590" y="2884998"/>
          <a:ext cx="5596919" cy="1133723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171327">
                  <a:extLst>
                    <a:ext uri="{9D8B030D-6E8A-4147-A177-3AD203B41FA5}">
                      <a16:colId xmlns:a16="http://schemas.microsoft.com/office/drawing/2014/main" val="169176195"/>
                    </a:ext>
                  </a:extLst>
                </a:gridCol>
                <a:gridCol w="2531938">
                  <a:extLst>
                    <a:ext uri="{9D8B030D-6E8A-4147-A177-3AD203B41FA5}">
                      <a16:colId xmlns:a16="http://schemas.microsoft.com/office/drawing/2014/main" val="3875242345"/>
                    </a:ext>
                  </a:extLst>
                </a:gridCol>
                <a:gridCol w="991012">
                  <a:extLst>
                    <a:ext uri="{9D8B030D-6E8A-4147-A177-3AD203B41FA5}">
                      <a16:colId xmlns:a16="http://schemas.microsoft.com/office/drawing/2014/main" val="3945146293"/>
                    </a:ext>
                  </a:extLst>
                </a:gridCol>
                <a:gridCol w="902642">
                  <a:extLst>
                    <a:ext uri="{9D8B030D-6E8A-4147-A177-3AD203B41FA5}">
                      <a16:colId xmlns:a16="http://schemas.microsoft.com/office/drawing/2014/main" val="2306417662"/>
                    </a:ext>
                  </a:extLst>
                </a:gridCol>
              </a:tblGrid>
              <a:tr h="3107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Count for Purchase =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Purchase =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Probability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3475128"/>
                  </a:ext>
                </a:extLst>
              </a:tr>
              <a:tr h="24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Subscribed =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3 (customers 2, 5, 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3/5 = 0.6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5757677"/>
                  </a:ext>
                </a:extLst>
              </a:tr>
              <a:tr h="24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Follows =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3 (customers 2, 5, 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3/5 = 0.6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5063935"/>
                  </a:ext>
                </a:extLst>
              </a:tr>
              <a:tr h="24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Visited =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3 (customers 2, 8, 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3/5 = 0.6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79589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B3A6850-68F6-3D73-E0E2-75F0B345D227}"/>
              </a:ext>
            </a:extLst>
          </p:cNvPr>
          <p:cNvSpPr txBox="1"/>
          <p:nvPr/>
        </p:nvSpPr>
        <p:spPr>
          <a:xfrm>
            <a:off x="6391495" y="1563569"/>
            <a:ext cx="4278833" cy="116955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</a:rPr>
              <a:t>Customer 11: (1, 0, 1)</a:t>
            </a:r>
          </a:p>
          <a:p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P(Purchase = 1 | (1, 0, 1)) </a:t>
            </a:r>
          </a:p>
          <a:p>
            <a:r>
              <a:rPr lang="en-IN" sz="1400" dirty="0">
                <a:solidFill>
                  <a:schemeClr val="bg1"/>
                </a:solidFill>
              </a:rPr>
              <a:t>= </a:t>
            </a:r>
            <a:r>
              <a:rPr lang="en-US" sz="1400" dirty="0">
                <a:solidFill>
                  <a:schemeClr val="bg1"/>
                </a:solidFill>
              </a:rPr>
              <a:t>P(1) × P(Sub = 1 ∣ 1) × P(Follows = 0 ∣ 1) × P(Visit = 1 ∣ 1)</a:t>
            </a:r>
          </a:p>
          <a:p>
            <a:r>
              <a:rPr lang="en-US" sz="1400" dirty="0">
                <a:solidFill>
                  <a:schemeClr val="bg1"/>
                </a:solidFill>
              </a:rPr>
              <a:t>= </a:t>
            </a:r>
            <a:r>
              <a:rPr lang="en-IN" sz="1400" dirty="0">
                <a:solidFill>
                  <a:schemeClr val="bg1"/>
                </a:solidFill>
              </a:rPr>
              <a:t>0.5 × 0.6 × 0.2 × 0.4 = </a:t>
            </a:r>
            <a:r>
              <a:rPr lang="en-IN" sz="1400" b="1" dirty="0">
                <a:solidFill>
                  <a:schemeClr val="bg1"/>
                </a:solidFill>
              </a:rPr>
              <a:t>0.024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C243B7-BEB1-4BE4-04F9-6C219E328AC7}"/>
              </a:ext>
            </a:extLst>
          </p:cNvPr>
          <p:cNvSpPr txBox="1"/>
          <p:nvPr/>
        </p:nvSpPr>
        <p:spPr>
          <a:xfrm>
            <a:off x="6391495" y="4109559"/>
            <a:ext cx="4278833" cy="116955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</a:rPr>
              <a:t>Customer 11: (1, 0, 1)</a:t>
            </a:r>
          </a:p>
          <a:p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P(Purchase = 0 | (1, 0, 1)) </a:t>
            </a:r>
          </a:p>
          <a:p>
            <a:r>
              <a:rPr lang="en-IN" sz="1400" dirty="0">
                <a:solidFill>
                  <a:schemeClr val="bg1"/>
                </a:solidFill>
              </a:rPr>
              <a:t>= </a:t>
            </a:r>
            <a:r>
              <a:rPr lang="en-US" sz="1400" dirty="0">
                <a:solidFill>
                  <a:schemeClr val="bg1"/>
                </a:solidFill>
              </a:rPr>
              <a:t>P(1) × P(Sub = 1 ∣ 0) × P(Follows = 0 ∣ 0) × P(Visit = 1 ∣ 0)</a:t>
            </a:r>
          </a:p>
          <a:p>
            <a:r>
              <a:rPr lang="en-US" sz="1400" dirty="0">
                <a:solidFill>
                  <a:schemeClr val="bg1"/>
                </a:solidFill>
              </a:rPr>
              <a:t>= </a:t>
            </a:r>
            <a:r>
              <a:rPr lang="en-IN" sz="1400" dirty="0">
                <a:solidFill>
                  <a:schemeClr val="bg1"/>
                </a:solidFill>
              </a:rPr>
              <a:t>0.5 × 0.6 × 0.6 × 0.6 = </a:t>
            </a:r>
            <a:r>
              <a:rPr lang="en-IN" sz="1400" b="1" dirty="0">
                <a:solidFill>
                  <a:schemeClr val="bg1"/>
                </a:solidFill>
              </a:rPr>
              <a:t>0.108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4E709D-1DC2-DA19-219E-55F2D05B6F7F}"/>
              </a:ext>
            </a:extLst>
          </p:cNvPr>
          <p:cNvSpPr txBox="1"/>
          <p:nvPr/>
        </p:nvSpPr>
        <p:spPr>
          <a:xfrm>
            <a:off x="6391496" y="5515689"/>
            <a:ext cx="4278832" cy="92333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IN" dirty="0"/>
              <a:t>Conclusion: </a:t>
            </a:r>
          </a:p>
          <a:p>
            <a:r>
              <a:rPr lang="en-IN" dirty="0"/>
              <a:t>Since 0.108 &gt; 0.024,</a:t>
            </a:r>
          </a:p>
          <a:p>
            <a:r>
              <a:rPr lang="en-IN" dirty="0"/>
              <a:t>Prediction: Customer 11 will NOT purchase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30445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A36A2-5FE0-C3E8-B80D-FCA62BC15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Support Vector Machines (SVM)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DFECB-BC3F-0AF0-7C16-DA4304982E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7168035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 </a:t>
            </a:r>
            <a:r>
              <a:rPr lang="en-US" b="1" dirty="0"/>
              <a:t>supervised machine learning algorithm</a:t>
            </a:r>
            <a:r>
              <a:rPr lang="en-US" dirty="0"/>
              <a:t> used for </a:t>
            </a:r>
            <a:r>
              <a:rPr lang="en-US" b="1" dirty="0"/>
              <a:t>classification and regression</a:t>
            </a:r>
            <a:r>
              <a:rPr lang="en-US" dirty="0"/>
              <a:t>, especially effective in high-dimensional data</a:t>
            </a:r>
          </a:p>
          <a:p>
            <a:r>
              <a:rPr lang="en-US" dirty="0"/>
              <a:t>Goal</a:t>
            </a:r>
          </a:p>
          <a:p>
            <a:pPr lvl="1"/>
            <a:r>
              <a:rPr lang="en-US" dirty="0"/>
              <a:t>Find a decision boundary (hyperplane) that best separates classes</a:t>
            </a:r>
          </a:p>
          <a:p>
            <a:pPr lvl="1"/>
            <a:r>
              <a:rPr lang="en-US" dirty="0"/>
              <a:t>Maximize the margin between classes</a:t>
            </a:r>
          </a:p>
          <a:p>
            <a:r>
              <a:rPr lang="en-US" dirty="0"/>
              <a:t>Working</a:t>
            </a:r>
          </a:p>
          <a:p>
            <a:pPr lvl="1"/>
            <a:r>
              <a:rPr lang="en-US" dirty="0"/>
              <a:t>Identify the closest points from each class (support vectors)</a:t>
            </a:r>
          </a:p>
          <a:p>
            <a:pPr lvl="1"/>
            <a:r>
              <a:rPr lang="en-US" dirty="0"/>
              <a:t>Find the hyperplane that maximizes the margin</a:t>
            </a:r>
          </a:p>
          <a:p>
            <a:pPr lvl="1"/>
            <a:r>
              <a:rPr lang="en-US" dirty="0"/>
              <a:t>Use kernels to handle non-linear separation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0C4EA7-92E0-D14F-2C70-187B3EB4D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0429" y="2772866"/>
            <a:ext cx="3992811" cy="2229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0733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31607-636D-0EC7-602B-66B3FFF51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83" y="69802"/>
            <a:ext cx="2784499" cy="1325563"/>
          </a:xfrm>
        </p:spPr>
        <p:txBody>
          <a:bodyPr>
            <a:noAutofit/>
          </a:bodyPr>
          <a:lstStyle/>
          <a:p>
            <a:r>
              <a:rPr lang="en-IN" sz="2800" dirty="0"/>
              <a:t>Support Vector Machines (SVM)</a:t>
            </a:r>
            <a:endParaRPr lang="en-GB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B46AEA-4A05-CBF7-60A9-18D873E6E377}"/>
              </a:ext>
            </a:extLst>
          </p:cNvPr>
          <p:cNvSpPr txBox="1"/>
          <p:nvPr/>
        </p:nvSpPr>
        <p:spPr>
          <a:xfrm>
            <a:off x="3064286" y="69802"/>
            <a:ext cx="8655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“Find a boundary that separates obese and not-obese dogs with the </a:t>
            </a:r>
            <a:r>
              <a:rPr lang="en-US" b="1" i="1" dirty="0">
                <a:solidFill>
                  <a:srgbClr val="FF0000"/>
                </a:solidFill>
              </a:rPr>
              <a:t>maximum margin”</a:t>
            </a:r>
            <a:endParaRPr lang="en-GB" b="1" dirty="0">
              <a:solidFill>
                <a:srgbClr val="FF0000"/>
              </a:solidFill>
            </a:endParaRP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40E3B5FC-754A-DA84-62B1-42627CFF2D1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05515698"/>
              </p:ext>
            </p:extLst>
          </p:nvPr>
        </p:nvGraphicFramePr>
        <p:xfrm>
          <a:off x="105283" y="1188978"/>
          <a:ext cx="3154448" cy="21336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837037">
                  <a:extLst>
                    <a:ext uri="{9D8B030D-6E8A-4147-A177-3AD203B41FA5}">
                      <a16:colId xmlns:a16="http://schemas.microsoft.com/office/drawing/2014/main" val="2992704106"/>
                    </a:ext>
                  </a:extLst>
                </a:gridCol>
                <a:gridCol w="1060983">
                  <a:extLst>
                    <a:ext uri="{9D8B030D-6E8A-4147-A177-3AD203B41FA5}">
                      <a16:colId xmlns:a16="http://schemas.microsoft.com/office/drawing/2014/main" val="1247799351"/>
                    </a:ext>
                  </a:extLst>
                </a:gridCol>
                <a:gridCol w="1256428">
                  <a:extLst>
                    <a:ext uri="{9D8B030D-6E8A-4147-A177-3AD203B41FA5}">
                      <a16:colId xmlns:a16="http://schemas.microsoft.com/office/drawing/2014/main" val="41255203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Dog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Weight (kg)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Obese (y)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7496026"/>
                  </a:ext>
                </a:extLst>
              </a:tr>
              <a:tr h="272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 (Not obese)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4649539"/>
                  </a:ext>
                </a:extLst>
              </a:tr>
              <a:tr h="272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7512936"/>
                  </a:ext>
                </a:extLst>
              </a:tr>
              <a:tr h="272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1504720"/>
                  </a:ext>
                </a:extLst>
              </a:tr>
              <a:tr h="272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 (Obese)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6493873"/>
                  </a:ext>
                </a:extLst>
              </a:tr>
              <a:tr h="272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7706722"/>
                  </a:ext>
                </a:extLst>
              </a:tr>
              <a:tr h="272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97076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C42D090-4F5E-AC7F-9304-F68DB85B3F33}"/>
              </a:ext>
            </a:extLst>
          </p:cNvPr>
          <p:cNvSpPr txBox="1"/>
          <p:nvPr/>
        </p:nvSpPr>
        <p:spPr>
          <a:xfrm>
            <a:off x="105283" y="3622699"/>
            <a:ext cx="3266131" cy="14773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b="1" dirty="0"/>
              <a:t>Step 1: Define a boundary</a:t>
            </a:r>
          </a:p>
          <a:p>
            <a:r>
              <a:rPr lang="en-GB" dirty="0"/>
              <a:t>Example: Weight = 13.5 kg</a:t>
            </a:r>
          </a:p>
          <a:p>
            <a:r>
              <a:rPr lang="en-GB" dirty="0"/>
              <a:t>Left -&gt; Not obese</a:t>
            </a:r>
          </a:p>
          <a:p>
            <a:r>
              <a:rPr lang="en-GB" dirty="0"/>
              <a:t>Right -&gt; Obese</a:t>
            </a:r>
          </a:p>
          <a:p>
            <a:r>
              <a:rPr lang="en-GB" dirty="0"/>
              <a:t>But why not 12.5, 13, 14, …?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159A55-3CC3-6D0E-3C99-215128308D64}"/>
              </a:ext>
            </a:extLst>
          </p:cNvPr>
          <p:cNvSpPr txBox="1"/>
          <p:nvPr/>
        </p:nvSpPr>
        <p:spPr>
          <a:xfrm>
            <a:off x="3586634" y="644545"/>
            <a:ext cx="3266131" cy="17543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b="1" dirty="0"/>
              <a:t>Step 2: Margin Intuition</a:t>
            </a:r>
          </a:p>
          <a:p>
            <a:r>
              <a:rPr lang="en-GB" dirty="0"/>
              <a:t>SVM looks at the closest dogs from each class</a:t>
            </a:r>
          </a:p>
          <a:p>
            <a:r>
              <a:rPr lang="en-GB" dirty="0"/>
              <a:t>Closest dogs to the boundary</a:t>
            </a:r>
          </a:p>
          <a:p>
            <a:pPr marL="285750" indent="-285750">
              <a:buFontTx/>
              <a:buChar char="-"/>
            </a:pPr>
            <a:r>
              <a:rPr lang="en-GB" dirty="0"/>
              <a:t>Not obese -&gt; D3 (12 kg)</a:t>
            </a:r>
          </a:p>
          <a:p>
            <a:pPr marL="285750" indent="-285750">
              <a:buFontTx/>
              <a:buChar char="-"/>
            </a:pPr>
            <a:r>
              <a:rPr lang="en-GB" dirty="0"/>
              <a:t>Obese -&gt; D4 (15 kg)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5359B4-057C-B26F-7200-6E61649B7CD6}"/>
              </a:ext>
            </a:extLst>
          </p:cNvPr>
          <p:cNvSpPr txBox="1"/>
          <p:nvPr/>
        </p:nvSpPr>
        <p:spPr>
          <a:xfrm>
            <a:off x="3586634" y="2681715"/>
            <a:ext cx="3839086" cy="230832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b="1" dirty="0"/>
              <a:t>Step 4: Maximum Margin Decision</a:t>
            </a:r>
          </a:p>
          <a:p>
            <a:r>
              <a:rPr lang="en-US" dirty="0"/>
              <a:t>Distance between closest opposite-class points: Margin = 15 – 12 = 3</a:t>
            </a:r>
          </a:p>
          <a:p>
            <a:r>
              <a:rPr lang="en-US" dirty="0"/>
              <a:t>SVM places the boundary exactly at the middle: Boundary = 13.5</a:t>
            </a:r>
          </a:p>
          <a:p>
            <a:r>
              <a:rPr lang="en-US" dirty="0"/>
              <a:t>This</a:t>
            </a:r>
          </a:p>
          <a:p>
            <a:pPr marL="285750" indent="-285750">
              <a:buFontTx/>
              <a:buChar char="-"/>
            </a:pPr>
            <a:r>
              <a:rPr lang="en-US" dirty="0"/>
              <a:t>Maximizes separation</a:t>
            </a:r>
          </a:p>
          <a:p>
            <a:pPr marL="285750" indent="-285750">
              <a:buFontTx/>
              <a:buChar char="-"/>
            </a:pPr>
            <a:r>
              <a:rPr lang="en-US" dirty="0"/>
              <a:t>Minimizes sensitivity to noise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924BC0-F018-9A69-6AC0-610BD35BE3FE}"/>
              </a:ext>
            </a:extLst>
          </p:cNvPr>
          <p:cNvSpPr txBox="1"/>
          <p:nvPr/>
        </p:nvSpPr>
        <p:spPr>
          <a:xfrm>
            <a:off x="7383838" y="633365"/>
            <a:ext cx="3266131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b="1" dirty="0"/>
              <a:t>Step 5: Final SVM rule</a:t>
            </a:r>
          </a:p>
          <a:p>
            <a:r>
              <a:rPr lang="en-US" dirty="0"/>
              <a:t>IF weight &lt; 13.5 → Not Obese</a:t>
            </a:r>
          </a:p>
          <a:p>
            <a:r>
              <a:rPr lang="en-US" dirty="0"/>
              <a:t>ELSE → Obese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BF8C35-D257-5649-B879-05785AD6F979}"/>
              </a:ext>
            </a:extLst>
          </p:cNvPr>
          <p:cNvSpPr txBox="1"/>
          <p:nvPr/>
        </p:nvSpPr>
        <p:spPr>
          <a:xfrm>
            <a:off x="7760766" y="1844874"/>
            <a:ext cx="3266131" cy="286232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b="1" dirty="0"/>
              <a:t>Step 6: Why “Support Vectors”?</a:t>
            </a:r>
          </a:p>
          <a:p>
            <a:r>
              <a:rPr lang="en-US" dirty="0"/>
              <a:t>Because </a:t>
            </a:r>
          </a:p>
          <a:p>
            <a:pPr marL="285750" indent="-285750">
              <a:buFontTx/>
              <a:buChar char="-"/>
            </a:pPr>
            <a:r>
              <a:rPr lang="en-US" dirty="0"/>
              <a:t>Only D3 and D4 determine the boundary</a:t>
            </a:r>
          </a:p>
          <a:p>
            <a:pPr marL="285750" indent="-285750">
              <a:buFontTx/>
              <a:buChar char="-"/>
            </a:pPr>
            <a:r>
              <a:rPr lang="en-US" dirty="0"/>
              <a:t>Other points do not matter</a:t>
            </a:r>
          </a:p>
          <a:p>
            <a:endParaRPr lang="en-US" dirty="0"/>
          </a:p>
          <a:p>
            <a:r>
              <a:rPr lang="en-US" dirty="0"/>
              <a:t>If we remove D1 or D6, the boundary remains the same</a:t>
            </a:r>
          </a:p>
          <a:p>
            <a:r>
              <a:rPr lang="en-US" dirty="0"/>
              <a:t>If we move D3 or D4, boundary moves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E706B4-73FE-D5E5-B802-185BC1017FC1}"/>
              </a:ext>
            </a:extLst>
          </p:cNvPr>
          <p:cNvSpPr txBox="1"/>
          <p:nvPr/>
        </p:nvSpPr>
        <p:spPr>
          <a:xfrm>
            <a:off x="6363573" y="5121836"/>
            <a:ext cx="4755810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b="1" dirty="0"/>
              <a:t>Step 8: What if data is not perfectly separable?</a:t>
            </a:r>
          </a:p>
          <a:p>
            <a:r>
              <a:rPr lang="en-US" dirty="0"/>
              <a:t>Consider dog with Weight = 13 but Obese</a:t>
            </a:r>
          </a:p>
          <a:p>
            <a:r>
              <a:rPr lang="en-US" dirty="0"/>
              <a:t>Messy data -&gt; Perfect separation is not possible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9166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97BD2A0-FE51-A770-4CDC-E01BC38DD670}"/>
              </a:ext>
            </a:extLst>
          </p:cNvPr>
          <p:cNvSpPr txBox="1"/>
          <p:nvPr/>
        </p:nvSpPr>
        <p:spPr>
          <a:xfrm>
            <a:off x="105127" y="4100769"/>
            <a:ext cx="4202052" cy="11695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SVM chooses the line that is farthest away from the closest points on both sides</a:t>
            </a:r>
          </a:p>
          <a:p>
            <a:endParaRPr lang="en-IN" sz="1400" dirty="0"/>
          </a:p>
          <a:p>
            <a:r>
              <a:rPr lang="en-IN" sz="1400" dirty="0"/>
              <a:t>The distance is called </a:t>
            </a:r>
            <a:r>
              <a:rPr lang="en-IN" sz="1400" b="1" dirty="0"/>
              <a:t>margin</a:t>
            </a:r>
            <a:endParaRPr lang="en-IN" sz="1400" dirty="0"/>
          </a:p>
          <a:p>
            <a:r>
              <a:rPr lang="en-IN" sz="1400" dirty="0"/>
              <a:t>Closest points are called </a:t>
            </a:r>
            <a:r>
              <a:rPr lang="en-IN" sz="1400" b="1" dirty="0"/>
              <a:t>support vectors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C9E29D-CA89-6C03-F539-A5B8952D2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669" y="90743"/>
            <a:ext cx="3615137" cy="590294"/>
          </a:xfrm>
        </p:spPr>
        <p:txBody>
          <a:bodyPr>
            <a:normAutofit fontScale="90000"/>
          </a:bodyPr>
          <a:lstStyle/>
          <a:p>
            <a:r>
              <a:rPr lang="en-IN" dirty="0"/>
              <a:t>SVM – Diabetes</a:t>
            </a:r>
            <a:endParaRPr lang="en-GB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C9E62002-9ED0-C86E-0447-D55221025F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82523" y="4393572"/>
            <a:ext cx="1075795" cy="6919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5A9B745-8891-6012-2E3D-D071175FE451}"/>
              </a:ext>
            </a:extLst>
          </p:cNvPr>
          <p:cNvSpPr txBox="1"/>
          <p:nvPr/>
        </p:nvSpPr>
        <p:spPr>
          <a:xfrm>
            <a:off x="160543" y="650259"/>
            <a:ext cx="4202052" cy="11695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Consider 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Each patient = One dot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Two </a:t>
            </a:r>
            <a:r>
              <a:rPr lang="en-IN" sz="1400" dirty="0" err="1"/>
              <a:t>colors</a:t>
            </a:r>
            <a:r>
              <a:rPr lang="en-IN" sz="1400" dirty="0"/>
              <a:t>: </a:t>
            </a:r>
            <a:r>
              <a:rPr lang="en-GB" sz="1400" dirty="0"/>
              <a:t>🔵 No diabetes (0), 🔴 Diabetes (1)</a:t>
            </a:r>
          </a:p>
          <a:p>
            <a:endParaRPr lang="en-GB" sz="1400" dirty="0"/>
          </a:p>
          <a:p>
            <a:r>
              <a:rPr lang="en-GB" sz="1400" dirty="0"/>
              <a:t>Our job: Draw one line that separates blue from the red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A2FF0C-1A88-898A-9665-53A928B544C2}"/>
              </a:ext>
            </a:extLst>
          </p:cNvPr>
          <p:cNvSpPr txBox="1"/>
          <p:nvPr/>
        </p:nvSpPr>
        <p:spPr>
          <a:xfrm>
            <a:off x="160543" y="1944627"/>
            <a:ext cx="4202052" cy="20313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Many lines can separate data</a:t>
            </a:r>
          </a:p>
          <a:p>
            <a:r>
              <a:rPr lang="en-IN" sz="1400" dirty="0"/>
              <a:t>Suppose our data is like this</a:t>
            </a:r>
          </a:p>
          <a:p>
            <a:endParaRPr lang="en-IN" sz="1400" dirty="0"/>
          </a:p>
          <a:p>
            <a:r>
              <a:rPr lang="en-IN" sz="1400" dirty="0"/>
              <a:t>We can draw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A line close to blue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A line close to red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A line in the middle</a:t>
            </a:r>
          </a:p>
          <a:p>
            <a:r>
              <a:rPr lang="en-IN" sz="1400" dirty="0"/>
              <a:t>All are valid separators</a:t>
            </a:r>
          </a:p>
          <a:p>
            <a:r>
              <a:rPr lang="en-IN" sz="1400" dirty="0"/>
              <a:t>SVM asks: Which is the BEST line?</a:t>
            </a:r>
            <a:endParaRPr lang="en-GB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C5A21B-20ED-0640-37ED-3141251418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0824" y="2362247"/>
            <a:ext cx="1255982" cy="37999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1B662AD-B068-BB1F-2EE5-73EEBFD75296}"/>
              </a:ext>
            </a:extLst>
          </p:cNvPr>
          <p:cNvSpPr txBox="1"/>
          <p:nvPr/>
        </p:nvSpPr>
        <p:spPr>
          <a:xfrm>
            <a:off x="4425418" y="681037"/>
            <a:ext cx="3818143" cy="230832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600" dirty="0"/>
              <a:t>Our SVM code</a:t>
            </a:r>
          </a:p>
          <a:p>
            <a:endParaRPr lang="en-IN" sz="1600" dirty="0"/>
          </a:p>
          <a:p>
            <a:r>
              <a:rPr lang="en-GB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model = SVC(</a:t>
            </a:r>
          </a:p>
          <a:p>
            <a:r>
              <a:rPr lang="en-GB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 kernel="</a:t>
            </a:r>
            <a:r>
              <a:rPr lang="en-GB" sz="1600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rbf</a:t>
            </a:r>
            <a:r>
              <a:rPr lang="en-GB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",     </a:t>
            </a:r>
          </a:p>
          <a:p>
            <a:r>
              <a:rPr lang="en-GB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 C=1.0,</a:t>
            </a:r>
          </a:p>
          <a:p>
            <a:r>
              <a:rPr lang="en-GB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 gamma="scale",    </a:t>
            </a:r>
          </a:p>
          <a:p>
            <a:r>
              <a:rPr lang="en-GB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 probability=True</a:t>
            </a:r>
          </a:p>
          <a:p>
            <a:r>
              <a:rPr lang="en-GB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)</a:t>
            </a:r>
          </a:p>
          <a:p>
            <a:endParaRPr lang="en-GB" sz="1600" dirty="0"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A388FE-AFBC-2480-2099-41189F65B86F}"/>
              </a:ext>
            </a:extLst>
          </p:cNvPr>
          <p:cNvSpPr txBox="1"/>
          <p:nvPr/>
        </p:nvSpPr>
        <p:spPr>
          <a:xfrm>
            <a:off x="4425418" y="3105441"/>
            <a:ext cx="3818143" cy="206210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1. Tries MANY possible separating lines</a:t>
            </a:r>
          </a:p>
          <a:p>
            <a:endParaRPr lang="en-US" sz="1600" dirty="0"/>
          </a:p>
          <a:p>
            <a:r>
              <a:rPr lang="en-US" sz="1600" dirty="0"/>
              <a:t>2. For each line: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Measures distance to nearest blue point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Measures distance to nearest red point</a:t>
            </a:r>
          </a:p>
          <a:p>
            <a:endParaRPr lang="en-US" sz="1600" dirty="0"/>
          </a:p>
          <a:p>
            <a:r>
              <a:rPr lang="en-US" sz="1600" dirty="0"/>
              <a:t>3. Keeps the line where: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the minimum distance is maximum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D9C763-BB46-1FBA-D994-4D3929EFE286}"/>
              </a:ext>
            </a:extLst>
          </p:cNvPr>
          <p:cNvSpPr txBox="1"/>
          <p:nvPr/>
        </p:nvSpPr>
        <p:spPr>
          <a:xfrm>
            <a:off x="8306384" y="681037"/>
            <a:ext cx="3818143" cy="61247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kernel = </a:t>
            </a:r>
            <a:r>
              <a:rPr lang="en-US" sz="1400" dirty="0" err="1"/>
              <a:t>rbf</a:t>
            </a:r>
            <a:r>
              <a:rPr lang="en-US" sz="1400" dirty="0"/>
              <a:t> =&gt; Radial Basis Function (SVM boundary can be curved, not linear)</a:t>
            </a:r>
          </a:p>
          <a:p>
            <a:endParaRPr lang="en-US" sz="1400" dirty="0"/>
          </a:p>
          <a:p>
            <a:r>
              <a:rPr lang="en-US" sz="1400" dirty="0"/>
              <a:t>C = 1.0 =&gt; Real data may not separate points in a straight line due to outliers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Small C: Ignore outliers, keep the margin large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Large C: Do not misclassify anyone, let the margin be small</a:t>
            </a:r>
          </a:p>
          <a:p>
            <a:endParaRPr lang="en-US" sz="1400" dirty="0"/>
          </a:p>
          <a:p>
            <a:r>
              <a:rPr lang="en-US" sz="1400" dirty="0"/>
              <a:t>Scale: C = 0.001   0.01   0.1   1   10   100   1000</a:t>
            </a:r>
          </a:p>
          <a:p>
            <a:r>
              <a:rPr lang="en-US" sz="1400" dirty="0"/>
              <a:t>                                                  ↑</a:t>
            </a:r>
          </a:p>
          <a:p>
            <a:r>
              <a:rPr lang="en-US" sz="1400" dirty="0"/>
              <a:t>                                             balanced</a:t>
            </a:r>
          </a:p>
          <a:p>
            <a:endParaRPr lang="en-US" sz="1400" dirty="0"/>
          </a:p>
          <a:p>
            <a:r>
              <a:rPr lang="en-US" sz="1400" dirty="0"/>
              <a:t>gamma: SVM works by looking at a patient and asking, "Which other patients in my database are similar to this one?"</a:t>
            </a:r>
          </a:p>
          <a:p>
            <a:endParaRPr lang="en-US" sz="1400" dirty="0"/>
          </a:p>
          <a:p>
            <a:r>
              <a:rPr lang="en-US" sz="1400" dirty="0"/>
              <a:t>Gamma defines how far that "similarity bubble" reaches</a:t>
            </a:r>
          </a:p>
          <a:p>
            <a:endParaRPr lang="en-US" sz="1400" dirty="0"/>
          </a:p>
          <a:p>
            <a:r>
              <a:rPr lang="en-US" sz="1400" dirty="0"/>
              <a:t>Example: If a patient has a Glucose of 150 and a BMI of 30, Gamma decides if the model should only compare them to people with exactly 150 Glucose, or everyone between 120 and 180</a:t>
            </a:r>
          </a:p>
          <a:p>
            <a:r>
              <a:rPr lang="en-US" sz="1400" dirty="0"/>
              <a:t>gamma = scale -&gt; Do it automatically</a:t>
            </a:r>
          </a:p>
          <a:p>
            <a:endParaRPr lang="en-US" sz="1400" dirty="0"/>
          </a:p>
          <a:p>
            <a:r>
              <a:rPr lang="en-US" sz="1400" dirty="0"/>
              <a:t>SVM predicts 0/1, but probability = true will ask it to predict probability</a:t>
            </a:r>
          </a:p>
        </p:txBody>
      </p:sp>
    </p:spTree>
    <p:extLst>
      <p:ext uri="{BB962C8B-B14F-4D97-AF65-F5344CB8AC3E}">
        <p14:creationId xmlns:p14="http://schemas.microsoft.com/office/powerpoint/2010/main" val="27901605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433C6-A1F6-9D3C-0801-F61E00C78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Confusion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91B67-772B-8ABA-AC68-5AB5629ED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noProof="0" dirty="0"/>
              <a:t>Confusion matrix</a:t>
            </a:r>
            <a:r>
              <a:rPr lang="en-IN" noProof="0" dirty="0"/>
              <a:t>: A table that summarizes how well a classification model performs — by comparing actual labels with predicted labels</a:t>
            </a:r>
          </a:p>
          <a:p>
            <a:r>
              <a:rPr lang="en-IN" noProof="0" dirty="0"/>
              <a:t>Tells us where our model is getting confused — i.e. which classes it is mixing up</a:t>
            </a:r>
          </a:p>
          <a:p>
            <a:endParaRPr lang="en-IN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4BFE84E-C2F2-9882-1656-730ADE1DE19B}"/>
              </a:ext>
            </a:extLst>
          </p:cNvPr>
          <p:cNvGraphicFramePr>
            <a:graphicFrameLocks noGrp="1"/>
          </p:cNvGraphicFramePr>
          <p:nvPr/>
        </p:nvGraphicFramePr>
        <p:xfrm>
          <a:off x="1002792" y="3699542"/>
          <a:ext cx="10515600" cy="109728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493520">
                  <a:extLst>
                    <a:ext uri="{9D8B030D-6E8A-4147-A177-3AD203B41FA5}">
                      <a16:colId xmlns:a16="http://schemas.microsoft.com/office/drawing/2014/main" val="664046297"/>
                    </a:ext>
                  </a:extLst>
                </a:gridCol>
                <a:gridCol w="9022080">
                  <a:extLst>
                    <a:ext uri="{9D8B030D-6E8A-4147-A177-3AD203B41FA5}">
                      <a16:colId xmlns:a16="http://schemas.microsoft.com/office/drawing/2014/main" val="31507985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Symbol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94078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H</a:t>
                      </a:r>
                      <a:r>
                        <a:rPr lang="en-IN" b="1" baseline="-25000" noProof="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Null hypothesis</a:t>
                      </a:r>
                      <a:r>
                        <a:rPr lang="en-IN" noProof="0" dirty="0"/>
                        <a:t> — the “default” or “no effect” assumption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36978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H</a:t>
                      </a:r>
                      <a:r>
                        <a:rPr lang="en-IN" b="1" baseline="-25000" noProof="0" dirty="0"/>
                        <a:t>1</a:t>
                      </a:r>
                      <a:endParaRPr lang="en-IN" b="1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Alternative hypothesis</a:t>
                      </a:r>
                      <a:r>
                        <a:rPr lang="en-IN" noProof="0" dirty="0"/>
                        <a:t> — the competing claim, suggesting a difference or effect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927137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9BABA5-F4E5-62AA-18FE-A82A0F179696}"/>
              </a:ext>
            </a:extLst>
          </p:cNvPr>
          <p:cNvGraphicFramePr>
            <a:graphicFrameLocks noGrp="1"/>
          </p:cNvGraphicFramePr>
          <p:nvPr/>
        </p:nvGraphicFramePr>
        <p:xfrm>
          <a:off x="1002792" y="4943126"/>
          <a:ext cx="10515600" cy="109728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3020568">
                  <a:extLst>
                    <a:ext uri="{9D8B030D-6E8A-4147-A177-3AD203B41FA5}">
                      <a16:colId xmlns:a16="http://schemas.microsoft.com/office/drawing/2014/main" val="2674913571"/>
                    </a:ext>
                  </a:extLst>
                </a:gridCol>
                <a:gridCol w="7495032">
                  <a:extLst>
                    <a:ext uri="{9D8B030D-6E8A-4147-A177-3AD203B41FA5}">
                      <a16:colId xmlns:a16="http://schemas.microsoft.com/office/drawing/2014/main" val="34734830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Hypothesis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Statement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914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H</a:t>
                      </a:r>
                      <a:r>
                        <a:rPr lang="en-IN" b="1" baseline="-25000" noProof="0" dirty="0"/>
                        <a:t>0</a:t>
                      </a:r>
                      <a:r>
                        <a:rPr lang="en-IN" b="1" noProof="0" dirty="0"/>
                        <a:t>: Email is NOT spam</a:t>
                      </a:r>
                      <a:endParaRPr lang="en-IN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Default assumption: the email is legitimate (ham)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58125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H</a:t>
                      </a:r>
                      <a:r>
                        <a:rPr lang="en-IN" b="1" baseline="-25000" noProof="0" dirty="0"/>
                        <a:t>1</a:t>
                      </a:r>
                      <a:r>
                        <a:rPr lang="en-IN" b="1" noProof="0" dirty="0"/>
                        <a:t>: Email IS spam</a:t>
                      </a:r>
                      <a:endParaRPr lang="en-IN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Alternative assumption: the email is spam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8087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36939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77255-FC10-8EC6-5F67-7F7F9BD45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Confusion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61B770-EA36-5FB9-600F-8ACCE48574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noProof="0" dirty="0"/>
                  <a:t>Model decision = Hypothesis Test</a:t>
                </a:r>
              </a:p>
              <a:p>
                <a:pPr lvl="1"/>
                <a:r>
                  <a:rPr lang="en-IN" noProof="0" dirty="0"/>
                  <a:t>When the model predicts a probability (say </a:t>
                </a:r>
                <a14:m>
                  <m:oMath xmlns:m="http://schemas.openxmlformats.org/officeDocument/2006/math">
                    <m:r>
                      <a:rPr lang="en-IN" i="1" noProof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IN" i="1" noProof="0"/>
                          <m:t>Spam</m:t>
                        </m:r>
                      </m:e>
                    </m:d>
                    <m:r>
                      <a:rPr lang="en-IN" noProof="0" smtClean="0">
                        <a:latin typeface="Cambria Math" panose="02040503050406030204" pitchFamily="18" charset="0"/>
                      </a:rPr>
                      <m:t>=0.8</m:t>
                    </m:r>
                    <m:r>
                      <a:rPr lang="en-IN" b="0" i="0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noProof="0" dirty="0"/>
              </a:p>
              <a:p>
                <a:pPr lvl="2"/>
                <a:r>
                  <a:rPr lang="en-IN" noProof="0" dirty="0"/>
                  <a:t>If </a:t>
                </a:r>
                <a14:m>
                  <m:oMath xmlns:m="http://schemas.openxmlformats.org/officeDocument/2006/math">
                    <m:r>
                      <a:rPr lang="en-IN" i="1" noProof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IN" i="1" noProof="0"/>
                          <m:t>Spam</m:t>
                        </m:r>
                      </m:e>
                    </m:d>
                    <m:r>
                      <a:rPr lang="en-IN" noProof="0" smtClean="0">
                        <a:latin typeface="Cambria Math" panose="02040503050406030204" pitchFamily="18" charset="0"/>
                      </a:rPr>
                      <m:t>≥0.5</m:t>
                    </m:r>
                  </m:oMath>
                </a14:m>
                <a:r>
                  <a:rPr lang="en-IN" noProof="0" dirty="0"/>
                  <a:t>→ we </a:t>
                </a:r>
                <a:r>
                  <a:rPr lang="en-IN" b="1" noProof="0" dirty="0"/>
                  <a:t>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 noProof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noProof="0" dirty="0"/>
                  <a:t>(decide email </a:t>
                </a:r>
                <a:r>
                  <a:rPr lang="en-IN" b="1" noProof="0" dirty="0"/>
                  <a:t>is spam</a:t>
                </a:r>
                <a:r>
                  <a:rPr lang="en-IN" noProof="0" dirty="0"/>
                  <a:t>)</a:t>
                </a:r>
              </a:p>
              <a:p>
                <a:pPr lvl="2"/>
                <a:r>
                  <a:rPr lang="en-IN" noProof="0" dirty="0"/>
                  <a:t>If </a:t>
                </a:r>
                <a14:m>
                  <m:oMath xmlns:m="http://schemas.openxmlformats.org/officeDocument/2006/math">
                    <m:r>
                      <a:rPr lang="en-IN" i="1" noProof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IN" i="1" noProof="0"/>
                          <m:t>Spam</m:t>
                        </m:r>
                      </m:e>
                    </m:d>
                    <m:r>
                      <a:rPr lang="en-IN" noProof="0" smtClean="0">
                        <a:latin typeface="Cambria Math" panose="02040503050406030204" pitchFamily="18" charset="0"/>
                      </a:rPr>
                      <m:t>&lt;0.5</m:t>
                    </m:r>
                  </m:oMath>
                </a14:m>
                <a:r>
                  <a:rPr lang="en-IN" noProof="0" dirty="0"/>
                  <a:t>→ we </a:t>
                </a:r>
                <a:r>
                  <a:rPr lang="en-IN" b="1" noProof="0" dirty="0"/>
                  <a:t>fail to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 noProof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b="0" i="0" noProof="0" smtClean="0">
                        <a:latin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en-IN" noProof="0" dirty="0"/>
                  <a:t>decide email </a:t>
                </a:r>
                <a:r>
                  <a:rPr lang="en-IN" b="1" noProof="0" dirty="0"/>
                  <a:t>is not spam</a:t>
                </a:r>
                <a:r>
                  <a:rPr lang="en-IN" noProof="0" dirty="0"/>
                  <a:t>)</a:t>
                </a:r>
              </a:p>
              <a:p>
                <a:r>
                  <a:rPr lang="en-IN" noProof="0" dirty="0"/>
                  <a:t>Connecting to Confusion Matrix</a:t>
                </a:r>
              </a:p>
              <a:p>
                <a:endParaRPr lang="en-IN" noProof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61B770-EA36-5FB9-600F-8ACCE48574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4BD8F96-8101-D1DE-43AD-70CA541E8B2D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905123"/>
          <a:ext cx="10856977" cy="210312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2457768">
                  <a:extLst>
                    <a:ext uri="{9D8B030D-6E8A-4147-A177-3AD203B41FA5}">
                      <a16:colId xmlns:a16="http://schemas.microsoft.com/office/drawing/2014/main" val="1948497012"/>
                    </a:ext>
                  </a:extLst>
                </a:gridCol>
                <a:gridCol w="2662319">
                  <a:extLst>
                    <a:ext uri="{9D8B030D-6E8A-4147-A177-3AD203B41FA5}">
                      <a16:colId xmlns:a16="http://schemas.microsoft.com/office/drawing/2014/main" val="2673245698"/>
                    </a:ext>
                  </a:extLst>
                </a:gridCol>
                <a:gridCol w="2775610">
                  <a:extLst>
                    <a:ext uri="{9D8B030D-6E8A-4147-A177-3AD203B41FA5}">
                      <a16:colId xmlns:a16="http://schemas.microsoft.com/office/drawing/2014/main" val="3680328543"/>
                    </a:ext>
                  </a:extLst>
                </a:gridCol>
                <a:gridCol w="2961280">
                  <a:extLst>
                    <a:ext uri="{9D8B030D-6E8A-4147-A177-3AD203B41FA5}">
                      <a16:colId xmlns:a16="http://schemas.microsoft.com/office/drawing/2014/main" val="3396256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Actual</a:t>
                      </a:r>
                      <a:endParaRPr lang="en-IN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Model Decision</a:t>
                      </a:r>
                      <a:endParaRPr lang="en-IN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What happened (statistically)</a:t>
                      </a:r>
                      <a:endParaRPr lang="en-IN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Type of Error / Correctness</a:t>
                      </a:r>
                      <a:endParaRPr lang="en-IN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2985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Not spam (H₀ true)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Predicted not spam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Correctly accepted H₀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True Negative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05665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Not spam (H₀ true)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Predicted spam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Wrongly rejected H₀</a:t>
                      </a:r>
                      <a:endParaRPr lang="en-IN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False Positive (Type I error)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1214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Spam (H₁ true)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Predicted spam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Correctly rejected H₀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True Positive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33113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Spam (H₁ true)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Predicted not spam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Failed to reject H₀</a:t>
                      </a:r>
                      <a:endParaRPr lang="en-IN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False Negative (Type II error)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6618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68616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3EF3E-1EE4-5EF8-4D15-92FB4DEFB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8601"/>
            <a:ext cx="10515600" cy="722375"/>
          </a:xfrm>
        </p:spPr>
        <p:txBody>
          <a:bodyPr/>
          <a:lstStyle/>
          <a:p>
            <a:r>
              <a:rPr lang="en-IN" noProof="0" dirty="0"/>
              <a:t>Confusion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48DB3-03FB-0117-CCA4-64C26F912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0976"/>
            <a:ext cx="10515600" cy="5225987"/>
          </a:xfrm>
        </p:spPr>
        <p:txBody>
          <a:bodyPr/>
          <a:lstStyle/>
          <a:p>
            <a:r>
              <a:rPr lang="en-IN" noProof="0" dirty="0"/>
              <a:t>Structure</a:t>
            </a:r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r>
              <a:rPr lang="en-IN" noProof="0" dirty="0"/>
              <a:t>Example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219EC20-A1E0-557B-008E-03B7666A89EA}"/>
              </a:ext>
            </a:extLst>
          </p:cNvPr>
          <p:cNvGraphicFramePr>
            <a:graphicFrameLocks noGrp="1"/>
          </p:cNvGraphicFramePr>
          <p:nvPr/>
        </p:nvGraphicFramePr>
        <p:xfrm>
          <a:off x="1011936" y="1477550"/>
          <a:ext cx="10515600" cy="240792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2353056">
                  <a:extLst>
                    <a:ext uri="{9D8B030D-6E8A-4147-A177-3AD203B41FA5}">
                      <a16:colId xmlns:a16="http://schemas.microsoft.com/office/drawing/2014/main" val="3820426989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3567010568"/>
                    </a:ext>
                  </a:extLst>
                </a:gridCol>
                <a:gridCol w="4276344">
                  <a:extLst>
                    <a:ext uri="{9D8B030D-6E8A-4147-A177-3AD203B41FA5}">
                      <a16:colId xmlns:a16="http://schemas.microsoft.com/office/drawing/2014/main" val="32481221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Predicted: 0 (Ham / Not Spam)</a:t>
                      </a:r>
                      <a:endParaRPr lang="en-IN" sz="20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Predicted: 1 (Spam)</a:t>
                      </a:r>
                      <a:endParaRPr lang="en-IN" sz="200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57947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Actual: 0 (Ham)</a:t>
                      </a:r>
                      <a:endParaRPr lang="en-IN" sz="20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TN – True Negative</a:t>
                      </a:r>
                    </a:p>
                    <a:p>
                      <a:pPr>
                        <a:buNone/>
                      </a:pPr>
                      <a:r>
                        <a:rPr lang="en-IN" sz="2000" noProof="0" dirty="0"/>
                        <a:t>(Correctly predicted Not Spam)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FP – False Positive</a:t>
                      </a:r>
                    </a:p>
                    <a:p>
                      <a:pPr>
                        <a:buNone/>
                      </a:pPr>
                      <a:r>
                        <a:rPr lang="en-IN" sz="2000" noProof="0" dirty="0"/>
                        <a:t>(Predicted Spam but actually Not Spam)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73126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Actual: 1 (Spam)</a:t>
                      </a:r>
                      <a:endParaRPr lang="en-IN" sz="20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FN – False Negative</a:t>
                      </a:r>
                    </a:p>
                    <a:p>
                      <a:pPr>
                        <a:buNone/>
                      </a:pPr>
                      <a:r>
                        <a:rPr lang="en-IN" sz="2000" noProof="0" dirty="0"/>
                        <a:t>(Predicted Not Spam but actually Spam)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TP – True Positive</a:t>
                      </a:r>
                    </a:p>
                    <a:p>
                      <a:pPr>
                        <a:buNone/>
                      </a:pPr>
                      <a:r>
                        <a:rPr lang="en-IN" sz="2000" noProof="0" dirty="0"/>
                        <a:t>(Correctly predicted Spam)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344352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894D6DB-0910-7058-F161-76CD421D9FA2}"/>
              </a:ext>
            </a:extLst>
          </p:cNvPr>
          <p:cNvGraphicFramePr>
            <a:graphicFrameLocks noGrp="1"/>
          </p:cNvGraphicFramePr>
          <p:nvPr/>
        </p:nvGraphicFramePr>
        <p:xfrm>
          <a:off x="925068" y="4764024"/>
          <a:ext cx="10515600" cy="109728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942743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8404784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9413429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Predicted: 0 (Ham)</a:t>
                      </a:r>
                      <a:endParaRPr lang="en-IN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Predicted: 1 (Spam)</a:t>
                      </a:r>
                      <a:endParaRPr lang="en-IN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23754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Actual: 0 (Ham)</a:t>
                      </a:r>
                      <a:endParaRPr lang="en-IN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90 (</a:t>
                      </a:r>
                      <a:r>
                        <a:rPr lang="en-IN" b="1" noProof="0" dirty="0"/>
                        <a:t>TN</a:t>
                      </a:r>
                      <a:r>
                        <a:rPr lang="en-IN" noProof="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10 (</a:t>
                      </a:r>
                      <a:r>
                        <a:rPr lang="en-IN" b="1" noProof="0" dirty="0"/>
                        <a:t>FP</a:t>
                      </a:r>
                      <a:r>
                        <a:rPr lang="en-IN" noProof="0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54914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Actual: 1 (Spam)</a:t>
                      </a:r>
                      <a:endParaRPr lang="en-IN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20 (</a:t>
                      </a:r>
                      <a:r>
                        <a:rPr lang="en-IN" b="1" noProof="0" dirty="0"/>
                        <a:t>FN</a:t>
                      </a:r>
                      <a:r>
                        <a:rPr lang="en-IN" noProof="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80 (</a:t>
                      </a:r>
                      <a:r>
                        <a:rPr lang="en-IN" b="1" noProof="0" dirty="0"/>
                        <a:t>TP</a:t>
                      </a:r>
                      <a:r>
                        <a:rPr lang="en-IN" noProof="0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66367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75609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4A1F4-EE1E-839D-150C-7DDB976AC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Confusion Matrix: Another Example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436D7-8E9B-1937-B5B7-01BBBE9DBA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082808" cy="4351338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H₀ (Negative): Defendant is NOT guilty</a:t>
            </a:r>
          </a:p>
          <a:p>
            <a:r>
              <a:rPr lang="en-US" dirty="0"/>
              <a:t>H₁ (Positive): Defendant IS guilty</a:t>
            </a:r>
          </a:p>
          <a:p>
            <a:r>
              <a:rPr lang="en-US" dirty="0"/>
              <a:t>Reality: Defendant is NOT guilty</a:t>
            </a:r>
          </a:p>
          <a:p>
            <a:r>
              <a:rPr lang="en-US" dirty="0"/>
              <a:t>Total juries: 20</a:t>
            </a:r>
          </a:p>
          <a:p>
            <a:r>
              <a:rPr lang="en-US" dirty="0"/>
              <a:t>17 juries think “not guilty” and 3 juries think “guilty”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34EC4EF-2732-9666-9444-7250560EA3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80194" y="1815470"/>
            <a:ext cx="2830450" cy="4351338"/>
          </a:xfrm>
        </p:spPr>
        <p:txBody>
          <a:bodyPr>
            <a:normAutofit fontScale="55000" lnSpcReduction="20000"/>
          </a:bodyPr>
          <a:lstStyle/>
          <a:p>
            <a:r>
              <a:rPr lang="en-IN" dirty="0"/>
              <a:t>True Negative (CORRECT)</a:t>
            </a:r>
          </a:p>
          <a:p>
            <a:pPr lvl="1"/>
            <a:r>
              <a:rPr lang="en-IN" dirty="0"/>
              <a:t>Reality: Not guilty</a:t>
            </a:r>
          </a:p>
          <a:p>
            <a:pPr lvl="1"/>
            <a:r>
              <a:rPr lang="en-IN" dirty="0"/>
              <a:t>Jurie decision: Not guilty</a:t>
            </a:r>
          </a:p>
          <a:p>
            <a:pPr lvl="1"/>
            <a:r>
              <a:rPr lang="en-IN" dirty="0"/>
              <a:t>Count = 17</a:t>
            </a:r>
          </a:p>
          <a:p>
            <a:r>
              <a:rPr lang="en-IN" dirty="0"/>
              <a:t>True Positive (CORRECT)</a:t>
            </a:r>
          </a:p>
          <a:p>
            <a:pPr lvl="1"/>
            <a:r>
              <a:rPr lang="en-IN" dirty="0"/>
              <a:t>Reality: Guilty </a:t>
            </a:r>
          </a:p>
          <a:p>
            <a:pPr lvl="1"/>
            <a:r>
              <a:rPr lang="en-IN" dirty="0"/>
              <a:t>Jurie decision: Guilty</a:t>
            </a:r>
          </a:p>
          <a:p>
            <a:pPr lvl="1"/>
            <a:r>
              <a:rPr lang="en-IN" dirty="0"/>
              <a:t>Count = 0</a:t>
            </a:r>
          </a:p>
          <a:p>
            <a:r>
              <a:rPr lang="en-IN" dirty="0"/>
              <a:t>False Positive (WRONG)</a:t>
            </a:r>
          </a:p>
          <a:p>
            <a:pPr lvl="1"/>
            <a:r>
              <a:rPr lang="en-IN" dirty="0"/>
              <a:t>Reality: Not guilty </a:t>
            </a:r>
          </a:p>
          <a:p>
            <a:pPr lvl="1"/>
            <a:r>
              <a:rPr lang="en-IN" dirty="0"/>
              <a:t>Jurie decision: Guilty</a:t>
            </a:r>
          </a:p>
          <a:p>
            <a:pPr lvl="1"/>
            <a:r>
              <a:rPr lang="en-IN" dirty="0"/>
              <a:t>Count = 3</a:t>
            </a:r>
          </a:p>
          <a:p>
            <a:pPr lvl="1"/>
            <a:r>
              <a:rPr lang="en-IN" dirty="0"/>
              <a:t>Type I Error</a:t>
            </a:r>
          </a:p>
          <a:p>
            <a:r>
              <a:rPr lang="en-IN" dirty="0"/>
              <a:t>False Negative (WRONG)</a:t>
            </a:r>
          </a:p>
          <a:p>
            <a:pPr lvl="1"/>
            <a:r>
              <a:rPr lang="en-IN" dirty="0"/>
              <a:t>Reality: Guilty </a:t>
            </a:r>
          </a:p>
          <a:p>
            <a:pPr lvl="1"/>
            <a:r>
              <a:rPr lang="en-IN" dirty="0"/>
              <a:t>Jurie decision: Not guilty</a:t>
            </a:r>
          </a:p>
          <a:p>
            <a:pPr lvl="1"/>
            <a:r>
              <a:rPr lang="en-IN" dirty="0"/>
              <a:t>Count = 0</a:t>
            </a:r>
          </a:p>
          <a:p>
            <a:pPr lvl="1"/>
            <a:r>
              <a:rPr lang="en-IN" dirty="0"/>
              <a:t>Type II Error</a:t>
            </a:r>
          </a:p>
          <a:p>
            <a:endParaRPr lang="en-IN" dirty="0"/>
          </a:p>
          <a:p>
            <a:pPr lvl="1"/>
            <a:endParaRPr lang="en-GB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5CFD4C9-B12D-BB71-6AD1-C82BFF750E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9125821"/>
              </p:ext>
            </p:extLst>
          </p:nvPr>
        </p:nvGraphicFramePr>
        <p:xfrm>
          <a:off x="7895135" y="2059145"/>
          <a:ext cx="4082808" cy="2322711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360936">
                  <a:extLst>
                    <a:ext uri="{9D8B030D-6E8A-4147-A177-3AD203B41FA5}">
                      <a16:colId xmlns:a16="http://schemas.microsoft.com/office/drawing/2014/main" val="355762342"/>
                    </a:ext>
                  </a:extLst>
                </a:gridCol>
                <a:gridCol w="1360936">
                  <a:extLst>
                    <a:ext uri="{9D8B030D-6E8A-4147-A177-3AD203B41FA5}">
                      <a16:colId xmlns:a16="http://schemas.microsoft.com/office/drawing/2014/main" val="535525841"/>
                    </a:ext>
                  </a:extLst>
                </a:gridCol>
                <a:gridCol w="1360936">
                  <a:extLst>
                    <a:ext uri="{9D8B030D-6E8A-4147-A177-3AD203B41FA5}">
                      <a16:colId xmlns:a16="http://schemas.microsoft.com/office/drawing/2014/main" val="2221522432"/>
                    </a:ext>
                  </a:extLst>
                </a:gridCol>
              </a:tblGrid>
              <a:tr h="8907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Actual ↓ / Predicted 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Not Guilty (0)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Guilty (1)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4457508"/>
                  </a:ext>
                </a:extLst>
              </a:tr>
              <a:tr h="8907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Not Guilty (0)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TN = 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FP =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5864980"/>
                  </a:ext>
                </a:extLst>
              </a:tr>
              <a:tr h="5412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Guilty (1)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FN = 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TP = 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74283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45649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E8718-61D8-105B-8E44-16E58134E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EA0F5-B559-D442-2EAC-8321BA36F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Confusion Matrix: Another Example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54BBC-009C-A6E4-D831-DC0499597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H₀ (Negative): Patient does NOT have a disease</a:t>
            </a:r>
          </a:p>
          <a:p>
            <a:r>
              <a:rPr lang="en-US" dirty="0"/>
              <a:t>H₁ (Positive): Patient HAS a disease</a:t>
            </a:r>
          </a:p>
          <a:p>
            <a:endParaRPr lang="en-US" dirty="0"/>
          </a:p>
          <a:p>
            <a:r>
              <a:rPr lang="en-US" dirty="0"/>
              <a:t>Total patients: 20</a:t>
            </a:r>
          </a:p>
          <a:p>
            <a:r>
              <a:rPr lang="en-US" dirty="0"/>
              <a:t>Reality:</a:t>
            </a:r>
          </a:p>
          <a:p>
            <a:pPr lvl="1"/>
            <a:r>
              <a:rPr lang="en-US" dirty="0"/>
              <a:t>10 patients have the disease</a:t>
            </a:r>
          </a:p>
          <a:p>
            <a:pPr lvl="1"/>
            <a:r>
              <a:rPr lang="en-US" dirty="0"/>
              <a:t>10 patients do NOT have the disease</a:t>
            </a:r>
          </a:p>
          <a:p>
            <a:r>
              <a:rPr lang="en-US" dirty="0"/>
              <a:t>Test results:</a:t>
            </a:r>
          </a:p>
          <a:p>
            <a:pPr lvl="1"/>
            <a:r>
              <a:rPr lang="en-US" dirty="0"/>
              <a:t>Among 10 sick patients:</a:t>
            </a:r>
          </a:p>
          <a:p>
            <a:pPr lvl="2"/>
            <a:r>
              <a:rPr lang="en-US" dirty="0"/>
              <a:t>7 tested positive</a:t>
            </a:r>
          </a:p>
          <a:p>
            <a:pPr lvl="2"/>
            <a:r>
              <a:rPr lang="en-US" dirty="0"/>
              <a:t>3 tested negative</a:t>
            </a:r>
          </a:p>
          <a:p>
            <a:pPr lvl="1"/>
            <a:r>
              <a:rPr lang="en-US" dirty="0"/>
              <a:t>Among 10 healthy patients:</a:t>
            </a:r>
          </a:p>
          <a:p>
            <a:pPr lvl="2"/>
            <a:r>
              <a:rPr lang="en-US" dirty="0"/>
              <a:t>6 tested negative</a:t>
            </a:r>
          </a:p>
          <a:p>
            <a:pPr lvl="2"/>
            <a:r>
              <a:rPr lang="en-US" dirty="0"/>
              <a:t>4 tested positive</a:t>
            </a:r>
          </a:p>
        </p:txBody>
      </p:sp>
    </p:spTree>
    <p:extLst>
      <p:ext uri="{BB962C8B-B14F-4D97-AF65-F5344CB8AC3E}">
        <p14:creationId xmlns:p14="http://schemas.microsoft.com/office/powerpoint/2010/main" val="21518450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3F64B-D06F-C923-9DC1-7C5B844ED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FC47E-D427-2399-0A29-633CADE42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Confusion Matrix: Another Example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5A98D-80E1-88E4-F292-2B681432C2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082808" cy="4351338"/>
          </a:xfrm>
        </p:spPr>
        <p:txBody>
          <a:bodyPr>
            <a:normAutofit fontScale="92500" lnSpcReduction="10000"/>
          </a:bodyPr>
          <a:lstStyle/>
          <a:p>
            <a:r>
              <a:rPr lang="en-US" sz="1600" dirty="0"/>
              <a:t>H₀ (Negative): Patient does NOT have a disease</a:t>
            </a:r>
          </a:p>
          <a:p>
            <a:r>
              <a:rPr lang="en-US" sz="1600" dirty="0"/>
              <a:t>H₁ (Positive): Patient HAS a disease</a:t>
            </a:r>
          </a:p>
          <a:p>
            <a:endParaRPr lang="en-US" sz="1600" dirty="0"/>
          </a:p>
          <a:p>
            <a:r>
              <a:rPr lang="en-US" sz="1600" dirty="0"/>
              <a:t>Total patients: 20</a:t>
            </a:r>
          </a:p>
          <a:p>
            <a:r>
              <a:rPr lang="en-US" sz="1600" dirty="0"/>
              <a:t>Reality:</a:t>
            </a:r>
          </a:p>
          <a:p>
            <a:pPr lvl="1"/>
            <a:r>
              <a:rPr lang="en-US" sz="1400" dirty="0"/>
              <a:t>10 patients have the disease</a:t>
            </a:r>
          </a:p>
          <a:p>
            <a:pPr lvl="1"/>
            <a:r>
              <a:rPr lang="en-US" sz="1400" dirty="0"/>
              <a:t>10 patients do NOT have the disease</a:t>
            </a:r>
          </a:p>
          <a:p>
            <a:r>
              <a:rPr lang="en-US" sz="1600" dirty="0"/>
              <a:t>Test results:</a:t>
            </a:r>
          </a:p>
          <a:p>
            <a:pPr lvl="1"/>
            <a:r>
              <a:rPr lang="en-US" sz="1400" dirty="0"/>
              <a:t>Among 10 sick patients:</a:t>
            </a:r>
          </a:p>
          <a:p>
            <a:pPr lvl="2"/>
            <a:r>
              <a:rPr lang="en-US" sz="1200" dirty="0"/>
              <a:t>7 tested positive</a:t>
            </a:r>
          </a:p>
          <a:p>
            <a:pPr lvl="2"/>
            <a:r>
              <a:rPr lang="en-US" sz="1200" dirty="0"/>
              <a:t>3 tested negative</a:t>
            </a:r>
          </a:p>
          <a:p>
            <a:pPr lvl="1"/>
            <a:r>
              <a:rPr lang="en-US" sz="1400" dirty="0"/>
              <a:t>Among 10 healthy patients:</a:t>
            </a:r>
          </a:p>
          <a:p>
            <a:pPr lvl="2"/>
            <a:r>
              <a:rPr lang="en-US" sz="1200" dirty="0"/>
              <a:t>6 tested negative</a:t>
            </a:r>
          </a:p>
          <a:p>
            <a:pPr lvl="2"/>
            <a:r>
              <a:rPr lang="en-US" sz="1200" dirty="0"/>
              <a:t>4 tested positive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A2C1A3C-D650-15DB-1516-62680FD9EC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30228" y="1843390"/>
            <a:ext cx="2830450" cy="4351338"/>
          </a:xfrm>
        </p:spPr>
        <p:txBody>
          <a:bodyPr>
            <a:normAutofit fontScale="92500" lnSpcReduction="10000"/>
          </a:bodyPr>
          <a:lstStyle/>
          <a:p>
            <a:r>
              <a:rPr lang="en-IN" sz="1600" dirty="0"/>
              <a:t>True Negative (CORRECT)</a:t>
            </a:r>
          </a:p>
          <a:p>
            <a:pPr lvl="1"/>
            <a:r>
              <a:rPr lang="en-IN" sz="1400" dirty="0"/>
              <a:t>Reality: No disease</a:t>
            </a:r>
          </a:p>
          <a:p>
            <a:pPr lvl="1"/>
            <a:r>
              <a:rPr lang="en-IN" sz="1400" dirty="0"/>
              <a:t>Test: No disease</a:t>
            </a:r>
          </a:p>
          <a:p>
            <a:pPr lvl="1"/>
            <a:r>
              <a:rPr lang="en-IN" sz="1400" dirty="0"/>
              <a:t>Count = 6</a:t>
            </a:r>
          </a:p>
          <a:p>
            <a:r>
              <a:rPr lang="en-IN" sz="1600" dirty="0"/>
              <a:t>True Positive (CORRECT)</a:t>
            </a:r>
          </a:p>
          <a:p>
            <a:pPr lvl="1"/>
            <a:r>
              <a:rPr lang="en-IN" sz="1400" dirty="0"/>
              <a:t>Reality: Disease</a:t>
            </a:r>
          </a:p>
          <a:p>
            <a:pPr lvl="1"/>
            <a:r>
              <a:rPr lang="en-IN" sz="1400" dirty="0"/>
              <a:t>Test: Disease</a:t>
            </a:r>
          </a:p>
          <a:p>
            <a:pPr lvl="1"/>
            <a:r>
              <a:rPr lang="en-IN" sz="1400" dirty="0"/>
              <a:t>Count = 7</a:t>
            </a:r>
          </a:p>
          <a:p>
            <a:r>
              <a:rPr lang="en-IN" sz="1600" dirty="0"/>
              <a:t>False Positive (WRONG)</a:t>
            </a:r>
          </a:p>
          <a:p>
            <a:pPr lvl="1"/>
            <a:r>
              <a:rPr lang="en-IN" sz="1400" dirty="0"/>
              <a:t>Reality: No disease</a:t>
            </a:r>
          </a:p>
          <a:p>
            <a:pPr lvl="1"/>
            <a:r>
              <a:rPr lang="en-IN" sz="1400" dirty="0"/>
              <a:t>Test: Disease</a:t>
            </a:r>
          </a:p>
          <a:p>
            <a:pPr lvl="1"/>
            <a:r>
              <a:rPr lang="en-IN" sz="1400" dirty="0"/>
              <a:t>Count = 4</a:t>
            </a:r>
          </a:p>
          <a:p>
            <a:pPr lvl="1"/>
            <a:r>
              <a:rPr lang="en-IN" sz="1400" dirty="0"/>
              <a:t>Type I Error</a:t>
            </a:r>
          </a:p>
          <a:p>
            <a:r>
              <a:rPr lang="en-IN" sz="1600" dirty="0"/>
              <a:t>False Negative (WRONG)</a:t>
            </a:r>
          </a:p>
          <a:p>
            <a:pPr lvl="1"/>
            <a:r>
              <a:rPr lang="en-IN" sz="1400" dirty="0"/>
              <a:t>Reality: Disease</a:t>
            </a:r>
          </a:p>
          <a:p>
            <a:pPr lvl="1"/>
            <a:r>
              <a:rPr lang="en-IN" sz="1400" dirty="0"/>
              <a:t>Jurie decision: No disease</a:t>
            </a:r>
          </a:p>
          <a:p>
            <a:pPr lvl="1"/>
            <a:r>
              <a:rPr lang="en-IN" sz="1400" dirty="0"/>
              <a:t>Count = 3</a:t>
            </a:r>
          </a:p>
          <a:p>
            <a:pPr lvl="1"/>
            <a:r>
              <a:rPr lang="en-IN" sz="1400" dirty="0"/>
              <a:t>Type II Error</a:t>
            </a:r>
          </a:p>
          <a:p>
            <a:endParaRPr lang="en-IN" sz="1600" dirty="0"/>
          </a:p>
          <a:p>
            <a:pPr lvl="1"/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634980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94F98-EE16-7BF0-A090-75263EF63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269D5-2466-87FD-29AE-9735204B1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Confusion Matrix: Another Example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A0FBE-D6CA-5252-EDF0-4EFB0D449A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082808" cy="4351338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H₀ (Negative): Patient does NOT have a disease</a:t>
            </a:r>
          </a:p>
          <a:p>
            <a:r>
              <a:rPr lang="en-US" dirty="0"/>
              <a:t>H₁ (Positive</a:t>
            </a:r>
            <a:r>
              <a:rPr lang="en-US"/>
              <a:t>): Patient </a:t>
            </a:r>
            <a:r>
              <a:rPr lang="en-US" dirty="0"/>
              <a:t>HAS a disease</a:t>
            </a:r>
          </a:p>
          <a:p>
            <a:endParaRPr lang="en-US" dirty="0"/>
          </a:p>
          <a:p>
            <a:r>
              <a:rPr lang="en-US" dirty="0"/>
              <a:t>Total patients: 20</a:t>
            </a:r>
          </a:p>
          <a:p>
            <a:r>
              <a:rPr lang="en-US" dirty="0"/>
              <a:t>Reality:</a:t>
            </a:r>
          </a:p>
          <a:p>
            <a:pPr lvl="1"/>
            <a:r>
              <a:rPr lang="en-US" dirty="0"/>
              <a:t>10 patients have the disease</a:t>
            </a:r>
          </a:p>
          <a:p>
            <a:pPr lvl="1"/>
            <a:r>
              <a:rPr lang="en-US" dirty="0"/>
              <a:t>10 patients do NOT have the disease</a:t>
            </a:r>
          </a:p>
          <a:p>
            <a:r>
              <a:rPr lang="en-US" dirty="0"/>
              <a:t>Test results:</a:t>
            </a:r>
          </a:p>
          <a:p>
            <a:pPr lvl="1"/>
            <a:r>
              <a:rPr lang="en-US" dirty="0"/>
              <a:t>Among 10 sick patients:</a:t>
            </a:r>
          </a:p>
          <a:p>
            <a:pPr lvl="2"/>
            <a:r>
              <a:rPr lang="en-US" dirty="0"/>
              <a:t>7 tested positive</a:t>
            </a:r>
          </a:p>
          <a:p>
            <a:pPr lvl="2"/>
            <a:r>
              <a:rPr lang="en-US" dirty="0"/>
              <a:t>3 tested negative</a:t>
            </a:r>
          </a:p>
          <a:p>
            <a:pPr lvl="1"/>
            <a:r>
              <a:rPr lang="en-US" dirty="0"/>
              <a:t>Among 10 healthy patients:</a:t>
            </a:r>
          </a:p>
          <a:p>
            <a:pPr lvl="2"/>
            <a:r>
              <a:rPr lang="en-US" dirty="0"/>
              <a:t>6 tested negative</a:t>
            </a:r>
          </a:p>
          <a:p>
            <a:pPr lvl="2"/>
            <a:r>
              <a:rPr lang="en-US" dirty="0"/>
              <a:t>4 tested positive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C8ECBEE-F69D-30BC-C014-486126203E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80194" y="1815470"/>
            <a:ext cx="2830450" cy="4351338"/>
          </a:xfrm>
        </p:spPr>
        <p:txBody>
          <a:bodyPr>
            <a:normAutofit fontScale="55000" lnSpcReduction="20000"/>
          </a:bodyPr>
          <a:lstStyle/>
          <a:p>
            <a:r>
              <a:rPr lang="en-IN" dirty="0"/>
              <a:t>True Negative (CORRECT)</a:t>
            </a:r>
          </a:p>
          <a:p>
            <a:pPr lvl="1"/>
            <a:r>
              <a:rPr lang="en-IN" dirty="0"/>
              <a:t>Reality: No disease</a:t>
            </a:r>
          </a:p>
          <a:p>
            <a:pPr lvl="1"/>
            <a:r>
              <a:rPr lang="en-IN" dirty="0"/>
              <a:t>Test: No disease</a:t>
            </a:r>
          </a:p>
          <a:p>
            <a:pPr lvl="1"/>
            <a:r>
              <a:rPr lang="en-IN" dirty="0"/>
              <a:t>Count = 6</a:t>
            </a:r>
          </a:p>
          <a:p>
            <a:r>
              <a:rPr lang="en-IN" dirty="0"/>
              <a:t>True Positive (CORRECT)</a:t>
            </a:r>
          </a:p>
          <a:p>
            <a:pPr lvl="1"/>
            <a:r>
              <a:rPr lang="en-IN" dirty="0"/>
              <a:t>Reality: Disease</a:t>
            </a:r>
          </a:p>
          <a:p>
            <a:pPr lvl="1"/>
            <a:r>
              <a:rPr lang="en-IN" dirty="0"/>
              <a:t>Test: Disease</a:t>
            </a:r>
          </a:p>
          <a:p>
            <a:pPr lvl="1"/>
            <a:r>
              <a:rPr lang="en-IN" dirty="0"/>
              <a:t>Count = 7</a:t>
            </a:r>
          </a:p>
          <a:p>
            <a:r>
              <a:rPr lang="en-IN" dirty="0"/>
              <a:t>False Positive (WRONG)</a:t>
            </a:r>
          </a:p>
          <a:p>
            <a:pPr lvl="1"/>
            <a:r>
              <a:rPr lang="en-IN" dirty="0"/>
              <a:t>Reality: No disease</a:t>
            </a:r>
          </a:p>
          <a:p>
            <a:pPr lvl="1"/>
            <a:r>
              <a:rPr lang="en-IN" dirty="0"/>
              <a:t>Test: Disease</a:t>
            </a:r>
          </a:p>
          <a:p>
            <a:pPr lvl="1"/>
            <a:r>
              <a:rPr lang="en-IN" dirty="0"/>
              <a:t>Count = 4</a:t>
            </a:r>
          </a:p>
          <a:p>
            <a:pPr lvl="1"/>
            <a:r>
              <a:rPr lang="en-IN" dirty="0"/>
              <a:t>Type I Error</a:t>
            </a:r>
          </a:p>
          <a:p>
            <a:r>
              <a:rPr lang="en-IN" dirty="0"/>
              <a:t>False Negative (WRONG)</a:t>
            </a:r>
          </a:p>
          <a:p>
            <a:pPr lvl="1"/>
            <a:r>
              <a:rPr lang="en-IN" dirty="0"/>
              <a:t>Reality: Disease</a:t>
            </a:r>
          </a:p>
          <a:p>
            <a:pPr lvl="1"/>
            <a:r>
              <a:rPr lang="en-IN" dirty="0"/>
              <a:t>Jurie decision: No disease</a:t>
            </a:r>
          </a:p>
          <a:p>
            <a:pPr lvl="1"/>
            <a:r>
              <a:rPr lang="en-IN" dirty="0"/>
              <a:t>Count = 3</a:t>
            </a:r>
          </a:p>
          <a:p>
            <a:pPr lvl="1"/>
            <a:r>
              <a:rPr lang="en-IN" dirty="0"/>
              <a:t>Type II Error</a:t>
            </a:r>
          </a:p>
          <a:p>
            <a:endParaRPr lang="en-IN" dirty="0"/>
          </a:p>
          <a:p>
            <a:pPr lvl="1"/>
            <a:endParaRPr lang="en-GB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067BCDB-9615-D4F7-0EB4-BE29A92DF512}"/>
              </a:ext>
            </a:extLst>
          </p:cNvPr>
          <p:cNvGraphicFramePr>
            <a:graphicFrameLocks noGrp="1"/>
          </p:cNvGraphicFramePr>
          <p:nvPr/>
        </p:nvGraphicFramePr>
        <p:xfrm>
          <a:off x="7895135" y="2059145"/>
          <a:ext cx="4082808" cy="2322711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360936">
                  <a:extLst>
                    <a:ext uri="{9D8B030D-6E8A-4147-A177-3AD203B41FA5}">
                      <a16:colId xmlns:a16="http://schemas.microsoft.com/office/drawing/2014/main" val="355762342"/>
                    </a:ext>
                  </a:extLst>
                </a:gridCol>
                <a:gridCol w="1360936">
                  <a:extLst>
                    <a:ext uri="{9D8B030D-6E8A-4147-A177-3AD203B41FA5}">
                      <a16:colId xmlns:a16="http://schemas.microsoft.com/office/drawing/2014/main" val="535525841"/>
                    </a:ext>
                  </a:extLst>
                </a:gridCol>
                <a:gridCol w="1360936">
                  <a:extLst>
                    <a:ext uri="{9D8B030D-6E8A-4147-A177-3AD203B41FA5}">
                      <a16:colId xmlns:a16="http://schemas.microsoft.com/office/drawing/2014/main" val="2221522432"/>
                    </a:ext>
                  </a:extLst>
                </a:gridCol>
              </a:tblGrid>
              <a:tr h="8907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Actual ↓ / Predicted 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No disease (0)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Disease (1)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4457508"/>
                  </a:ext>
                </a:extLst>
              </a:tr>
              <a:tr h="8907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No disease (0)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TN = 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FP = 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5864980"/>
                  </a:ext>
                </a:extLst>
              </a:tr>
              <a:tr h="5412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Disease (1)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FN =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TP = 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74283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26053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B8A48-9CFE-27C4-8692-C1DB338AA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Metrics Derived From Confusion Matrix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4866547-671F-404C-1A49-FD260AC0D94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2648" y="1825624"/>
          <a:ext cx="11119105" cy="4502905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892808">
                  <a:extLst>
                    <a:ext uri="{9D8B030D-6E8A-4147-A177-3AD203B41FA5}">
                      <a16:colId xmlns:a16="http://schemas.microsoft.com/office/drawing/2014/main" val="3777908112"/>
                    </a:ext>
                  </a:extLst>
                </a:gridCol>
                <a:gridCol w="2554834">
                  <a:extLst>
                    <a:ext uri="{9D8B030D-6E8A-4147-A177-3AD203B41FA5}">
                      <a16:colId xmlns:a16="http://schemas.microsoft.com/office/drawing/2014/main" val="3489602681"/>
                    </a:ext>
                  </a:extLst>
                </a:gridCol>
                <a:gridCol w="2776118">
                  <a:extLst>
                    <a:ext uri="{9D8B030D-6E8A-4147-A177-3AD203B41FA5}">
                      <a16:colId xmlns:a16="http://schemas.microsoft.com/office/drawing/2014/main" val="169128107"/>
                    </a:ext>
                  </a:extLst>
                </a:gridCol>
                <a:gridCol w="2715768">
                  <a:extLst>
                    <a:ext uri="{9D8B030D-6E8A-4147-A177-3AD203B41FA5}">
                      <a16:colId xmlns:a16="http://schemas.microsoft.com/office/drawing/2014/main" val="3058661579"/>
                    </a:ext>
                  </a:extLst>
                </a:gridCol>
                <a:gridCol w="1179577">
                  <a:extLst>
                    <a:ext uri="{9D8B030D-6E8A-4147-A177-3AD203B41FA5}">
                      <a16:colId xmlns:a16="http://schemas.microsoft.com/office/drawing/2014/main" val="2937560234"/>
                    </a:ext>
                  </a:extLst>
                </a:gridCol>
              </a:tblGrid>
              <a:tr h="7633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Metric</a:t>
                      </a:r>
                      <a:endParaRPr lang="en-IN" sz="2000" noProof="0" dirty="0"/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Formula</a:t>
                      </a:r>
                      <a:endParaRPr lang="en-IN" sz="2000" noProof="0" dirty="0"/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Meaning</a:t>
                      </a:r>
                      <a:endParaRPr lang="en-IN" sz="2000" noProof="0" dirty="0"/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Example (TN=90, FP=10, FN=20, TP=80)</a:t>
                      </a:r>
                      <a:endParaRPr lang="en-IN" sz="2000" noProof="0" dirty="0"/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Value</a:t>
                      </a:r>
                      <a:endParaRPr lang="en-IN" sz="2000" noProof="0" dirty="0"/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3952395341"/>
                  </a:ext>
                </a:extLst>
              </a:tr>
              <a:tr h="534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Accuracy</a:t>
                      </a:r>
                      <a:endParaRPr lang="en-IN" sz="2000" noProof="0" dirty="0"/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(TP + TN) / </a:t>
                      </a:r>
                    </a:p>
                    <a:p>
                      <a:pPr>
                        <a:buNone/>
                      </a:pPr>
                      <a:r>
                        <a:rPr lang="en-IN" sz="2000" noProof="0" dirty="0"/>
                        <a:t>(TP + TN + FP + FN)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Overall correctness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(80+90)/</a:t>
                      </a:r>
                    </a:p>
                    <a:p>
                      <a:pPr>
                        <a:buNone/>
                      </a:pPr>
                      <a:r>
                        <a:rPr lang="en-IN" sz="2000" noProof="0" dirty="0"/>
                        <a:t>(80+90+10+20)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0.85</a:t>
                      </a:r>
                      <a:endParaRPr lang="en-IN" sz="2000" noProof="0" dirty="0"/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3531903368"/>
                  </a:ext>
                </a:extLst>
              </a:tr>
              <a:tr h="7633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Precision</a:t>
                      </a:r>
                      <a:endParaRPr lang="en-IN" sz="2000" noProof="0" dirty="0"/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TP / (TP + FP)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Of predicted positives, how many were correct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80/</a:t>
                      </a:r>
                    </a:p>
                    <a:p>
                      <a:pPr>
                        <a:buNone/>
                      </a:pPr>
                      <a:r>
                        <a:rPr lang="en-IN" sz="2000" noProof="0" dirty="0"/>
                        <a:t>(80+10)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0.89</a:t>
                      </a:r>
                      <a:endParaRPr lang="en-IN" sz="2000" noProof="0" dirty="0"/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3083190969"/>
                  </a:ext>
                </a:extLst>
              </a:tr>
              <a:tr h="7633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Recall (Sensitivity)</a:t>
                      </a:r>
                      <a:endParaRPr lang="en-IN" sz="2000" noProof="0" dirty="0"/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TP / (TP + FN)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Of actual positives, how many were caught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80/</a:t>
                      </a:r>
                    </a:p>
                    <a:p>
                      <a:pPr>
                        <a:buNone/>
                      </a:pPr>
                      <a:r>
                        <a:rPr lang="en-IN" sz="2000" noProof="0" dirty="0"/>
                        <a:t>(80+20)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0.80</a:t>
                      </a:r>
                      <a:endParaRPr lang="en-IN" sz="2000" noProof="0" dirty="0"/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3730556513"/>
                  </a:ext>
                </a:extLst>
              </a:tr>
              <a:tr h="7633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Specificity</a:t>
                      </a:r>
                      <a:endParaRPr lang="en-IN" sz="2000" noProof="0" dirty="0"/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TN / (TN + FP)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Of actual negatives, how many were correct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90/</a:t>
                      </a:r>
                    </a:p>
                    <a:p>
                      <a:pPr>
                        <a:buNone/>
                      </a:pPr>
                      <a:r>
                        <a:rPr lang="en-IN" sz="2000" noProof="0" dirty="0"/>
                        <a:t>(90+10)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0.90</a:t>
                      </a:r>
                      <a:endParaRPr lang="en-IN" sz="2000" noProof="0" dirty="0"/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1831012174"/>
                  </a:ext>
                </a:extLst>
              </a:tr>
              <a:tr h="7633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F1 Score</a:t>
                      </a:r>
                      <a:endParaRPr lang="en-IN" sz="2000" noProof="0" dirty="0"/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2 × (Precision × Recall) / (Precision + Recall)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Balance between precision and recall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2×(0.89×0.80)/</a:t>
                      </a:r>
                    </a:p>
                    <a:p>
                      <a:pPr>
                        <a:buNone/>
                      </a:pPr>
                      <a:r>
                        <a:rPr lang="en-IN" sz="2000" noProof="0" dirty="0"/>
                        <a:t>(0.89+0.80)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0.84</a:t>
                      </a:r>
                      <a:endParaRPr lang="en-IN" sz="2000" noProof="0" dirty="0"/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9502128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66280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15140-5886-CF99-6558-EE390C729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5504"/>
            <a:ext cx="10515600" cy="1145406"/>
          </a:xfrm>
        </p:spPr>
        <p:txBody>
          <a:bodyPr>
            <a:normAutofit/>
          </a:bodyPr>
          <a:lstStyle/>
          <a:p>
            <a:r>
              <a:rPr lang="en-IN" noProof="0" dirty="0"/>
              <a:t>Interpretation of Python Classification Report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18163AC-E3E4-C9D4-C9EF-C1C4BC7D0C3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88758" y="1260910"/>
          <a:ext cx="11463688" cy="5820046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319193">
                  <a:extLst>
                    <a:ext uri="{9D8B030D-6E8A-4147-A177-3AD203B41FA5}">
                      <a16:colId xmlns:a16="http://schemas.microsoft.com/office/drawing/2014/main" val="1097948249"/>
                    </a:ext>
                  </a:extLst>
                </a:gridCol>
                <a:gridCol w="2208882">
                  <a:extLst>
                    <a:ext uri="{9D8B030D-6E8A-4147-A177-3AD203B41FA5}">
                      <a16:colId xmlns:a16="http://schemas.microsoft.com/office/drawing/2014/main" val="2100280629"/>
                    </a:ext>
                  </a:extLst>
                </a:gridCol>
                <a:gridCol w="1268061">
                  <a:extLst>
                    <a:ext uri="{9D8B030D-6E8A-4147-A177-3AD203B41FA5}">
                      <a16:colId xmlns:a16="http://schemas.microsoft.com/office/drawing/2014/main" val="3810151233"/>
                    </a:ext>
                  </a:extLst>
                </a:gridCol>
                <a:gridCol w="1206704">
                  <a:extLst>
                    <a:ext uri="{9D8B030D-6E8A-4147-A177-3AD203B41FA5}">
                      <a16:colId xmlns:a16="http://schemas.microsoft.com/office/drawing/2014/main" val="549585900"/>
                    </a:ext>
                  </a:extLst>
                </a:gridCol>
                <a:gridCol w="5460848">
                  <a:extLst>
                    <a:ext uri="{9D8B030D-6E8A-4147-A177-3AD203B41FA5}">
                      <a16:colId xmlns:a16="http://schemas.microsoft.com/office/drawing/2014/main" val="1867178990"/>
                    </a:ext>
                  </a:extLst>
                </a:gridCol>
              </a:tblGrid>
              <a:tr h="62699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noProof="0" dirty="0">
                          <a:solidFill>
                            <a:srgbClr val="1B1C1D"/>
                          </a:solidFill>
                          <a:effectLst/>
                        </a:rPr>
                        <a:t>Metric</a:t>
                      </a:r>
                      <a:endParaRPr lang="en-IN" sz="18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6361" marR="26361" marT="17574" marB="1757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noProof="0" dirty="0">
                          <a:solidFill>
                            <a:srgbClr val="1B1C1D"/>
                          </a:solidFill>
                          <a:effectLst/>
                        </a:rPr>
                        <a:t>Definition</a:t>
                      </a:r>
                      <a:endParaRPr lang="en-IN" sz="18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6361" marR="26361" marT="17574" marB="1757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noProof="0" dirty="0">
                          <a:solidFill>
                            <a:srgbClr val="1B1C1D"/>
                          </a:solidFill>
                          <a:effectLst/>
                        </a:rPr>
                        <a:t>Class 0 Value</a:t>
                      </a:r>
                      <a:endParaRPr lang="en-IN" sz="18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6361" marR="26361" marT="17574" marB="1757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noProof="0" dirty="0">
                          <a:solidFill>
                            <a:srgbClr val="1B1C1D"/>
                          </a:solidFill>
                          <a:effectLst/>
                        </a:rPr>
                        <a:t>Class 1 Value</a:t>
                      </a:r>
                      <a:endParaRPr lang="en-IN" sz="18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6361" marR="26361" marT="17574" marB="1757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noProof="0" dirty="0">
                          <a:solidFill>
                            <a:srgbClr val="1B1C1D"/>
                          </a:solidFill>
                          <a:effectLst/>
                        </a:rPr>
                        <a:t>Interpretation</a:t>
                      </a:r>
                      <a:endParaRPr lang="en-IN" sz="18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6361" marR="26361" marT="17574" marB="17574" anchor="ctr"/>
                </a:tc>
                <a:extLst>
                  <a:ext uri="{0D108BD9-81ED-4DB2-BD59-A6C34878D82A}">
                    <a16:rowId xmlns:a16="http://schemas.microsoft.com/office/drawing/2014/main" val="3423276977"/>
                  </a:ext>
                </a:extLst>
              </a:tr>
              <a:tr h="95506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noProof="0" dirty="0">
                          <a:solidFill>
                            <a:srgbClr val="1B1C1D"/>
                          </a:solidFill>
                          <a:effectLst/>
                        </a:rPr>
                        <a:t>Support</a:t>
                      </a:r>
                      <a:endParaRPr lang="en-IN" sz="18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6361" marR="26361" marT="17574" marB="1757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noProof="0" dirty="0">
                          <a:solidFill>
                            <a:srgbClr val="1B1C1D"/>
                          </a:solidFill>
                          <a:effectLst/>
                        </a:rPr>
                        <a:t>The actual number of occurrences of each class in the test set.</a:t>
                      </a:r>
                      <a:endParaRPr lang="en-IN" sz="18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6361" marR="26361" marT="17574" marB="1757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noProof="0" dirty="0">
                          <a:solidFill>
                            <a:srgbClr val="1B1C1D"/>
                          </a:solidFill>
                          <a:effectLst/>
                        </a:rPr>
                        <a:t>150</a:t>
                      </a:r>
                      <a:endParaRPr lang="en-IN" sz="18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6361" marR="26361" marT="17574" marB="1757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noProof="0" dirty="0">
                          <a:solidFill>
                            <a:srgbClr val="1B1C1D"/>
                          </a:solidFill>
                          <a:effectLst/>
                        </a:rPr>
                        <a:t>81</a:t>
                      </a:r>
                      <a:endParaRPr lang="en-IN" sz="18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6361" marR="26361" marT="17574" marB="1757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noProof="0" dirty="0">
                          <a:solidFill>
                            <a:srgbClr val="1B1C1D"/>
                          </a:solidFill>
                          <a:effectLst/>
                        </a:rPr>
                        <a:t>There are </a:t>
                      </a:r>
                      <a:r>
                        <a:rPr lang="en-IN" sz="1800" b="1" noProof="0" dirty="0">
                          <a:solidFill>
                            <a:srgbClr val="1B1C1D"/>
                          </a:solidFill>
                          <a:effectLst/>
                        </a:rPr>
                        <a:t>150</a:t>
                      </a:r>
                      <a:r>
                        <a:rPr lang="en-IN" sz="1800" noProof="0" dirty="0">
                          <a:solidFill>
                            <a:srgbClr val="1B1C1D"/>
                          </a:solidFill>
                          <a:effectLst/>
                        </a:rPr>
                        <a:t> instances of </a:t>
                      </a:r>
                      <a:r>
                        <a:rPr lang="en-IN" sz="1800" b="1" noProof="0" dirty="0">
                          <a:solidFill>
                            <a:srgbClr val="1B1C1D"/>
                          </a:solidFill>
                          <a:effectLst/>
                        </a:rPr>
                        <a:t>Class 0</a:t>
                      </a:r>
                      <a:r>
                        <a:rPr lang="en-IN" sz="1800" noProof="0" dirty="0">
                          <a:solidFill>
                            <a:srgbClr val="1B1C1D"/>
                          </a:solidFill>
                          <a:effectLst/>
                        </a:rPr>
                        <a:t> and </a:t>
                      </a:r>
                      <a:r>
                        <a:rPr lang="en-IN" sz="1800" b="1" noProof="0" dirty="0">
                          <a:solidFill>
                            <a:srgbClr val="1B1C1D"/>
                          </a:solidFill>
                          <a:effectLst/>
                        </a:rPr>
                        <a:t>81</a:t>
                      </a:r>
                      <a:r>
                        <a:rPr lang="en-IN" sz="1800" noProof="0" dirty="0">
                          <a:solidFill>
                            <a:srgbClr val="1B1C1D"/>
                          </a:solidFill>
                          <a:effectLst/>
                        </a:rPr>
                        <a:t> instances of </a:t>
                      </a:r>
                      <a:r>
                        <a:rPr lang="en-IN" sz="1800" b="1" noProof="0" dirty="0">
                          <a:solidFill>
                            <a:srgbClr val="1B1C1D"/>
                          </a:solidFill>
                          <a:effectLst/>
                        </a:rPr>
                        <a:t>Class 1</a:t>
                      </a:r>
                      <a:r>
                        <a:rPr lang="en-IN" sz="1800" noProof="0" dirty="0">
                          <a:solidFill>
                            <a:srgbClr val="1B1C1D"/>
                          </a:solidFill>
                          <a:effectLst/>
                        </a:rPr>
                        <a:t>. The dataset is </a:t>
                      </a:r>
                      <a:r>
                        <a:rPr lang="en-IN" sz="1800" b="1" noProof="0" dirty="0">
                          <a:solidFill>
                            <a:srgbClr val="1B1C1D"/>
                          </a:solidFill>
                          <a:effectLst/>
                        </a:rPr>
                        <a:t>imbalanced</a:t>
                      </a:r>
                      <a:r>
                        <a:rPr lang="en-IN" sz="1800" noProof="0" dirty="0">
                          <a:solidFill>
                            <a:srgbClr val="1B1C1D"/>
                          </a:solidFill>
                          <a:effectLst/>
                        </a:rPr>
                        <a:t>, with Class 0 having almost twice as many samples as Class 1.</a:t>
                      </a:r>
                      <a:endParaRPr lang="en-IN" sz="18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6361" marR="26361" marT="17574" marB="17574" anchor="ctr"/>
                </a:tc>
                <a:extLst>
                  <a:ext uri="{0D108BD9-81ED-4DB2-BD59-A6C34878D82A}">
                    <a16:rowId xmlns:a16="http://schemas.microsoft.com/office/drawing/2014/main" val="2535223645"/>
                  </a:ext>
                </a:extLst>
              </a:tr>
              <a:tr h="121624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noProof="0" dirty="0">
                          <a:solidFill>
                            <a:srgbClr val="1B1C1D"/>
                          </a:solidFill>
                          <a:effectLst/>
                        </a:rPr>
                        <a:t>Precision</a:t>
                      </a:r>
                      <a:endParaRPr lang="en-IN" sz="18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6361" marR="26361" marT="17574" marB="1757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noProof="0" dirty="0">
                          <a:solidFill>
                            <a:srgbClr val="1B1C1D"/>
                          </a:solidFill>
                          <a:effectLst/>
                        </a:rPr>
                        <a:t>The proportion of positive identifications that were actually correct. </a:t>
                      </a:r>
                      <a:endParaRPr lang="en-IN" sz="18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6361" marR="26361" marT="17574" marB="1757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noProof="0" dirty="0">
                          <a:solidFill>
                            <a:srgbClr val="1B1C1D"/>
                          </a:solidFill>
                          <a:effectLst/>
                        </a:rPr>
                        <a:t>0.80</a:t>
                      </a:r>
                      <a:endParaRPr lang="en-IN" sz="18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6361" marR="26361" marT="17574" marB="1757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noProof="0" dirty="0">
                          <a:solidFill>
                            <a:srgbClr val="1B1C1D"/>
                          </a:solidFill>
                          <a:effectLst/>
                        </a:rPr>
                        <a:t>0.73</a:t>
                      </a:r>
                      <a:endParaRPr lang="en-IN" sz="18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6361" marR="26361" marT="17574" marB="1757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noProof="0" dirty="0">
                          <a:solidFill>
                            <a:srgbClr val="1B1C1D"/>
                          </a:solidFill>
                          <a:effectLst/>
                        </a:rPr>
                        <a:t>When the model predicts </a:t>
                      </a:r>
                      <a:r>
                        <a:rPr lang="en-IN" sz="1800" b="1" noProof="0" dirty="0">
                          <a:solidFill>
                            <a:srgbClr val="1B1C1D"/>
                          </a:solidFill>
                          <a:effectLst/>
                        </a:rPr>
                        <a:t>Class 0</a:t>
                      </a:r>
                      <a:r>
                        <a:rPr lang="en-IN" sz="1800" noProof="0" dirty="0">
                          <a:solidFill>
                            <a:srgbClr val="1B1C1D"/>
                          </a:solidFill>
                          <a:effectLst/>
                        </a:rPr>
                        <a:t>, it is correct </a:t>
                      </a:r>
                      <a:r>
                        <a:rPr lang="en-IN" sz="1800" b="1" noProof="0" dirty="0">
                          <a:solidFill>
                            <a:srgbClr val="1B1C1D"/>
                          </a:solidFill>
                          <a:effectLst/>
                        </a:rPr>
                        <a:t>80%</a:t>
                      </a:r>
                      <a:r>
                        <a:rPr lang="en-IN" sz="1800" noProof="0" dirty="0">
                          <a:solidFill>
                            <a:srgbClr val="1B1C1D"/>
                          </a:solidFill>
                          <a:effectLst/>
                        </a:rPr>
                        <a:t> of the time. When it predicts </a:t>
                      </a:r>
                      <a:r>
                        <a:rPr lang="en-IN" sz="1800" b="1" noProof="0" dirty="0">
                          <a:solidFill>
                            <a:srgbClr val="1B1C1D"/>
                          </a:solidFill>
                          <a:effectLst/>
                        </a:rPr>
                        <a:t>Class 1</a:t>
                      </a:r>
                      <a:r>
                        <a:rPr lang="en-IN" sz="1800" noProof="0" dirty="0">
                          <a:solidFill>
                            <a:srgbClr val="1B1C1D"/>
                          </a:solidFill>
                          <a:effectLst/>
                        </a:rPr>
                        <a:t>, it is correct </a:t>
                      </a:r>
                      <a:r>
                        <a:rPr lang="en-IN" sz="1800" b="1" noProof="0" dirty="0">
                          <a:solidFill>
                            <a:srgbClr val="1B1C1D"/>
                          </a:solidFill>
                          <a:effectLst/>
                        </a:rPr>
                        <a:t>73%</a:t>
                      </a:r>
                      <a:r>
                        <a:rPr lang="en-IN" sz="1800" noProof="0" dirty="0">
                          <a:solidFill>
                            <a:srgbClr val="1B1C1D"/>
                          </a:solidFill>
                          <a:effectLst/>
                        </a:rPr>
                        <a:t> of the time. The model is better at precisely predicting Class 0.</a:t>
                      </a:r>
                      <a:endParaRPr lang="en-IN" sz="18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6361" marR="26361" marT="17574" marB="17574" anchor="ctr"/>
                </a:tc>
                <a:extLst>
                  <a:ext uri="{0D108BD9-81ED-4DB2-BD59-A6C34878D82A}">
                    <a16:rowId xmlns:a16="http://schemas.microsoft.com/office/drawing/2014/main" val="3295693307"/>
                  </a:ext>
                </a:extLst>
              </a:tr>
              <a:tr h="121624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noProof="0" dirty="0">
                          <a:solidFill>
                            <a:srgbClr val="1B1C1D"/>
                          </a:solidFill>
                          <a:effectLst/>
                        </a:rPr>
                        <a:t>Recall</a:t>
                      </a:r>
                      <a:endParaRPr lang="en-IN" sz="18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6361" marR="26361" marT="17574" marB="1757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noProof="0" dirty="0">
                          <a:solidFill>
                            <a:srgbClr val="1B1C1D"/>
                          </a:solidFill>
                          <a:effectLst/>
                        </a:rPr>
                        <a:t>The proportion of actual positives that were correctly identified.</a:t>
                      </a:r>
                      <a:endParaRPr lang="en-IN" sz="18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6361" marR="26361" marT="17574" marB="1757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noProof="0" dirty="0">
                          <a:solidFill>
                            <a:srgbClr val="1B1C1D"/>
                          </a:solidFill>
                          <a:effectLst/>
                        </a:rPr>
                        <a:t>0.88</a:t>
                      </a:r>
                      <a:endParaRPr lang="en-IN" sz="18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6361" marR="26361" marT="17574" marB="1757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noProof="0" dirty="0">
                          <a:solidFill>
                            <a:srgbClr val="1B1C1D"/>
                          </a:solidFill>
                          <a:effectLst/>
                        </a:rPr>
                        <a:t>0.60</a:t>
                      </a:r>
                      <a:endParaRPr lang="en-IN" sz="18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6361" marR="26361" marT="17574" marB="1757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noProof="0" dirty="0">
                          <a:solidFill>
                            <a:srgbClr val="1B1C1D"/>
                          </a:solidFill>
                          <a:effectLst/>
                        </a:rPr>
                        <a:t>The model correctly identifies </a:t>
                      </a:r>
                      <a:r>
                        <a:rPr lang="en-IN" sz="1800" b="1" noProof="0" dirty="0">
                          <a:solidFill>
                            <a:srgbClr val="1B1C1D"/>
                          </a:solidFill>
                          <a:effectLst/>
                        </a:rPr>
                        <a:t>88%</a:t>
                      </a:r>
                      <a:r>
                        <a:rPr lang="en-IN" sz="1800" noProof="0" dirty="0">
                          <a:solidFill>
                            <a:srgbClr val="1B1C1D"/>
                          </a:solidFill>
                          <a:effectLst/>
                        </a:rPr>
                        <a:t> of all actual </a:t>
                      </a:r>
                      <a:r>
                        <a:rPr lang="en-IN" sz="1800" b="1" noProof="0" dirty="0">
                          <a:solidFill>
                            <a:srgbClr val="1B1C1D"/>
                          </a:solidFill>
                          <a:effectLst/>
                        </a:rPr>
                        <a:t>Class 0</a:t>
                      </a:r>
                      <a:r>
                        <a:rPr lang="en-IN" sz="1800" noProof="0" dirty="0">
                          <a:solidFill>
                            <a:srgbClr val="1B1C1D"/>
                          </a:solidFill>
                          <a:effectLst/>
                        </a:rPr>
                        <a:t> instances. It only correctly identifies </a:t>
                      </a:r>
                      <a:r>
                        <a:rPr lang="en-IN" sz="1800" b="1" noProof="0" dirty="0">
                          <a:solidFill>
                            <a:srgbClr val="1B1C1D"/>
                          </a:solidFill>
                          <a:effectLst/>
                        </a:rPr>
                        <a:t>60%</a:t>
                      </a:r>
                      <a:r>
                        <a:rPr lang="en-IN" sz="1800" noProof="0" dirty="0">
                          <a:solidFill>
                            <a:srgbClr val="1B1C1D"/>
                          </a:solidFill>
                          <a:effectLst/>
                        </a:rPr>
                        <a:t> of all actual </a:t>
                      </a:r>
                      <a:r>
                        <a:rPr lang="en-IN" sz="1800" b="1" noProof="0" dirty="0">
                          <a:solidFill>
                            <a:srgbClr val="1B1C1D"/>
                          </a:solidFill>
                          <a:effectLst/>
                        </a:rPr>
                        <a:t>Class 1</a:t>
                      </a:r>
                      <a:r>
                        <a:rPr lang="en-IN" sz="1800" noProof="0" dirty="0">
                          <a:solidFill>
                            <a:srgbClr val="1B1C1D"/>
                          </a:solidFill>
                          <a:effectLst/>
                        </a:rPr>
                        <a:t> instances. This is a </a:t>
                      </a:r>
                      <a:r>
                        <a:rPr lang="en-IN" sz="1800" b="1" noProof="0" dirty="0">
                          <a:solidFill>
                            <a:srgbClr val="1B1C1D"/>
                          </a:solidFill>
                          <a:effectLst/>
                        </a:rPr>
                        <a:t>significant weakness</a:t>
                      </a:r>
                      <a:r>
                        <a:rPr lang="en-IN" sz="1800" noProof="0" dirty="0">
                          <a:solidFill>
                            <a:srgbClr val="1B1C1D"/>
                          </a:solidFill>
                          <a:effectLst/>
                        </a:rPr>
                        <a:t> for Class 1.</a:t>
                      </a:r>
                      <a:endParaRPr lang="en-IN" sz="18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6361" marR="26361" marT="17574" marB="17574" anchor="ctr"/>
                </a:tc>
                <a:extLst>
                  <a:ext uri="{0D108BD9-81ED-4DB2-BD59-A6C34878D82A}">
                    <a16:rowId xmlns:a16="http://schemas.microsoft.com/office/drawing/2014/main" val="4094096697"/>
                  </a:ext>
                </a:extLst>
              </a:tr>
              <a:tr h="180549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noProof="0" dirty="0">
                          <a:solidFill>
                            <a:srgbClr val="1B1C1D"/>
                          </a:solidFill>
                          <a:effectLst/>
                        </a:rPr>
                        <a:t>F1-Score</a:t>
                      </a:r>
                      <a:endParaRPr lang="en-IN" sz="18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6361" marR="26361" marT="17574" marB="1757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noProof="0" dirty="0">
                          <a:solidFill>
                            <a:srgbClr val="1B1C1D"/>
                          </a:solidFill>
                          <a:effectLst/>
                        </a:rPr>
                        <a:t>The harmonic mean of Precision and Recall. A balanced measure, especially useful for imbalanced datasets. </a:t>
                      </a:r>
                      <a:endParaRPr lang="en-IN" sz="18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6361" marR="26361" marT="17574" marB="1757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noProof="0" dirty="0">
                          <a:solidFill>
                            <a:srgbClr val="1B1C1D"/>
                          </a:solidFill>
                          <a:effectLst/>
                        </a:rPr>
                        <a:t>0.84</a:t>
                      </a:r>
                      <a:endParaRPr lang="en-IN" sz="18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6361" marR="26361" marT="17574" marB="1757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noProof="0" dirty="0">
                          <a:solidFill>
                            <a:srgbClr val="1B1C1D"/>
                          </a:solidFill>
                          <a:effectLst/>
                        </a:rPr>
                        <a:t>0.66</a:t>
                      </a:r>
                      <a:endParaRPr lang="en-IN" sz="18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6361" marR="26361" marT="17574" marB="1757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noProof="0" dirty="0">
                          <a:solidFill>
                            <a:srgbClr val="1B1C1D"/>
                          </a:solidFill>
                          <a:effectLst/>
                        </a:rPr>
                        <a:t>The model's performance on </a:t>
                      </a:r>
                      <a:r>
                        <a:rPr lang="en-IN" sz="1800" b="1" noProof="0" dirty="0">
                          <a:solidFill>
                            <a:srgbClr val="1B1C1D"/>
                          </a:solidFill>
                          <a:effectLst/>
                        </a:rPr>
                        <a:t>Class 0</a:t>
                      </a:r>
                      <a:r>
                        <a:rPr lang="en-IN" sz="1800" noProof="0" dirty="0">
                          <a:solidFill>
                            <a:srgbClr val="1B1C1D"/>
                          </a:solidFill>
                          <a:effectLst/>
                        </a:rPr>
                        <a:t> (0.84) is notably better than its performance on </a:t>
                      </a:r>
                      <a:r>
                        <a:rPr lang="en-IN" sz="1800" b="1" noProof="0" dirty="0">
                          <a:solidFill>
                            <a:srgbClr val="1B1C1D"/>
                          </a:solidFill>
                          <a:effectLst/>
                        </a:rPr>
                        <a:t>Class 1</a:t>
                      </a:r>
                      <a:r>
                        <a:rPr lang="en-IN" sz="1800" noProof="0" dirty="0">
                          <a:solidFill>
                            <a:srgbClr val="1B1C1D"/>
                          </a:solidFill>
                          <a:effectLst/>
                        </a:rPr>
                        <a:t> (0.66), reflecting the higher recall for Class 0 and lower recall for Class 1.</a:t>
                      </a:r>
                      <a:endParaRPr lang="en-IN" sz="18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6361" marR="26361" marT="17574" marB="17574" anchor="ctr"/>
                </a:tc>
                <a:extLst>
                  <a:ext uri="{0D108BD9-81ED-4DB2-BD59-A6C34878D82A}">
                    <a16:rowId xmlns:a16="http://schemas.microsoft.com/office/drawing/2014/main" val="2391339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07619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DDA17-932D-D577-E92B-F4A0952AD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Hyperparameter Tuning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AB206-C77A-4B1D-7D1A-A1632D165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Hyperparameter</a:t>
            </a:r>
            <a:r>
              <a:rPr lang="en-IN" dirty="0"/>
              <a:t>: Settings we choose, not values learnt from data</a:t>
            </a:r>
          </a:p>
          <a:p>
            <a:r>
              <a:rPr lang="en-IN" dirty="0"/>
              <a:t>They control how a model learns</a:t>
            </a:r>
          </a:p>
          <a:p>
            <a:pPr lvl="1"/>
            <a:r>
              <a:rPr lang="en-IN" dirty="0"/>
              <a:t>K in KNN, C in SVM, Depth in Decision Trees</a:t>
            </a:r>
          </a:p>
          <a:p>
            <a:r>
              <a:rPr lang="en-IN" dirty="0"/>
              <a:t>Hyperparameter Optimization Methods</a:t>
            </a:r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8DBBB92-8289-E323-A760-A44E651824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5613321"/>
              </p:ext>
            </p:extLst>
          </p:nvPr>
        </p:nvGraphicFramePr>
        <p:xfrm>
          <a:off x="789339" y="3821555"/>
          <a:ext cx="10515600" cy="1463040"/>
        </p:xfrm>
        <a:graphic>
          <a:graphicData uri="http://schemas.openxmlformats.org/drawingml/2006/table">
            <a:tbl>
              <a:tblPr firstRow="1">
                <a:tableStyleId>{9DCAF9ED-07DC-4A11-8D7F-57B35C25682E}</a:tableStyleId>
              </a:tblPr>
              <a:tblGrid>
                <a:gridCol w="2114405">
                  <a:extLst>
                    <a:ext uri="{9D8B030D-6E8A-4147-A177-3AD203B41FA5}">
                      <a16:colId xmlns:a16="http://schemas.microsoft.com/office/drawing/2014/main" val="1587069880"/>
                    </a:ext>
                  </a:extLst>
                </a:gridCol>
                <a:gridCol w="4895995">
                  <a:extLst>
                    <a:ext uri="{9D8B030D-6E8A-4147-A177-3AD203B41FA5}">
                      <a16:colId xmlns:a16="http://schemas.microsoft.com/office/drawing/2014/main" val="212327223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596737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What it means (simple)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When to 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29542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Manual Search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You change values yourself based on experience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Small models, learning stage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95311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Grid Search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Try </a:t>
                      </a:r>
                      <a:r>
                        <a:rPr lang="en-US" b="1"/>
                        <a:t>all possible combinations</a:t>
                      </a:r>
                      <a:r>
                        <a:rPr lang="en-US"/>
                        <a:t> of parameters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When parameters are few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50231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Random Search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Try </a:t>
                      </a:r>
                      <a:r>
                        <a:rPr lang="en-US" b="1"/>
                        <a:t>random combinations</a:t>
                      </a:r>
                      <a:r>
                        <a:rPr lang="en-US"/>
                        <a:t> within a range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When parameters are many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38500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11199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B907A-9396-2D6B-A88D-C39FDEB15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Techniques Compared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18272B1-E04D-DC54-9BFB-13418260E7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795522"/>
              </p:ext>
            </p:extLst>
          </p:nvPr>
        </p:nvGraphicFramePr>
        <p:xfrm>
          <a:off x="425790" y="1825624"/>
          <a:ext cx="11461408" cy="4750051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1637344">
                  <a:extLst>
                    <a:ext uri="{9D8B030D-6E8A-4147-A177-3AD203B41FA5}">
                      <a16:colId xmlns:a16="http://schemas.microsoft.com/office/drawing/2014/main" val="1912254214"/>
                    </a:ext>
                  </a:extLst>
                </a:gridCol>
                <a:gridCol w="1637344">
                  <a:extLst>
                    <a:ext uri="{9D8B030D-6E8A-4147-A177-3AD203B41FA5}">
                      <a16:colId xmlns:a16="http://schemas.microsoft.com/office/drawing/2014/main" val="1317567811"/>
                    </a:ext>
                  </a:extLst>
                </a:gridCol>
                <a:gridCol w="1637344">
                  <a:extLst>
                    <a:ext uri="{9D8B030D-6E8A-4147-A177-3AD203B41FA5}">
                      <a16:colId xmlns:a16="http://schemas.microsoft.com/office/drawing/2014/main" val="3148583402"/>
                    </a:ext>
                  </a:extLst>
                </a:gridCol>
                <a:gridCol w="1637344">
                  <a:extLst>
                    <a:ext uri="{9D8B030D-6E8A-4147-A177-3AD203B41FA5}">
                      <a16:colId xmlns:a16="http://schemas.microsoft.com/office/drawing/2014/main" val="2914140813"/>
                    </a:ext>
                  </a:extLst>
                </a:gridCol>
                <a:gridCol w="1637344">
                  <a:extLst>
                    <a:ext uri="{9D8B030D-6E8A-4147-A177-3AD203B41FA5}">
                      <a16:colId xmlns:a16="http://schemas.microsoft.com/office/drawing/2014/main" val="560412927"/>
                    </a:ext>
                  </a:extLst>
                </a:gridCol>
                <a:gridCol w="1637344">
                  <a:extLst>
                    <a:ext uri="{9D8B030D-6E8A-4147-A177-3AD203B41FA5}">
                      <a16:colId xmlns:a16="http://schemas.microsoft.com/office/drawing/2014/main" val="2948354257"/>
                    </a:ext>
                  </a:extLst>
                </a:gridCol>
                <a:gridCol w="1637344">
                  <a:extLst>
                    <a:ext uri="{9D8B030D-6E8A-4147-A177-3AD203B41FA5}">
                      <a16:colId xmlns:a16="http://schemas.microsoft.com/office/drawing/2014/main" val="1781466793"/>
                    </a:ext>
                  </a:extLst>
                </a:gridCol>
              </a:tblGrid>
              <a:tr h="4759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Algorithm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Core idea (intuition)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Data size it likes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Interpretability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Handles non-linearity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Sensitive to scaling?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When to use (simple rule)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1957718"/>
                  </a:ext>
                </a:extLst>
              </a:tr>
              <a:tr h="6798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Logistic Regression</a:t>
                      </a:r>
                      <a:endParaRPr lang="en-GB" sz="1600"/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Probability-based linear classifier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Small → Large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✅ High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❌ No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⚠️ Yes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Need </a:t>
                      </a:r>
                      <a:r>
                        <a:rPr lang="en-GB" sz="1600" b="1"/>
                        <a:t>probabilities + explanation</a:t>
                      </a:r>
                      <a:endParaRPr lang="en-GB" sz="1600"/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4983493"/>
                  </a:ext>
                </a:extLst>
              </a:tr>
              <a:tr h="6798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Naive Bayes</a:t>
                      </a:r>
                      <a:endParaRPr lang="en-GB" sz="1600"/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Independent features + probability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Medium → Very large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⚠️ Medium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❌ No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❌ No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Text data</a:t>
                      </a:r>
                      <a:r>
                        <a:rPr lang="en-GB" sz="1600"/>
                        <a:t>, fast baseline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6987248"/>
                  </a:ext>
                </a:extLst>
              </a:tr>
              <a:tr h="4759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Decision Tree</a:t>
                      </a:r>
                      <a:endParaRPr lang="en-GB" sz="1600"/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Human-like if–else rules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Small → Medium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✅ Very high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✅ Yes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❌ No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Need </a:t>
                      </a:r>
                      <a:r>
                        <a:rPr lang="en-GB" sz="1600" b="1"/>
                        <a:t>clear decision logic</a:t>
                      </a:r>
                      <a:endParaRPr lang="en-GB" sz="1600"/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4320530"/>
                  </a:ext>
                </a:extLst>
              </a:tr>
              <a:tr h="6798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Random Forest</a:t>
                      </a:r>
                      <a:endParaRPr lang="en-GB" sz="1600"/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Many trees → stable decisions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Medium → Large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⚠️ Medium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✅ Yes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❌ No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Need </a:t>
                      </a:r>
                      <a:r>
                        <a:rPr lang="en-GB" sz="1600" b="1"/>
                        <a:t>accuracy + robustness</a:t>
                      </a:r>
                      <a:endParaRPr lang="en-GB" sz="1600"/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6070542"/>
                  </a:ext>
                </a:extLst>
              </a:tr>
              <a:tr h="6798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k-NN</a:t>
                      </a:r>
                      <a:endParaRPr lang="en-GB" sz="1600"/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Tell me your neighbors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Small → Medium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❌ Low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✅ Yes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⚠️ Yes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Similarity-based problems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5742967"/>
                  </a:ext>
                </a:extLst>
              </a:tr>
              <a:tr h="6798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SVM</a:t>
                      </a:r>
                      <a:endParaRPr lang="en-GB" sz="1600"/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Maximum-margin boundary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Small → Medium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❌ Low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✅ Yes (kernel)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⚠️ Yes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High-dimensional, complex data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03820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41894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FEAA5-B391-99AB-F2D7-5C077D584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783"/>
            <a:ext cx="10515600" cy="921379"/>
          </a:xfrm>
        </p:spPr>
        <p:txBody>
          <a:bodyPr/>
          <a:lstStyle/>
          <a:p>
            <a:r>
              <a:rPr lang="en-IN" dirty="0"/>
              <a:t>When to Use What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98AC318-CFDD-83EF-8CAF-A0AC531EFC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7384861"/>
              </p:ext>
            </p:extLst>
          </p:nvPr>
        </p:nvGraphicFramePr>
        <p:xfrm>
          <a:off x="488611" y="903318"/>
          <a:ext cx="11342748" cy="5633984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467670">
                  <a:extLst>
                    <a:ext uri="{9D8B030D-6E8A-4147-A177-3AD203B41FA5}">
                      <a16:colId xmlns:a16="http://schemas.microsoft.com/office/drawing/2014/main" val="3535070348"/>
                    </a:ext>
                  </a:extLst>
                </a:gridCol>
                <a:gridCol w="3399335">
                  <a:extLst>
                    <a:ext uri="{9D8B030D-6E8A-4147-A177-3AD203B41FA5}">
                      <a16:colId xmlns:a16="http://schemas.microsoft.com/office/drawing/2014/main" val="2190774481"/>
                    </a:ext>
                  </a:extLst>
                </a:gridCol>
                <a:gridCol w="2121966">
                  <a:extLst>
                    <a:ext uri="{9D8B030D-6E8A-4147-A177-3AD203B41FA5}">
                      <a16:colId xmlns:a16="http://schemas.microsoft.com/office/drawing/2014/main" val="1656765752"/>
                    </a:ext>
                  </a:extLst>
                </a:gridCol>
                <a:gridCol w="5353777">
                  <a:extLst>
                    <a:ext uri="{9D8B030D-6E8A-4147-A177-3AD203B41FA5}">
                      <a16:colId xmlns:a16="http://schemas.microsoft.com/office/drawing/2014/main" val="1434328604"/>
                    </a:ext>
                  </a:extLst>
                </a:gridCol>
              </a:tblGrid>
              <a:tr h="1740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#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Use case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Model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Reason (simple)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9850803"/>
                  </a:ext>
                </a:extLst>
              </a:tr>
              <a:tr h="304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1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Email spam detection (text)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Naive Bayes</a:t>
                      </a:r>
                      <a:endParaRPr lang="en-GB" sz="180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Probabilistic, works great on word counts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8760775"/>
                  </a:ext>
                </a:extLst>
              </a:tr>
              <a:tr h="304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2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Medical diagnosis (binary outcome)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Logistic Regression</a:t>
                      </a:r>
                      <a:endParaRPr lang="en-GB" sz="180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Interpretable probabilities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7000433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3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Credit approval system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Decision Tree</a:t>
                      </a:r>
                      <a:endParaRPr lang="en-GB" sz="180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Explainable rules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7157908"/>
                  </a:ext>
                </a:extLst>
              </a:tr>
              <a:tr h="304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4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Fraud detection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Random Forest</a:t>
                      </a:r>
                      <a:endParaRPr lang="en-GB" sz="180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Handles complexity + nonlinearity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3581237"/>
                  </a:ext>
                </a:extLst>
              </a:tr>
              <a:tr h="304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5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Image classification (small dataset)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k-NN</a:t>
                      </a:r>
                      <a:endParaRPr lang="en-GB" sz="180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Similar images → similar class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3680349"/>
                  </a:ext>
                </a:extLst>
              </a:tr>
              <a:tr h="304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6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Face recognition embeddings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SVM</a:t>
                      </a:r>
                      <a:endParaRPr lang="en-GB" sz="180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Strong margin-based classifier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1351960"/>
                  </a:ext>
                </a:extLst>
              </a:tr>
              <a:tr h="304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7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Customer churn prediction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Logistic Regression</a:t>
                      </a:r>
                      <a:endParaRPr lang="en-GB" sz="180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Stable, interpretable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2948615"/>
                  </a:ext>
                </a:extLst>
              </a:tr>
              <a:tr h="304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8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Loan default prediction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Random Forest</a:t>
                      </a:r>
                      <a:endParaRPr lang="en-GB" sz="180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Captures feature interactions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4888008"/>
                  </a:ext>
                </a:extLst>
              </a:tr>
              <a:tr h="304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9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Medical rule-based diagnosis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Decision Tree</a:t>
                      </a:r>
                      <a:endParaRPr lang="en-GB" sz="180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If–else logic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512882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10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Document classification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Naive Bayes</a:t>
                      </a:r>
                      <a:endParaRPr lang="en-GB" sz="180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Fast + scalable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1304194"/>
                  </a:ext>
                </a:extLst>
              </a:tr>
              <a:tr h="304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11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Handwritten digit recognition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SVM</a:t>
                      </a:r>
                      <a:endParaRPr lang="en-GB" sz="180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Non-linear boundaries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7007534"/>
                  </a:ext>
                </a:extLst>
              </a:tr>
              <a:tr h="304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12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Recommendation systems (similar users)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k-NN</a:t>
                      </a:r>
                      <a:endParaRPr lang="en-GB" sz="180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Similarity-based reasoning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6007748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13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Risk scoring systems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Logistic Regression</a:t>
                      </a:r>
                      <a:endParaRPr lang="en-GB" sz="180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Probability output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86873"/>
                  </a:ext>
                </a:extLst>
              </a:tr>
              <a:tr h="304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14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Sensor-based fault detection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Random Forest</a:t>
                      </a:r>
                      <a:endParaRPr lang="en-GB" sz="180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Robust to noise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5613144"/>
                  </a:ext>
                </a:extLst>
              </a:tr>
              <a:tr h="304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15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Small dataset, high dimension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SVM</a:t>
                      </a:r>
                      <a:endParaRPr lang="en-GB" sz="180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Works well in high-D spaces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61973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78204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2018</TotalTime>
  <Words>4397</Words>
  <Application>Microsoft Office PowerPoint</Application>
  <PresentationFormat>Widescreen</PresentationFormat>
  <Paragraphs>1176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Calibri Light</vt:lpstr>
      <vt:lpstr>Cambria Math</vt:lpstr>
      <vt:lpstr>Cascadia Mono SemiLight</vt:lpstr>
      <vt:lpstr>Google Sans Text</vt:lpstr>
      <vt:lpstr>Office Theme</vt:lpstr>
      <vt:lpstr>Machine Learning - Classification</vt:lpstr>
      <vt:lpstr>Logistic Regression: Predict Obesity for a Dog</vt:lpstr>
      <vt:lpstr>Entropy</vt:lpstr>
      <vt:lpstr>Decision Tree</vt:lpstr>
      <vt:lpstr>Gini Index/Coefficient/Impurity</vt:lpstr>
      <vt:lpstr>Random Forest</vt:lpstr>
      <vt:lpstr>K-Nearest Neighbours (KNN)</vt:lpstr>
      <vt:lpstr>K-Nearest Neighbours (KNN)</vt:lpstr>
      <vt:lpstr>Naïve Bayes: Recap</vt:lpstr>
      <vt:lpstr>Naïve Bayes</vt:lpstr>
      <vt:lpstr>Support Vector Machines (SVM)</vt:lpstr>
      <vt:lpstr>Support Vector Machines (SVM)</vt:lpstr>
      <vt:lpstr>SVM – Diabetes</vt:lpstr>
      <vt:lpstr>Confusion Matrix</vt:lpstr>
      <vt:lpstr>Confusion Matrix</vt:lpstr>
      <vt:lpstr>Confusion Matrix</vt:lpstr>
      <vt:lpstr>Confusion Matrix: Another Example</vt:lpstr>
      <vt:lpstr>Confusion Matrix: Another Example</vt:lpstr>
      <vt:lpstr>Confusion Matrix: Another Example</vt:lpstr>
      <vt:lpstr>Confusion Matrix: Another Example</vt:lpstr>
      <vt:lpstr>Metrics Derived From Confusion Matrix</vt:lpstr>
      <vt:lpstr>Interpretation of Python Classification Report</vt:lpstr>
      <vt:lpstr>Hyperparameter Tuning</vt:lpstr>
      <vt:lpstr>Techniques Compared</vt:lpstr>
      <vt:lpstr>When to Use What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Atul Kahate</dc:creator>
  <cp:lastModifiedBy>Atul Kahate</cp:lastModifiedBy>
  <cp:revision>18</cp:revision>
  <dcterms:created xsi:type="dcterms:W3CDTF">2026-01-19T06:24:41Z</dcterms:created>
  <dcterms:modified xsi:type="dcterms:W3CDTF">2026-01-27T09:08:39Z</dcterms:modified>
</cp:coreProperties>
</file>